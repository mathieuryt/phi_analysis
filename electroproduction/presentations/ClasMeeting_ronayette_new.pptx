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handoutMasterIdLst>
    <p:handoutMasterId r:id="rId45"/>
  </p:handoutMasterIdLst>
  <p:sldIdLst>
    <p:sldId id="291" r:id="rId2"/>
    <p:sldId id="329" r:id="rId3"/>
    <p:sldId id="314" r:id="rId4"/>
    <p:sldId id="293" r:id="rId5"/>
    <p:sldId id="272" r:id="rId6"/>
    <p:sldId id="315" r:id="rId7"/>
    <p:sldId id="316" r:id="rId8"/>
    <p:sldId id="317" r:id="rId9"/>
    <p:sldId id="318" r:id="rId10"/>
    <p:sldId id="326" r:id="rId11"/>
    <p:sldId id="319" r:id="rId12"/>
    <p:sldId id="320" r:id="rId13"/>
    <p:sldId id="322" r:id="rId14"/>
    <p:sldId id="324" r:id="rId15"/>
    <p:sldId id="330" r:id="rId16"/>
    <p:sldId id="331" r:id="rId17"/>
    <p:sldId id="332" r:id="rId18"/>
    <p:sldId id="333" r:id="rId19"/>
    <p:sldId id="334" r:id="rId20"/>
    <p:sldId id="311" r:id="rId21"/>
    <p:sldId id="335" r:id="rId22"/>
    <p:sldId id="354" r:id="rId23"/>
    <p:sldId id="341" r:id="rId24"/>
    <p:sldId id="343" r:id="rId25"/>
    <p:sldId id="346" r:id="rId26"/>
    <p:sldId id="345" r:id="rId27"/>
    <p:sldId id="347" r:id="rId28"/>
    <p:sldId id="348" r:id="rId29"/>
    <p:sldId id="349" r:id="rId30"/>
    <p:sldId id="351" r:id="rId31"/>
    <p:sldId id="352" r:id="rId32"/>
    <p:sldId id="353" r:id="rId33"/>
    <p:sldId id="325" r:id="rId34"/>
    <p:sldId id="321" r:id="rId35"/>
    <p:sldId id="340" r:id="rId36"/>
    <p:sldId id="338" r:id="rId37"/>
    <p:sldId id="337" r:id="rId38"/>
    <p:sldId id="339" r:id="rId39"/>
    <p:sldId id="344" r:id="rId40"/>
    <p:sldId id="342" r:id="rId41"/>
    <p:sldId id="327" r:id="rId42"/>
    <p:sldId id="328" r:id="rId43"/>
  </p:sldIdLst>
  <p:sldSz cx="10080625" cy="5670550"/>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BF5"/>
          </a:solidFill>
        </a:fill>
      </a:tcStyle>
    </a:wholeTbl>
    <a:band1H>
      <a:tcStyle>
        <a:tcBdr/>
        <a:fill>
          <a:solidFill>
            <a:srgbClr val="CFD5EA"/>
          </a:solidFill>
        </a:fill>
      </a:tcStyle>
    </a:band1H>
    <a:band2H>
      <a:tcStyle>
        <a:tcBdr/>
      </a:tcStyle>
    </a:band2H>
    <a:band1V>
      <a:tcStyle>
        <a:tcBdr/>
        <a:fill>
          <a:solidFill>
            <a:srgbClr val="CFD5EA"/>
          </a:solidFill>
        </a:fill>
      </a:tcStyle>
    </a:band1V>
    <a:band2V>
      <a:tcStyle>
        <a:tcBdr/>
      </a:tcStyle>
    </a:band2V>
    <a:lastCol>
      <a:tcTxStyle b="on">
        <a:font>
          <a:latin typeface="+mn-lt"/>
          <a:ea typeface="+mn-ea"/>
          <a:cs typeface="+mn-cs"/>
        </a:font>
        <a:srgbClr val="FFFFFF"/>
      </a:tcTxStyle>
      <a:tcStyle>
        <a:tcBdr/>
        <a:fill>
          <a:solidFill>
            <a:srgbClr val="4472C4"/>
          </a:solidFill>
        </a:fill>
      </a:tcStyle>
    </a:lastCol>
    <a:firstCol>
      <a:tcTxStyle b="on">
        <a:font>
          <a:latin typeface="+mn-lt"/>
          <a:ea typeface="+mn-ea"/>
          <a:cs typeface="+mn-cs"/>
        </a:font>
        <a:srgbClr val="FFFFFF"/>
      </a:tcTxStyle>
      <a:tcStyle>
        <a:tcBdr/>
        <a:fill>
          <a:solidFill>
            <a:srgbClr val="4472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472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472C4"/>
          </a:solidFill>
        </a:fill>
      </a:tcStyle>
    </a:firstRow>
  </a:tblStyle>
  <a:tblStyle styleId="{073A0DAA-6AF3-43AB-8588-CEC1D06C72B9}"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7E7E7"/>
          </a:solidFill>
        </a:fill>
      </a:tcStyle>
    </a:wholeTbl>
    <a:band1H>
      <a:tcStyle>
        <a:tcBdr/>
        <a:fill>
          <a:solidFill>
            <a:srgbClr val="CBCBCB"/>
          </a:solidFill>
        </a:fill>
      </a:tcStyle>
    </a:band1H>
    <a:band2H>
      <a:tcStyle>
        <a:tcBdr/>
      </a:tcStyle>
    </a:band2H>
    <a:band1V>
      <a:tcStyle>
        <a:tcBdr/>
        <a:fill>
          <a:solidFill>
            <a:srgbClr val="CBCBCB"/>
          </a:solidFill>
        </a:fill>
      </a:tcStyle>
    </a:band1V>
    <a:band2V>
      <a:tcStyle>
        <a:tcBdr/>
      </a:tcStyle>
    </a:band2V>
    <a:lastCol>
      <a:tcTxStyle b="on">
        <a:font>
          <a:latin typeface="+mn-lt"/>
          <a:ea typeface="+mn-ea"/>
          <a:cs typeface="+mn-cs"/>
        </a:font>
        <a:srgbClr val="FFFFFF"/>
      </a:tcTxStyle>
      <a:tcStyle>
        <a:tcBdr/>
        <a:fill>
          <a:solidFill>
            <a:srgbClr val="000000"/>
          </a:solidFill>
        </a:fill>
      </a:tcStyle>
    </a:lastCol>
    <a:firstCol>
      <a:tcTxStyle b="on">
        <a:font>
          <a:latin typeface="+mn-lt"/>
          <a:ea typeface="+mn-ea"/>
          <a:cs typeface="+mn-cs"/>
        </a:font>
        <a:srgbClr val="FFFFFF"/>
      </a:tcTxStyle>
      <a:tcStyle>
        <a:tcBdr/>
        <a:fill>
          <a:solidFill>
            <a:srgbClr val="000000"/>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000000"/>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000000"/>
          </a:solidFill>
        </a:fill>
      </a:tcStyle>
    </a:firstRow>
  </a:tblStyle>
  <a:tblStyle styleId="{2D5ABB26-0587-4C30-8999-92F81FD0307C}" styleName="">
    <a:wholeTbl>
      <a:tcTxStyle>
        <a:font>
          <a:latin typeface="+mn-lt"/>
          <a:ea typeface="+mn-ea"/>
          <a:cs typeface="+mn-cs"/>
        </a:font>
        <a:srgbClr val="000000"/>
      </a:tcTxStyle>
      <a:tcStyle>
        <a:tcBdr/>
      </a:tcStyle>
    </a:wholeTbl>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3C2FFA5D-87B4-456A-9821-1D502468CF0F}" styleName="">
    <a:wholeTbl>
      <a:tcTxStyle>
        <a:font>
          <a:latin typeface="+mn-lt"/>
          <a:ea typeface="+mn-ea"/>
          <a:cs typeface="+mn-cs"/>
        </a:font>
        <a:srgbClr val="000000"/>
      </a:tcTxStyle>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op>
            <a:ln w="3172" cap="flat" cmpd="sng" algn="ctr">
              <a:solidFill>
                <a:srgbClr val="4472C4"/>
              </a:solidFill>
              <a:prstDash val="solid"/>
              <a:round/>
              <a:headEnd type="none" w="med" len="med"/>
              <a:tailEnd type="none" w="med" len="med"/>
            </a:ln>
          </a:top>
          <a:bottom>
            <a:ln w="3172" cap="flat" cmpd="sng" algn="ctr">
              <a:solidFill>
                <a:srgbClr val="4472C4"/>
              </a:solidFill>
              <a:prstDash val="solid"/>
              <a:round/>
              <a:headEnd type="none" w="med" len="med"/>
              <a:tailEnd type="none" w="med" len="med"/>
            </a:ln>
          </a:bottom>
        </a:tcBdr>
        <a:fill>
          <a:solidFill>
            <a:srgbClr val="4472C4"/>
          </a:solidFill>
        </a:fill>
      </a:tcStyle>
    </a:wholeTbl>
    <a:band1H>
      <a:tcStyle>
        <a:tcBdr/>
        <a:fill>
          <a:solidFill>
            <a:srgbClr val="4472C4"/>
          </a:solidFill>
        </a:fill>
      </a:tcStyle>
    </a:band1H>
    <a:band2H>
      <a:tcStyle>
        <a:tcBdr/>
        <a:fill>
          <a:solidFill>
            <a:srgbClr val="4472C4"/>
          </a:solidFill>
        </a:fill>
      </a:tcStyle>
    </a:band2H>
    <a:band1V>
      <a:tcStyle>
        <a:tcBdr>
          <a:top>
            <a:ln w="3172" cap="flat" cmpd="sng" algn="ctr">
              <a:solidFill>
                <a:srgbClr val="4472C4"/>
              </a:solidFill>
              <a:prstDash val="solid"/>
              <a:round/>
              <a:headEnd type="none" w="med" len="med"/>
              <a:tailEnd type="none" w="med" len="med"/>
            </a:ln>
          </a:top>
          <a:bottom>
            <a:ln w="3172" cap="flat" cmpd="sng" algn="ctr">
              <a:solidFill>
                <a:srgbClr val="4472C4"/>
              </a:solidFill>
              <a:prstDash val="solid"/>
              <a:round/>
              <a:headEnd type="none" w="med" len="med"/>
              <a:tailEnd type="none" w="med" len="med"/>
            </a:ln>
          </a:bottom>
        </a:tcBdr>
        <a:fill>
          <a:solidFill>
            <a:srgbClr val="4472C4"/>
          </a:solidFill>
        </a:fill>
      </a:tcStyle>
    </a:band1V>
    <a:band2V>
      <a:tcStyle>
        <a:tcBdr/>
        <a:fill>
          <a:solidFill>
            <a:srgbClr val="4472C4"/>
          </a:solidFill>
        </a:fill>
      </a:tcStyle>
    </a:band2V>
    <a:lastCol>
      <a:tcTxStyle b="on">
        <a:font>
          <a:latin typeface=""/>
          <a:ea typeface=""/>
          <a:cs typeface=""/>
        </a:font>
      </a:tcTxStyle>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op>
            <a:ln w="3172" cap="flat" cmpd="sng" algn="ctr">
              <a:solidFill>
                <a:srgbClr val="4472C4"/>
              </a:solidFill>
              <a:prstDash val="solid"/>
              <a:round/>
              <a:headEnd type="none" w="med" len="med"/>
              <a:tailEnd type="none" w="med" len="med"/>
            </a:ln>
          </a:top>
          <a:bottom>
            <a:ln w="3172" cap="flat" cmpd="sng" algn="ctr">
              <a:solidFill>
                <a:srgbClr val="4472C4"/>
              </a:solidFill>
              <a:prstDash val="solid"/>
              <a:round/>
              <a:headEnd type="none" w="med" len="med"/>
              <a:tailEnd type="none" w="med" len="med"/>
            </a:ln>
          </a:bottom>
        </a:tcBdr>
        <a:fill>
          <a:solidFill>
            <a:srgbClr val="4472C4"/>
          </a:solidFill>
        </a:fill>
      </a:tcStyle>
    </a:lastCol>
    <a:firstCol>
      <a:tcTxStyle b="on">
        <a:font>
          <a:latin typeface=""/>
          <a:ea typeface=""/>
          <a:cs typeface=""/>
        </a:font>
      </a:tcTxStyle>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op>
            <a:ln w="3172" cap="flat" cmpd="sng" algn="ctr">
              <a:solidFill>
                <a:srgbClr val="4472C4"/>
              </a:solidFill>
              <a:prstDash val="solid"/>
              <a:round/>
              <a:headEnd type="none" w="med" len="med"/>
              <a:tailEnd type="none" w="med" len="med"/>
            </a:ln>
          </a:top>
          <a:bottom>
            <a:ln w="3172" cap="flat" cmpd="sng" algn="ctr">
              <a:solidFill>
                <a:srgbClr val="4472C4"/>
              </a:solidFill>
              <a:prstDash val="solid"/>
              <a:round/>
              <a:headEnd type="none" w="med" len="med"/>
              <a:tailEnd type="none" w="med" len="med"/>
            </a:ln>
          </a:bottom>
        </a:tcBdr>
        <a:fill>
          <a:solidFill>
            <a:srgbClr val="4472C4"/>
          </a:solidFill>
        </a:fill>
      </a:tcStyle>
    </a:firstCol>
    <a:lastRow>
      <a:tcTxStyle b="on">
        <a:font>
          <a:latin typeface=""/>
          <a:ea typeface=""/>
          <a:cs typeface=""/>
        </a:font>
      </a:tcTxStyle>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op>
            <a:ln w="3172" cap="flat" cmpd="sng" algn="ctr">
              <a:solidFill>
                <a:srgbClr val="4472C4"/>
              </a:solidFill>
              <a:prstDash val="solid"/>
              <a:round/>
              <a:headEnd type="none" w="med" len="med"/>
              <a:tailEnd type="none" w="med" len="med"/>
            </a:ln>
          </a:top>
          <a:bottom>
            <a:ln w="3172" cap="flat" cmpd="sng" algn="ctr">
              <a:solidFill>
                <a:srgbClr val="4472C4"/>
              </a:solidFill>
              <a:prstDash val="solid"/>
              <a:round/>
              <a:headEnd type="none" w="med" len="med"/>
              <a:tailEnd type="none" w="med" len="med"/>
            </a:ln>
          </a:bottom>
        </a:tcBdr>
        <a:fill>
          <a:solidFill>
            <a:srgbClr val="4472C4"/>
          </a:solidFill>
        </a:fill>
      </a:tcStyle>
    </a:lastRow>
    <a:firstRow>
      <a:tcTxStyle b="on">
        <a:font>
          <a:latin typeface="+mn-lt"/>
          <a:ea typeface="+mn-ea"/>
          <a:cs typeface="+mn-cs"/>
        </a:font>
        <a:srgbClr val="FFFFFF"/>
      </a:tcTxStyle>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op>
            <a:ln w="3172" cap="flat" cmpd="sng" algn="ctr">
              <a:solidFill>
                <a:srgbClr val="4472C4"/>
              </a:solidFill>
              <a:prstDash val="solid"/>
              <a:round/>
              <a:headEnd type="none" w="med" len="med"/>
              <a:tailEnd type="none" w="med" len="med"/>
            </a:ln>
          </a:top>
          <a:bottom>
            <a:ln w="3172" cap="flat" cmpd="sng" algn="ctr">
              <a:solidFill>
                <a:srgbClr val="FFFFFF"/>
              </a:solidFill>
              <a:prstDash val="solid"/>
              <a:round/>
              <a:headEnd type="none" w="med" len="med"/>
              <a:tailEnd type="none" w="med" len="med"/>
            </a:ln>
          </a:bottom>
        </a:tcBdr>
        <a:fill>
          <a:solidFill>
            <a:srgbClr val="4472C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26"/>
  </p:normalViewPr>
  <p:slideViewPr>
    <p:cSldViewPr snapToGrid="0">
      <p:cViewPr varScale="1">
        <p:scale>
          <a:sx n="141" d="100"/>
          <a:sy n="141" d="100"/>
        </p:scale>
        <p:origin x="5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8A4CD75-536D-6F89-C09C-93E3C1D05717}"/>
              </a:ext>
            </a:extLst>
          </p:cNvPr>
          <p:cNvSpPr txBox="1">
            <a:spLocks noGrp="1"/>
          </p:cNvSpPr>
          <p:nvPr>
            <p:ph type="hdr" sz="quarter"/>
          </p:nvPr>
        </p:nvSpPr>
        <p:spPr>
          <a:xfrm>
            <a:off x="0" y="0"/>
            <a:ext cx="3280684" cy="534238"/>
          </a:xfrm>
          <a:prstGeom prst="rect">
            <a:avLst/>
          </a:prstGeom>
          <a:noFill/>
          <a:ln>
            <a:noFill/>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fr-FR" sz="14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Espace réservé de la date 2">
            <a:extLst>
              <a:ext uri="{FF2B5EF4-FFF2-40B4-BE49-F238E27FC236}">
                <a16:creationId xmlns:a16="http://schemas.microsoft.com/office/drawing/2014/main" id="{2E2670F6-29DF-109B-111B-C848C872DF67}"/>
              </a:ext>
            </a:extLst>
          </p:cNvPr>
          <p:cNvSpPr txBox="1">
            <a:spLocks noGrp="1"/>
          </p:cNvSpPr>
          <p:nvPr>
            <p:ph type="dt" sz="quarter" idx="1"/>
          </p:nvPr>
        </p:nvSpPr>
        <p:spPr>
          <a:xfrm>
            <a:off x="4278962" y="0"/>
            <a:ext cx="3280684" cy="534238"/>
          </a:xfrm>
          <a:prstGeom prst="rect">
            <a:avLst/>
          </a:prstGeom>
          <a:noFill/>
          <a:ln>
            <a:noFill/>
          </a:ln>
        </p:spPr>
        <p:txBody>
          <a:bodyPr vert="horz" wrap="squar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fr-FR" sz="14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Espace réservé du pied de page 3">
            <a:extLst>
              <a:ext uri="{FF2B5EF4-FFF2-40B4-BE49-F238E27FC236}">
                <a16:creationId xmlns:a16="http://schemas.microsoft.com/office/drawing/2014/main" id="{13344F8A-7B39-B291-F2FE-55FA3B1B50DE}"/>
              </a:ext>
            </a:extLst>
          </p:cNvPr>
          <p:cNvSpPr txBox="1">
            <a:spLocks noGrp="1"/>
          </p:cNvSpPr>
          <p:nvPr>
            <p:ph type="ftr" sz="quarter" idx="2"/>
          </p:nvPr>
        </p:nvSpPr>
        <p:spPr>
          <a:xfrm>
            <a:off x="0" y="10157402"/>
            <a:ext cx="3280684" cy="534238"/>
          </a:xfrm>
          <a:prstGeom prst="rect">
            <a:avLst/>
          </a:prstGeom>
          <a:noFill/>
          <a:ln>
            <a:noFill/>
          </a:ln>
        </p:spPr>
        <p:txBody>
          <a:bodyPr vert="horz" wrap="squar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fr-FR" sz="14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5" name="Espace réservé du numéro de diapositive 4">
            <a:extLst>
              <a:ext uri="{FF2B5EF4-FFF2-40B4-BE49-F238E27FC236}">
                <a16:creationId xmlns:a16="http://schemas.microsoft.com/office/drawing/2014/main" id="{52E2EEDF-882C-C4E0-DA22-E299F23819EC}"/>
              </a:ext>
            </a:extLst>
          </p:cNvPr>
          <p:cNvSpPr txBox="1">
            <a:spLocks noGrp="1"/>
          </p:cNvSpPr>
          <p:nvPr>
            <p:ph type="sldNum" sz="quarter" idx="3"/>
          </p:nvPr>
        </p:nvSpPr>
        <p:spPr>
          <a:xfrm>
            <a:off x="4278962" y="10157402"/>
            <a:ext cx="3280684" cy="534238"/>
          </a:xfrm>
          <a:prstGeom prst="rect">
            <a:avLst/>
          </a:prstGeom>
          <a:noFill/>
          <a:ln>
            <a:noFill/>
          </a:ln>
        </p:spPr>
        <p:txBody>
          <a:bodyPr vert="horz" wrap="squar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72B6224F-370F-F243-A0D6-EDD4087E96FB}" type="slidenum">
              <a:t>‹N°›</a:t>
            </a:fld>
            <a:endParaRPr lang="fr-FR" sz="1400" b="0" i="0" u="none" strike="noStrike" kern="1200" cap="none" spc="0" baseline="0">
              <a:solidFill>
                <a:srgbClr val="000000"/>
              </a:solidFill>
              <a:uFillTx/>
              <a:latin typeface="Liberation Sans" pitchFamily="18"/>
              <a:ea typeface="Noto Sans CJK SC" pitchFamily="2"/>
              <a:cs typeface="Noto Sans" pitchFamily="2"/>
            </a:endParaRPr>
          </a:p>
        </p:txBody>
      </p:sp>
    </p:spTree>
    <p:extLst>
      <p:ext uri="{BB962C8B-B14F-4D97-AF65-F5344CB8AC3E}">
        <p14:creationId xmlns:p14="http://schemas.microsoft.com/office/powerpoint/2010/main" val="21499209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6D326D-9DE7-A4B0-1F9C-B710F1E5F664}"/>
              </a:ext>
            </a:extLst>
          </p:cNvPr>
          <p:cNvSpPr>
            <a:spLocks noGrp="1" noRot="1" noChangeAspect="1"/>
          </p:cNvSpPr>
          <p:nvPr>
            <p:ph type="sldImg" idx="2"/>
          </p:nvPr>
        </p:nvSpPr>
        <p:spPr>
          <a:xfrm>
            <a:off x="215999" y="812517"/>
            <a:ext cx="7127281" cy="4008958"/>
          </a:xfrm>
          <a:prstGeom prst="rect">
            <a:avLst/>
          </a:prstGeom>
          <a:noFill/>
          <a:ln>
            <a:noFill/>
            <a:prstDash val="solid"/>
          </a:ln>
        </p:spPr>
      </p:sp>
      <p:sp>
        <p:nvSpPr>
          <p:cNvPr id="3" name="Espace réservé des notes 2">
            <a:extLst>
              <a:ext uri="{FF2B5EF4-FFF2-40B4-BE49-F238E27FC236}">
                <a16:creationId xmlns:a16="http://schemas.microsoft.com/office/drawing/2014/main" id="{AE44CA82-D2F5-0641-34F4-0C7C17ABFA73}"/>
              </a:ext>
            </a:extLst>
          </p:cNvPr>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fr-FR"/>
          </a:p>
        </p:txBody>
      </p:sp>
      <p:sp>
        <p:nvSpPr>
          <p:cNvPr id="4" name="Espace réservé de l'en-tête 3">
            <a:extLst>
              <a:ext uri="{FF2B5EF4-FFF2-40B4-BE49-F238E27FC236}">
                <a16:creationId xmlns:a16="http://schemas.microsoft.com/office/drawing/2014/main" id="{B15332F4-3915-36A7-9638-1E25CBA445C2}"/>
              </a:ext>
            </a:extLst>
          </p:cNvPr>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fr-FR" sz="1400" b="0" i="0" u="none" strike="noStrike" kern="1200" cap="none" spc="0" baseline="0">
                <a:solidFill>
                  <a:srgbClr val="000000"/>
                </a:solidFill>
                <a:uFillTx/>
                <a:latin typeface="Liberation Serif" pitchFamily="18"/>
                <a:ea typeface="DejaVu Sans" pitchFamily="2"/>
                <a:cs typeface="Noto Sans" pitchFamily="2"/>
              </a:defRPr>
            </a:lvl1pPr>
          </a:lstStyle>
          <a:p>
            <a:pPr lvl="0"/>
            <a:endParaRPr lang="fr-FR"/>
          </a:p>
        </p:txBody>
      </p:sp>
      <p:sp>
        <p:nvSpPr>
          <p:cNvPr id="5" name="Espace réservé de la date 4">
            <a:extLst>
              <a:ext uri="{FF2B5EF4-FFF2-40B4-BE49-F238E27FC236}">
                <a16:creationId xmlns:a16="http://schemas.microsoft.com/office/drawing/2014/main" id="{E3FDB234-A975-7378-64DB-65CE515E94A6}"/>
              </a:ext>
            </a:extLst>
          </p:cNvPr>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fr-FR" sz="1400" b="0" i="0" u="none" strike="noStrike" kern="1200" cap="none" spc="0" baseline="0">
                <a:solidFill>
                  <a:srgbClr val="000000"/>
                </a:solidFill>
                <a:uFillTx/>
                <a:latin typeface="Liberation Serif" pitchFamily="18"/>
                <a:ea typeface="DejaVu Sans" pitchFamily="2"/>
                <a:cs typeface="Noto Sans" pitchFamily="2"/>
              </a:defRPr>
            </a:lvl1pPr>
          </a:lstStyle>
          <a:p>
            <a:pPr lvl="0"/>
            <a:endParaRPr lang="fr-FR"/>
          </a:p>
        </p:txBody>
      </p:sp>
      <p:sp>
        <p:nvSpPr>
          <p:cNvPr id="6" name="Espace réservé du pied de page 5">
            <a:extLst>
              <a:ext uri="{FF2B5EF4-FFF2-40B4-BE49-F238E27FC236}">
                <a16:creationId xmlns:a16="http://schemas.microsoft.com/office/drawing/2014/main" id="{0368A56B-1152-CAE7-09B2-32E68890A8C7}"/>
              </a:ext>
            </a:extLst>
          </p:cNvPr>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fr-FR" sz="1400" b="0" i="0" u="none" strike="noStrike" kern="1200" cap="none" spc="0" baseline="0">
                <a:solidFill>
                  <a:srgbClr val="000000"/>
                </a:solidFill>
                <a:uFillTx/>
                <a:latin typeface="Liberation Serif" pitchFamily="18"/>
                <a:ea typeface="DejaVu Sans" pitchFamily="2"/>
                <a:cs typeface="Noto Sans" pitchFamily="2"/>
              </a:defRPr>
            </a:lvl1pPr>
          </a:lstStyle>
          <a:p>
            <a:pPr lvl="0"/>
            <a:endParaRPr lang="fr-FR"/>
          </a:p>
        </p:txBody>
      </p:sp>
      <p:sp>
        <p:nvSpPr>
          <p:cNvPr id="7" name="Espace réservé du numéro de diapositive 6">
            <a:extLst>
              <a:ext uri="{FF2B5EF4-FFF2-40B4-BE49-F238E27FC236}">
                <a16:creationId xmlns:a16="http://schemas.microsoft.com/office/drawing/2014/main" id="{ABEE9182-BAC0-C368-D948-986B73CE4260}"/>
              </a:ext>
            </a:extLst>
          </p:cNvPr>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fr-FR" sz="1400" b="0" i="0" u="none" strike="noStrike" kern="1200" cap="none" spc="0" baseline="0">
                <a:solidFill>
                  <a:srgbClr val="000000"/>
                </a:solidFill>
                <a:uFillTx/>
                <a:latin typeface="Liberation Serif" pitchFamily="18"/>
                <a:ea typeface="DejaVu Sans" pitchFamily="2"/>
                <a:cs typeface="Noto Sans" pitchFamily="2"/>
              </a:defRPr>
            </a:lvl1pPr>
          </a:lstStyle>
          <a:p>
            <a:pPr lvl="0"/>
            <a:fld id="{5BB689C1-C8FC-784F-BCD3-AD960D5D2E29}" type="slidenum">
              <a:t>‹N°›</a:t>
            </a:fld>
            <a:endParaRPr lang="fr-FR"/>
          </a:p>
        </p:txBody>
      </p:sp>
    </p:spTree>
    <p:extLst>
      <p:ext uri="{BB962C8B-B14F-4D97-AF65-F5344CB8AC3E}">
        <p14:creationId xmlns:p14="http://schemas.microsoft.com/office/powerpoint/2010/main" val="3954899955"/>
      </p:ext>
    </p:extLst>
  </p:cSld>
  <p:clrMap bg1="lt1" tx1="dk1" bg2="lt2" tx2="dk2" accent1="accent1" accent2="accent2" accent3="accent3" accent4="accent4" accent5="accent5" accent6="accent6" hlink="hlink" folHlink="folHlink"/>
  <p:notesStyle>
    <a:lvl1pPr marL="0" marR="0" lvl="0" indent="-215999" defTabSz="914400" rtl="0" fontAlgn="auto" hangingPunct="0">
      <a:lnSpc>
        <a:spcPct val="100000"/>
      </a:lnSpc>
      <a:spcBef>
        <a:spcPts val="0"/>
      </a:spcBef>
      <a:spcAft>
        <a:spcPts val="0"/>
      </a:spcAft>
      <a:buNone/>
      <a:tabLst/>
      <a:defRPr lang="fr-FR" sz="2000" b="0" i="0" u="none" strike="noStrike" kern="1200" cap="none" spc="0" baseline="0">
        <a:solidFill>
          <a:srgbClr val="000000"/>
        </a:solidFill>
        <a:highlight>
          <a:scrgbClr r="0" g="0" b="0">
            <a:alpha val="0"/>
          </a:scrgbClr>
        </a:highlight>
        <a:uFillTx/>
        <a:latin typeface="Liberation Sans" pitchFamily="18"/>
        <a:cs typeface="Noto Sans"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5EB49C1F-0BAF-6264-3CE2-3A06F5B67148}"/>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61EC995-DFF6-3643-8180-DCC807AF235A}" type="slidenum">
              <a:t>1</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E526E644-B523-DBA5-4C58-3756CFDE1C5C}"/>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024E441F-3A00-3F01-B431-073B05550D5C}"/>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D7150171-EA94-4BA4-C904-D77A1031CCC0}"/>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413A408C-2D2A-6E45-AA8F-75D3A55E730B}" type="slidenum">
              <a:t>2</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6B1507C7-B463-64E0-96A6-94CF757FAC22}"/>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A72C3984-FD6F-10D3-5AE2-6502522118E4}"/>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E7D0A018-30A5-CCF9-6547-D036BFAE2908}"/>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4D69F3DA-0DD6-EF4E-B95A-BC0322990030}" type="slidenum">
              <a:t>3</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1F3E7B12-D15E-2476-F4C8-864B31831B8A}"/>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666E265A-EACE-6CEB-637C-127A5D23B02D}"/>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CA28D095-FC97-BBCC-21D9-255F8105874B}"/>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D7C0A42F-7784-5441-98E2-28545839E019}" type="slidenum">
              <a:t>4</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DDB6D53F-F361-8D2D-EFD6-1B72CA298EF2}"/>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7997E6BF-1488-FF21-89D3-3FB1C885AD2D}"/>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8BF5F613-E8FF-2607-C709-509A9515C724}"/>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19A93A54-EB00-264E-A6EC-D0BCCEFF578A}" type="slidenum">
              <a:t>5</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3C732DD8-2D7E-CA57-49C6-DBE1D2B85CCB}"/>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65FCEF10-60D0-6AD5-DC56-958118200B0D}"/>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B241A7F2-7404-111A-92A8-223DC43EE12D}"/>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87A05A54-AA9C-9D4A-A169-D36BD1250124}" type="slidenum">
              <a:t>6</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57719C21-0FD5-E5B4-2546-5F941EC3E8D7}"/>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2A92A0DC-F3F7-D3BF-BBD5-B87F93853E3F}"/>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E42F85ED-AA7A-CAEA-472E-BF59571F6C8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8AAC496-BB56-674D-A265-64BE8CB69C9A}" type="slidenum">
              <a:t>7</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DE064DA7-F31C-CA30-7F15-1F3D10338671}"/>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DE51792F-C05F-5FC6-B779-57826FB96ADF}"/>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BE53C3A3-BF5A-E682-E47D-4CD80CC75AE1}"/>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E2F0C191-A048-DD41-BC99-3386D476C777}" type="slidenum">
              <a:t>8</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52096336-1E09-925E-E6ED-CB0BFBED320C}"/>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904C7F0A-A2F6-920C-CDC6-ABBDF0C27AAB}"/>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3641C8FF-3ABD-C67D-B0AC-B4177DCCFC28}"/>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B94F5AD-E506-C347-9C22-57E2278607F0}" type="slidenum">
              <a:t>9</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61E8C291-B740-977B-1498-0741B02C6EDC}"/>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40D2DF11-1887-071A-EFA4-B3611017AA0D}"/>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308D39DE-FFBC-D8DA-6816-17AF8C36D730}"/>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8106032A-3FB1-2546-B270-4A06EE899FE1}" type="slidenum">
              <a:t>10</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ED665079-25C9-69E2-76E3-6F79BCE53291}"/>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DB0F39CE-1A3B-DA01-46EA-828BBA4DBE6B}"/>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F1225B40-6F0F-B462-9FA6-53598552D8D1}"/>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4DBE07C0-981A-5840-9B04-7595E8CCFEC5}" type="slidenum">
              <a:t>11</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04933D8D-FC0F-251D-1821-10743A7B1713}"/>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852A2002-D914-2AFF-8FED-8823D5CC8571}"/>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40B7D338-F224-CF58-11D4-E368EC1DC6D0}"/>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E3324D58-DBFD-6C4C-8283-F0F4A7669A57}" type="slidenum">
              <a:t>12</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37A9DD42-096B-0F34-1EF3-C49195BA124F}"/>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E9F7BB75-0C44-ACF2-69A5-5CEFF4A177F6}"/>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0E968BBB-654B-CE77-51EC-5D50B41B8183}"/>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F2675561-205B-F24E-8C10-247676BEB1FD}" type="slidenum">
              <a:t>13</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8002F2B4-F563-517D-A5D6-450276F2763F}"/>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BF004610-A350-CB80-DC41-D283F11EAB99}"/>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8F9D7AE8-9101-4786-886F-479A55442C8E}"/>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F01203F5-0533-DA4F-B74B-F063C80AC80B}" type="slidenum">
              <a:t>14</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234F04DF-C496-A8EE-14F6-8FE4613A5A5E}"/>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0AFA4DD8-3B20-E39E-FD6D-CD91ACF0E458}"/>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AD92A4BD-BB34-9F10-7B1A-7C1BFBB0A7A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857A2DD7-2B69-5F4C-923B-362C21BFA196}" type="slidenum">
              <a:t>15</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2FB17245-96E7-111B-9EFD-D09A124FE788}"/>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203C4466-A9CD-05D6-9CB0-3F7E50AE3105}"/>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621E31BB-9A82-090F-5EEC-84819C0041EE}"/>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9B88D8B3-17CA-4D4A-961F-AC19D5358AC1}" type="slidenum">
              <a:t>16</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54404990-546E-53A7-2917-E995D60C7034}"/>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C155CC98-AB74-7E12-7CEF-D6DC71106E9F}"/>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9C631C86-F220-2F03-95CE-3418069BE8B6}"/>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151EE08E-7963-544C-BAEF-0494224C1F8B}" type="slidenum">
              <a:t>17</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B7C9902D-D7B6-7844-D147-17664E03B0E6}"/>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DA75E1A9-F9A0-8BB8-5A82-C21A85396B57}"/>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45E84807-1375-D895-BCD2-734A0C6887B6}"/>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337CF88D-31D2-D445-A157-2AE3A7C7FB11}" type="slidenum">
              <a:t>18</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D142638F-EF37-D2E0-86BA-E084AB90E1A2}"/>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ABDEAD7F-4830-CBC3-D4C9-98260157F108}"/>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14768487-BD94-B40C-1249-8C4D16CE68B4}"/>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69D89152-A140-AC4E-8D9B-45CBEF13129C}" type="slidenum">
              <a:t>19</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2AE7A8AD-2134-7691-C126-E4E2506F5666}"/>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745026BA-BE7A-AE19-01A5-A2C61CBF2EB6}"/>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3021F0F9-F6FE-208C-A44D-64BAB8FBDA79}"/>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70A7B837-541B-7949-A503-70B994FB20F7}" type="slidenum">
              <a:t>20</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DAFC4CB0-0274-54F8-3DFE-1C99B53EE86D}"/>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6FDAA215-568B-E2BC-16B7-124A7BC85585}"/>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82E4DB20-6745-EC6A-9E8E-DFB8B0C81A8E}"/>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18586CCD-370D-6045-95BD-22305F9EB835}" type="slidenum">
              <a:t>21</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5AD21306-295B-02EF-AE59-A68F3E675BBB}"/>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D1A6FEA4-2AA6-6738-60F0-42013962AAD7}"/>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1284B98F-8463-0E73-6880-7A9F545306A3}"/>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CAF4830E-5B44-AE4C-AF76-E730A25D0D2D}" type="slidenum">
              <a:t>22</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64BF5685-0C4A-DDAE-46E6-D4534378054D}"/>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53FC79F8-3EC1-D835-53AF-6DE948518D9F}"/>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901B9A0C-ECB9-A04D-F083-F88DAB596385}"/>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B2DC3697-534E-CD4C-87B3-96223389D136}" type="slidenum">
              <a:t>23</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9DE64265-5B45-AB83-4A50-BC61AC33EF49}"/>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92AC4465-C87D-AB88-C4EB-A524D147D954}"/>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B2234FBD-903F-A1EB-D4F7-9FF8CEC9EFE5}"/>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912874D8-23E7-3646-8CA5-A803E7DA78CB}" type="slidenum">
              <a:t>24</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FA75AC38-36AD-D2FA-1882-5F3CCD8171D8}"/>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20630954-1CD1-80A1-243C-E4E606735AC8}"/>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33C25D13-A11C-9A24-DA03-54083335F592}"/>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60BADCD2-9AC7-724D-BF82-FB51F085E99A}" type="slidenum">
              <a:t>25</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CE3156F9-4CD2-7123-498B-0DEC88F99115}"/>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5AAC72AA-9A74-7DC9-DAD0-4D6EFD8F6A18}"/>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E7419F4F-B338-16D4-1404-FB2880F99406}"/>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76DF1B98-0EE0-B446-9739-1853748010DB}" type="slidenum">
              <a:t>26</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5AB85484-0B5D-D307-4CB0-7EA630463C0E}"/>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16922775-1C1B-1863-2B79-42C1CA8EA3E1}"/>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DE19806B-DDE1-F7A6-3E07-B65F4A3A99A2}"/>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FB0EAF5-A8DB-C547-9623-D25CE4F8547D}" type="slidenum">
              <a:t>27</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B9D5AA0E-7B8C-F821-BAFD-76CE79457B30}"/>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83DB3669-ED26-2A4D-5678-41E97C3D581C}"/>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F1DB1E77-C5F3-6648-9209-17DAB1B7CEF2}"/>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8FDAFA76-764D-3648-9BA6-81C7DC8F2308}" type="slidenum">
              <a:t>28</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DD104B03-5E50-54B3-E1B5-22139E602D3E}"/>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53FE7E61-2611-4009-9405-CFAA9D4BD685}"/>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8BA56B13-743A-6CEE-15F9-13AD49A55D3D}"/>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4071E67E-A072-EF48-A9AC-1DBDB29D07B0}" type="slidenum">
              <a:t>29</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ED619C0D-DDAD-3E5F-3FA8-D163057EE483}"/>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EF5826F0-0EEE-0436-6D05-95E3F9009635}"/>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D8564C63-B4F0-C7AD-3C2A-BCB071232B1C}"/>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D1F3897E-F731-EE4D-B0C6-5215ACE989E3}" type="slidenum">
              <a:t>30</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354E39ED-4A38-2619-AF50-03C139FC4EA6}"/>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7B2491B1-BF0D-FAEC-477D-7BBC78BA6493}"/>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90E8F52C-50AF-222F-FB1F-B76D24AD97DA}"/>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DBB5878-9391-E14B-AD4E-5E8C73FD7977}" type="slidenum">
              <a:t>31</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7CD28789-4BD2-F087-D4EC-DDC98140F53C}"/>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19A82920-4526-3390-D722-9524D298CC80}"/>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5D0DCBB8-06EB-4556-67A7-79DF328F648B}"/>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9A5B2014-5480-D14C-9BA2-4AE31FE99817}" type="slidenum">
              <a:t>32</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0E9DBAEF-3B8A-4B6B-EECE-580937D5A102}"/>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CF1BC7AF-4299-C8F0-8948-21AE57D11B14}"/>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8D3E1C78-D2A0-C381-AFF1-A70FB0FF4807}"/>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6D2E216-6E3B-2F4E-AFE2-98A21933821D}" type="slidenum">
              <a:t>33</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7738ECE7-FDD6-320C-8F14-28EBBC4E29C7}"/>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980304CC-48EE-7FA5-B815-FE5D8423B793}"/>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229955D9-D461-4CF8-1124-231C3A706055}"/>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B6D0669D-E0C4-BA46-A83C-6B11F2286876}" type="slidenum">
              <a:t>34</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9023C5F8-E8D9-C835-ED46-ABEBDF12FCAE}"/>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BEE8AD46-F6D5-41CA-5BCE-85585FDA5F8B}"/>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86BA44EC-22A3-18F9-A0E7-3B9004CA858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7B53B899-6046-3F4D-96D6-C9D774CFE750}" type="slidenum">
              <a:t>35</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B12EFBB8-B2FA-B74D-E1B4-29417C681E66}"/>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8A22F82A-F0A0-ED7B-1EB0-E11D49FCECB5}"/>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DD1C9975-AD17-FFB6-B60C-6F461259BFCB}"/>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BCAD1471-25D6-A449-AC0F-F7C1DA6B6E76}" type="slidenum">
              <a:t>36</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CFA7B1EF-2A2B-0FE8-6B06-2AFCAA7E3AC5}"/>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F63033F4-BC06-ED33-D21A-F6C8777D665A}"/>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E08B7E86-2001-C653-4F47-9C3D7191AD21}"/>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B2C8DEDD-C7D8-BC40-A1C1-FE719477C182}" type="slidenum">
              <a:t>37</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76C60E85-4E67-AE98-94CE-9C4833C9EA85}"/>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053446FD-0005-969F-4834-8EFD0E2CA3A4}"/>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10FBDC8C-9FBF-CFC4-2A2C-8AE611744313}"/>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3108445B-3B8D-5644-BD14-B9197E4146C0}" type="slidenum">
              <a:t>38</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E18DDBDB-828C-C897-6C0F-425E80C4C781}"/>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D50020B4-5E61-7D10-016F-64FD30CF5A41}"/>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A9FEEFB5-4D27-51EA-EFCD-7A64B021F4FB}"/>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C0C50494-60CC-914C-A3FD-B94AF07A6817}" type="slidenum">
              <a:t>39</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709E4E15-90F5-9B94-6D1C-E1672B98C011}"/>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965336B7-79FF-83C1-92F2-3B7AEB30E717}"/>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F06B76EE-95A9-66E6-01E3-1E01F7BA5959}"/>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CE36AF6A-A669-6F42-B179-B9CA0A1AC675}" type="slidenum">
              <a:t>40</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9EA7C388-8A7A-DAEF-CFB9-67381A9C5877}"/>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FE814547-10E6-DDB7-DEDE-2CD1B42E28B0}"/>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47C960C7-00CF-61E2-E810-C128F793FA92}"/>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7E510E0-723E-2F48-A686-008CA0329A9C}" type="slidenum">
              <a:t>41</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BEBCDA7F-49D6-6BDD-EF59-D97F30C07595}"/>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B20A472C-4D7B-B216-F529-4040F653F4F8}"/>
              </a:ext>
            </a:extLst>
          </p:cNvPr>
          <p:cNvSpPr txBox="1">
            <a:spLocks noGrp="1"/>
          </p:cNvSpPr>
          <p:nvPr>
            <p:ph type="body" sz="quarter" idx="1"/>
          </p:nvPr>
        </p:nvSpPr>
        <p:spPr/>
        <p:txBody>
          <a:bodyPr/>
          <a:lstStyle/>
          <a:p>
            <a:endParaRPr lang="fr-F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6">
            <a:extLst>
              <a:ext uri="{FF2B5EF4-FFF2-40B4-BE49-F238E27FC236}">
                <a16:creationId xmlns:a16="http://schemas.microsoft.com/office/drawing/2014/main" id="{0D2BB238-190D-F3C8-6749-87CCEC6CB8B6}"/>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D9563EC2-4E3E-BB4F-956D-5646F2E1DAF7}" type="slidenum">
              <a:t>42</a:t>
            </a:fld>
            <a:endParaRPr lang="fr-FR" sz="1400" b="0" i="0" u="none" strike="noStrike" kern="1200" cap="none" spc="0" baseline="0">
              <a:solidFill>
                <a:srgbClr val="000000"/>
              </a:solidFill>
              <a:uFillTx/>
              <a:latin typeface="Liberation Serif" pitchFamily="18"/>
              <a:ea typeface="DejaVu Sans" pitchFamily="2"/>
              <a:cs typeface="Noto Sans" pitchFamily="2"/>
            </a:endParaRPr>
          </a:p>
        </p:txBody>
      </p:sp>
      <p:sp>
        <p:nvSpPr>
          <p:cNvPr id="3" name="Espace réservé de l'image des diapositives 1">
            <a:extLst>
              <a:ext uri="{FF2B5EF4-FFF2-40B4-BE49-F238E27FC236}">
                <a16:creationId xmlns:a16="http://schemas.microsoft.com/office/drawing/2014/main" id="{33422EB8-2700-C123-013D-43FD3FED376F}"/>
              </a:ext>
            </a:extLst>
          </p:cNvPr>
          <p:cNvSpPr>
            <a:spLocks noGrp="1" noRot="1" noChangeAspect="1"/>
          </p:cNvSpPr>
          <p:nvPr>
            <p:ph type="sldImg"/>
          </p:nvPr>
        </p:nvSpPr>
        <p:spPr>
          <a:xfrm>
            <a:off x="217490" y="812801"/>
            <a:ext cx="7124703" cy="4008436"/>
          </a:xfrm>
          <a:solidFill>
            <a:srgbClr val="729FCF"/>
          </a:solidFill>
          <a:ln w="25402">
            <a:solidFill>
              <a:srgbClr val="3465A4"/>
            </a:solidFill>
            <a:prstDash val="solid"/>
          </a:ln>
        </p:spPr>
      </p:sp>
      <p:sp>
        <p:nvSpPr>
          <p:cNvPr id="4" name="Espace réservé des notes 2">
            <a:extLst>
              <a:ext uri="{FF2B5EF4-FFF2-40B4-BE49-F238E27FC236}">
                <a16:creationId xmlns:a16="http://schemas.microsoft.com/office/drawing/2014/main" id="{2F6EFD14-FE9C-DDD3-C6EF-99A2F3F76A37}"/>
              </a:ext>
            </a:extLst>
          </p:cNvPr>
          <p:cNvSpPr txBox="1">
            <a:spLocks noGrp="1"/>
          </p:cNvSpPr>
          <p:nvPr>
            <p:ph type="body" sz="quarter" idx="1"/>
          </p:nvPr>
        </p:nvSpPr>
        <p:spPr/>
        <p:txBody>
          <a:bodyPr/>
          <a:lstStyle/>
          <a:p>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2E5DBB-41AD-72A5-D830-D3FA876F622B}"/>
              </a:ext>
            </a:extLst>
          </p:cNvPr>
          <p:cNvSpPr txBox="1">
            <a:spLocks noGrp="1"/>
          </p:cNvSpPr>
          <p:nvPr>
            <p:ph type="ctrTitle"/>
          </p:nvPr>
        </p:nvSpPr>
        <p:spPr>
          <a:xfrm>
            <a:off x="1260472" y="928692"/>
            <a:ext cx="7559673" cy="1973266"/>
          </a:xfrm>
        </p:spPr>
        <p:txBody>
          <a:bodyPr anchor="b"/>
          <a:lstStyle>
            <a:lvl1pPr>
              <a:defRPr sz="6000"/>
            </a:lvl1pPr>
          </a:lstStyle>
          <a:p>
            <a:pPr lvl="0"/>
            <a:r>
              <a:rPr lang="fr-FR"/>
              <a:t>Modifiez le style du titre</a:t>
            </a:r>
          </a:p>
        </p:txBody>
      </p:sp>
      <p:sp>
        <p:nvSpPr>
          <p:cNvPr id="3" name="Sous-titre 2">
            <a:extLst>
              <a:ext uri="{FF2B5EF4-FFF2-40B4-BE49-F238E27FC236}">
                <a16:creationId xmlns:a16="http://schemas.microsoft.com/office/drawing/2014/main" id="{6CE3E776-66CD-59F4-DF45-BBDE2F22E6E3}"/>
              </a:ext>
            </a:extLst>
          </p:cNvPr>
          <p:cNvSpPr txBox="1">
            <a:spLocks noGrp="1"/>
          </p:cNvSpPr>
          <p:nvPr>
            <p:ph type="subTitle" idx="1"/>
          </p:nvPr>
        </p:nvSpPr>
        <p:spPr>
          <a:xfrm>
            <a:off x="1260472" y="2978145"/>
            <a:ext cx="7559673" cy="1370008"/>
          </a:xfrm>
        </p:spPr>
        <p:txBody>
          <a:bodyPr anchorCtr="1"/>
          <a:lstStyle>
            <a:lvl1pPr algn="ctr">
              <a:defRPr sz="2400"/>
            </a:lvl1pPr>
          </a:lstStyle>
          <a:p>
            <a:pPr lvl="0"/>
            <a:r>
              <a:rPr lang="fr-FR"/>
              <a:t>Modifiez le style des sous-titres du masque</a:t>
            </a:r>
          </a:p>
        </p:txBody>
      </p:sp>
      <p:sp>
        <p:nvSpPr>
          <p:cNvPr id="4" name="Espace réservé de la date 3">
            <a:extLst>
              <a:ext uri="{FF2B5EF4-FFF2-40B4-BE49-F238E27FC236}">
                <a16:creationId xmlns:a16="http://schemas.microsoft.com/office/drawing/2014/main" id="{51EEB46E-3732-67DC-7D96-49EE53CAE58D}"/>
              </a:ext>
            </a:extLst>
          </p:cNvPr>
          <p:cNvSpPr txBox="1">
            <a:spLocks noGrp="1"/>
          </p:cNvSpPr>
          <p:nvPr>
            <p:ph type="dt" sz="half" idx="7"/>
          </p:nvPr>
        </p:nvSpPr>
        <p:spPr/>
        <p:txBody>
          <a:bodyPr/>
          <a:lstStyle>
            <a:lvl1pPr>
              <a:defRPr/>
            </a:lvl1pPr>
          </a:lstStyle>
          <a:p>
            <a:pPr lvl="0"/>
            <a:endParaRPr lang="fr-FR"/>
          </a:p>
        </p:txBody>
      </p:sp>
      <p:sp>
        <p:nvSpPr>
          <p:cNvPr id="5" name="Espace réservé du pied de page 4">
            <a:extLst>
              <a:ext uri="{FF2B5EF4-FFF2-40B4-BE49-F238E27FC236}">
                <a16:creationId xmlns:a16="http://schemas.microsoft.com/office/drawing/2014/main" id="{17C932C3-2D12-B992-439F-5A486B8AF334}"/>
              </a:ext>
            </a:extLst>
          </p:cNvPr>
          <p:cNvSpPr txBox="1">
            <a:spLocks noGrp="1"/>
          </p:cNvSpPr>
          <p:nvPr>
            <p:ph type="ftr" sz="quarter" idx="9"/>
          </p:nvPr>
        </p:nvSpPr>
        <p:spPr/>
        <p:txBody>
          <a:bodyPr/>
          <a:lstStyle>
            <a:lvl1pPr>
              <a:defRPr/>
            </a:lvl1pPr>
          </a:lstStyle>
          <a:p>
            <a:pPr lvl="0"/>
            <a:endParaRPr lang="fr-FR"/>
          </a:p>
        </p:txBody>
      </p:sp>
      <p:sp>
        <p:nvSpPr>
          <p:cNvPr id="6" name="Espace réservé du numéro de diapositive 5">
            <a:extLst>
              <a:ext uri="{FF2B5EF4-FFF2-40B4-BE49-F238E27FC236}">
                <a16:creationId xmlns:a16="http://schemas.microsoft.com/office/drawing/2014/main" id="{B0095933-79BB-9B31-952F-882ABF70EB0C}"/>
              </a:ext>
            </a:extLst>
          </p:cNvPr>
          <p:cNvSpPr txBox="1">
            <a:spLocks noGrp="1"/>
          </p:cNvSpPr>
          <p:nvPr>
            <p:ph type="sldNum" sz="quarter" idx="8"/>
          </p:nvPr>
        </p:nvSpPr>
        <p:spPr/>
        <p:txBody>
          <a:bodyPr/>
          <a:lstStyle>
            <a:lvl1pPr>
              <a:defRPr/>
            </a:lvl1pPr>
          </a:lstStyle>
          <a:p>
            <a:pPr lvl="0"/>
            <a:fld id="{252D8F06-8A3F-F647-BBAA-C193F4B768C4}" type="slidenum">
              <a:t>‹N°›</a:t>
            </a:fld>
            <a:endParaRPr lang="fr-FR"/>
          </a:p>
        </p:txBody>
      </p:sp>
    </p:spTree>
    <p:extLst>
      <p:ext uri="{BB962C8B-B14F-4D97-AF65-F5344CB8AC3E}">
        <p14:creationId xmlns:p14="http://schemas.microsoft.com/office/powerpoint/2010/main" val="1990297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965103-B55C-4E13-328C-C2BCECF1BDA0}"/>
              </a:ext>
            </a:extLst>
          </p:cNvPr>
          <p:cNvSpPr txBox="1">
            <a:spLocks noGrp="1"/>
          </p:cNvSpPr>
          <p:nvPr>
            <p:ph type="title"/>
          </p:nvPr>
        </p:nvSpPr>
        <p:spPr/>
        <p:txBody>
          <a:bodyPr/>
          <a:lstStyle>
            <a:lvl1pPr>
              <a:defRPr/>
            </a:lvl1pPr>
          </a:lstStyle>
          <a:p>
            <a:pPr lvl="0"/>
            <a:r>
              <a:rPr lang="fr-FR"/>
              <a:t>Modifiez le style du titre</a:t>
            </a:r>
          </a:p>
        </p:txBody>
      </p:sp>
      <p:sp>
        <p:nvSpPr>
          <p:cNvPr id="3" name="Espace réservé du contenu 2">
            <a:extLst>
              <a:ext uri="{FF2B5EF4-FFF2-40B4-BE49-F238E27FC236}">
                <a16:creationId xmlns:a16="http://schemas.microsoft.com/office/drawing/2014/main" id="{B7CD5F3E-43FE-F44C-72AB-A97DCD3E89EE}"/>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9B9249-7A1B-B67D-95ED-210989FDBE7C}"/>
              </a:ext>
            </a:extLst>
          </p:cNvPr>
          <p:cNvSpPr txBox="1">
            <a:spLocks noGrp="1"/>
          </p:cNvSpPr>
          <p:nvPr>
            <p:ph type="dt" sz="half" idx="7"/>
          </p:nvPr>
        </p:nvSpPr>
        <p:spPr/>
        <p:txBody>
          <a:bodyPr/>
          <a:lstStyle>
            <a:lvl1pPr>
              <a:defRPr/>
            </a:lvl1pPr>
          </a:lstStyle>
          <a:p>
            <a:pPr lvl="0"/>
            <a:endParaRPr lang="fr-FR"/>
          </a:p>
        </p:txBody>
      </p:sp>
      <p:sp>
        <p:nvSpPr>
          <p:cNvPr id="5" name="Espace réservé du pied de page 4">
            <a:extLst>
              <a:ext uri="{FF2B5EF4-FFF2-40B4-BE49-F238E27FC236}">
                <a16:creationId xmlns:a16="http://schemas.microsoft.com/office/drawing/2014/main" id="{7B53C5A0-314B-649C-2CF2-0CD51753DA34}"/>
              </a:ext>
            </a:extLst>
          </p:cNvPr>
          <p:cNvSpPr txBox="1">
            <a:spLocks noGrp="1"/>
          </p:cNvSpPr>
          <p:nvPr>
            <p:ph type="ftr" sz="quarter" idx="9"/>
          </p:nvPr>
        </p:nvSpPr>
        <p:spPr/>
        <p:txBody>
          <a:bodyPr/>
          <a:lstStyle>
            <a:lvl1pPr>
              <a:defRPr/>
            </a:lvl1pPr>
          </a:lstStyle>
          <a:p>
            <a:pPr lvl="0"/>
            <a:endParaRPr lang="fr-FR"/>
          </a:p>
        </p:txBody>
      </p:sp>
      <p:sp>
        <p:nvSpPr>
          <p:cNvPr id="6" name="Espace réservé du numéro de diapositive 5">
            <a:extLst>
              <a:ext uri="{FF2B5EF4-FFF2-40B4-BE49-F238E27FC236}">
                <a16:creationId xmlns:a16="http://schemas.microsoft.com/office/drawing/2014/main" id="{D6AA149A-BE30-0178-5D7F-BCD0A9254D2E}"/>
              </a:ext>
            </a:extLst>
          </p:cNvPr>
          <p:cNvSpPr txBox="1">
            <a:spLocks noGrp="1"/>
          </p:cNvSpPr>
          <p:nvPr>
            <p:ph type="sldNum" sz="quarter" idx="8"/>
          </p:nvPr>
        </p:nvSpPr>
        <p:spPr/>
        <p:txBody>
          <a:bodyPr/>
          <a:lstStyle>
            <a:lvl1pPr>
              <a:defRPr/>
            </a:lvl1pPr>
          </a:lstStyle>
          <a:p>
            <a:pPr lvl="0"/>
            <a:fld id="{F6B944C1-39E9-9E48-BAEC-D9ED10E959EF}" type="slidenum">
              <a:t>‹N°›</a:t>
            </a:fld>
            <a:endParaRPr lang="fr-FR"/>
          </a:p>
        </p:txBody>
      </p:sp>
    </p:spTree>
    <p:extLst>
      <p:ext uri="{BB962C8B-B14F-4D97-AF65-F5344CB8AC3E}">
        <p14:creationId xmlns:p14="http://schemas.microsoft.com/office/powerpoint/2010/main" val="965998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CABBF7-8076-7AEF-3ECF-7C12880675ED}"/>
              </a:ext>
            </a:extLst>
          </p:cNvPr>
          <p:cNvSpPr txBox="1">
            <a:spLocks noGrp="1"/>
          </p:cNvSpPr>
          <p:nvPr>
            <p:ph type="title"/>
          </p:nvPr>
        </p:nvSpPr>
        <p:spPr>
          <a:xfrm>
            <a:off x="687391" y="1414467"/>
            <a:ext cx="8694736" cy="2357432"/>
          </a:xfrm>
        </p:spPr>
        <p:txBody>
          <a:bodyPr anchor="b"/>
          <a:lstStyle>
            <a:lvl1pPr>
              <a:defRPr sz="6000"/>
            </a:lvl1pPr>
          </a:lstStyle>
          <a:p>
            <a:pPr lvl="0"/>
            <a:r>
              <a:rPr lang="fr-FR"/>
              <a:t>Modifiez le style du titre</a:t>
            </a:r>
          </a:p>
        </p:txBody>
      </p:sp>
      <p:sp>
        <p:nvSpPr>
          <p:cNvPr id="3" name="Espace réservé du texte 2">
            <a:extLst>
              <a:ext uri="{FF2B5EF4-FFF2-40B4-BE49-F238E27FC236}">
                <a16:creationId xmlns:a16="http://schemas.microsoft.com/office/drawing/2014/main" id="{3EBCF025-2E85-223E-6C3F-5870C8494911}"/>
              </a:ext>
            </a:extLst>
          </p:cNvPr>
          <p:cNvSpPr txBox="1">
            <a:spLocks noGrp="1"/>
          </p:cNvSpPr>
          <p:nvPr>
            <p:ph type="body" idx="1"/>
          </p:nvPr>
        </p:nvSpPr>
        <p:spPr>
          <a:xfrm>
            <a:off x="687391" y="3794129"/>
            <a:ext cx="8694736" cy="1241426"/>
          </a:xfrm>
        </p:spPr>
        <p:txBody>
          <a:bodyPr/>
          <a:lstStyle>
            <a:lvl1pPr>
              <a:defRPr sz="2400">
                <a:solidFill>
                  <a:srgbClr val="898989"/>
                </a:solidFill>
              </a:defRPr>
            </a:lvl1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A263332-1113-826B-BCC7-104E0BD445B2}"/>
              </a:ext>
            </a:extLst>
          </p:cNvPr>
          <p:cNvSpPr txBox="1">
            <a:spLocks noGrp="1"/>
          </p:cNvSpPr>
          <p:nvPr>
            <p:ph type="dt" sz="half" idx="7"/>
          </p:nvPr>
        </p:nvSpPr>
        <p:spPr/>
        <p:txBody>
          <a:bodyPr/>
          <a:lstStyle>
            <a:lvl1pPr>
              <a:defRPr/>
            </a:lvl1pPr>
          </a:lstStyle>
          <a:p>
            <a:pPr lvl="0"/>
            <a:endParaRPr lang="fr-FR"/>
          </a:p>
        </p:txBody>
      </p:sp>
      <p:sp>
        <p:nvSpPr>
          <p:cNvPr id="5" name="Espace réservé du pied de page 4">
            <a:extLst>
              <a:ext uri="{FF2B5EF4-FFF2-40B4-BE49-F238E27FC236}">
                <a16:creationId xmlns:a16="http://schemas.microsoft.com/office/drawing/2014/main" id="{816127D1-E2FA-7988-0601-42060D0057FC}"/>
              </a:ext>
            </a:extLst>
          </p:cNvPr>
          <p:cNvSpPr txBox="1">
            <a:spLocks noGrp="1"/>
          </p:cNvSpPr>
          <p:nvPr>
            <p:ph type="ftr" sz="quarter" idx="9"/>
          </p:nvPr>
        </p:nvSpPr>
        <p:spPr/>
        <p:txBody>
          <a:bodyPr/>
          <a:lstStyle>
            <a:lvl1pPr>
              <a:defRPr/>
            </a:lvl1pPr>
          </a:lstStyle>
          <a:p>
            <a:pPr lvl="0"/>
            <a:endParaRPr lang="fr-FR"/>
          </a:p>
        </p:txBody>
      </p:sp>
      <p:sp>
        <p:nvSpPr>
          <p:cNvPr id="6" name="Espace réservé du numéro de diapositive 5">
            <a:extLst>
              <a:ext uri="{FF2B5EF4-FFF2-40B4-BE49-F238E27FC236}">
                <a16:creationId xmlns:a16="http://schemas.microsoft.com/office/drawing/2014/main" id="{AEB4375B-A0D5-116A-4DE0-9CF807F7812B}"/>
              </a:ext>
            </a:extLst>
          </p:cNvPr>
          <p:cNvSpPr txBox="1">
            <a:spLocks noGrp="1"/>
          </p:cNvSpPr>
          <p:nvPr>
            <p:ph type="sldNum" sz="quarter" idx="8"/>
          </p:nvPr>
        </p:nvSpPr>
        <p:spPr/>
        <p:txBody>
          <a:bodyPr/>
          <a:lstStyle>
            <a:lvl1pPr>
              <a:defRPr/>
            </a:lvl1pPr>
          </a:lstStyle>
          <a:p>
            <a:pPr lvl="0"/>
            <a:fld id="{42B8270D-B210-CA46-A1A9-436F28960129}" type="slidenum">
              <a:t>‹N°›</a:t>
            </a:fld>
            <a:endParaRPr lang="fr-FR"/>
          </a:p>
        </p:txBody>
      </p:sp>
    </p:spTree>
    <p:extLst>
      <p:ext uri="{BB962C8B-B14F-4D97-AF65-F5344CB8AC3E}">
        <p14:creationId xmlns:p14="http://schemas.microsoft.com/office/powerpoint/2010/main" val="4011386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DA7744-CF4C-D286-8845-B2504614B957}"/>
              </a:ext>
            </a:extLst>
          </p:cNvPr>
          <p:cNvSpPr txBox="1">
            <a:spLocks noGrp="1"/>
          </p:cNvSpPr>
          <p:nvPr>
            <p:ph type="title"/>
          </p:nvPr>
        </p:nvSpPr>
        <p:spPr/>
        <p:txBody>
          <a:bodyPr/>
          <a:lstStyle>
            <a:lvl1pPr>
              <a:defRPr/>
            </a:lvl1pPr>
          </a:lstStyle>
          <a:p>
            <a:pPr lvl="0"/>
            <a:r>
              <a:rPr lang="fr-FR"/>
              <a:t>Modifiez le style du titre</a:t>
            </a:r>
          </a:p>
        </p:txBody>
      </p:sp>
      <p:sp>
        <p:nvSpPr>
          <p:cNvPr id="3" name="Espace réservé du contenu 2">
            <a:extLst>
              <a:ext uri="{FF2B5EF4-FFF2-40B4-BE49-F238E27FC236}">
                <a16:creationId xmlns:a16="http://schemas.microsoft.com/office/drawing/2014/main" id="{44E171F5-B39C-5CB4-E434-1586C9717602}"/>
              </a:ext>
            </a:extLst>
          </p:cNvPr>
          <p:cNvSpPr txBox="1">
            <a:spLocks noGrp="1"/>
          </p:cNvSpPr>
          <p:nvPr>
            <p:ph idx="1"/>
          </p:nvPr>
        </p:nvSpPr>
        <p:spPr>
          <a:xfrm>
            <a:off x="503240" y="1327151"/>
            <a:ext cx="4459291" cy="3287716"/>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728258F-3D06-7DC8-110D-8F87CAAEB56E}"/>
              </a:ext>
            </a:extLst>
          </p:cNvPr>
          <p:cNvSpPr txBox="1">
            <a:spLocks noGrp="1"/>
          </p:cNvSpPr>
          <p:nvPr>
            <p:ph idx="2"/>
          </p:nvPr>
        </p:nvSpPr>
        <p:spPr>
          <a:xfrm>
            <a:off x="5114925" y="1327151"/>
            <a:ext cx="4460872" cy="3287716"/>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20BE43D-5FB0-3369-907C-7817801F49BE}"/>
              </a:ext>
            </a:extLst>
          </p:cNvPr>
          <p:cNvSpPr txBox="1">
            <a:spLocks noGrp="1"/>
          </p:cNvSpPr>
          <p:nvPr>
            <p:ph type="dt" sz="half" idx="7"/>
          </p:nvPr>
        </p:nvSpPr>
        <p:spPr/>
        <p:txBody>
          <a:bodyPr/>
          <a:lstStyle>
            <a:lvl1pPr>
              <a:defRPr/>
            </a:lvl1pPr>
          </a:lstStyle>
          <a:p>
            <a:pPr lvl="0"/>
            <a:endParaRPr lang="fr-FR"/>
          </a:p>
        </p:txBody>
      </p:sp>
      <p:sp>
        <p:nvSpPr>
          <p:cNvPr id="6" name="Espace réservé du pied de page 5">
            <a:extLst>
              <a:ext uri="{FF2B5EF4-FFF2-40B4-BE49-F238E27FC236}">
                <a16:creationId xmlns:a16="http://schemas.microsoft.com/office/drawing/2014/main" id="{BD8179F1-9FB1-02E0-3000-EB8209548581}"/>
              </a:ext>
            </a:extLst>
          </p:cNvPr>
          <p:cNvSpPr txBox="1">
            <a:spLocks noGrp="1"/>
          </p:cNvSpPr>
          <p:nvPr>
            <p:ph type="ftr" sz="quarter" idx="9"/>
          </p:nvPr>
        </p:nvSpPr>
        <p:spPr/>
        <p:txBody>
          <a:bodyPr/>
          <a:lstStyle>
            <a:lvl1pPr>
              <a:defRPr/>
            </a:lvl1pPr>
          </a:lstStyle>
          <a:p>
            <a:pPr lvl="0"/>
            <a:endParaRPr lang="fr-FR"/>
          </a:p>
        </p:txBody>
      </p:sp>
      <p:sp>
        <p:nvSpPr>
          <p:cNvPr id="7" name="Espace réservé du numéro de diapositive 6">
            <a:extLst>
              <a:ext uri="{FF2B5EF4-FFF2-40B4-BE49-F238E27FC236}">
                <a16:creationId xmlns:a16="http://schemas.microsoft.com/office/drawing/2014/main" id="{2B371D44-0186-1135-35F5-38249382AFEC}"/>
              </a:ext>
            </a:extLst>
          </p:cNvPr>
          <p:cNvSpPr txBox="1">
            <a:spLocks noGrp="1"/>
          </p:cNvSpPr>
          <p:nvPr>
            <p:ph type="sldNum" sz="quarter" idx="8"/>
          </p:nvPr>
        </p:nvSpPr>
        <p:spPr/>
        <p:txBody>
          <a:bodyPr/>
          <a:lstStyle>
            <a:lvl1pPr>
              <a:defRPr/>
            </a:lvl1pPr>
          </a:lstStyle>
          <a:p>
            <a:pPr lvl="0"/>
            <a:fld id="{FCA1EA9E-56F6-364F-BDF6-BB859E5FCA5F}" type="slidenum">
              <a:t>‹N°›</a:t>
            </a:fld>
            <a:endParaRPr lang="fr-FR"/>
          </a:p>
        </p:txBody>
      </p:sp>
    </p:spTree>
    <p:extLst>
      <p:ext uri="{BB962C8B-B14F-4D97-AF65-F5344CB8AC3E}">
        <p14:creationId xmlns:p14="http://schemas.microsoft.com/office/powerpoint/2010/main" val="612319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A25E8A-9593-DD90-2B7D-08BBF563918C}"/>
              </a:ext>
            </a:extLst>
          </p:cNvPr>
          <p:cNvSpPr txBox="1">
            <a:spLocks noGrp="1"/>
          </p:cNvSpPr>
          <p:nvPr>
            <p:ph type="title"/>
          </p:nvPr>
        </p:nvSpPr>
        <p:spPr>
          <a:xfrm>
            <a:off x="693736" y="301623"/>
            <a:ext cx="8694736" cy="1096959"/>
          </a:xfrm>
        </p:spPr>
        <p:txBody>
          <a:bodyPr/>
          <a:lstStyle>
            <a:lvl1pPr>
              <a:defRPr/>
            </a:lvl1pPr>
          </a:lstStyle>
          <a:p>
            <a:pPr lvl="0"/>
            <a:r>
              <a:rPr lang="fr-FR"/>
              <a:t>Modifiez le style du titre</a:t>
            </a:r>
          </a:p>
        </p:txBody>
      </p:sp>
      <p:sp>
        <p:nvSpPr>
          <p:cNvPr id="3" name="Espace réservé du texte 2">
            <a:extLst>
              <a:ext uri="{FF2B5EF4-FFF2-40B4-BE49-F238E27FC236}">
                <a16:creationId xmlns:a16="http://schemas.microsoft.com/office/drawing/2014/main" id="{3D045ACA-2FC2-D1A6-BB62-8F7A88BB9814}"/>
              </a:ext>
            </a:extLst>
          </p:cNvPr>
          <p:cNvSpPr txBox="1">
            <a:spLocks noGrp="1"/>
          </p:cNvSpPr>
          <p:nvPr>
            <p:ph type="body" idx="1"/>
          </p:nvPr>
        </p:nvSpPr>
        <p:spPr>
          <a:xfrm>
            <a:off x="693736" y="1390646"/>
            <a:ext cx="4265611" cy="681035"/>
          </a:xfrm>
        </p:spPr>
        <p:txBody>
          <a:bodyPr anchor="b"/>
          <a:lstStyle>
            <a:lvl1pPr>
              <a:defRPr sz="2400" b="1"/>
            </a:lvl1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8D3C1FA-FEE4-B32E-A7A4-E17866FCACE3}"/>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D673D83-97D9-D27F-3B1F-4E167993F550}"/>
              </a:ext>
            </a:extLst>
          </p:cNvPr>
          <p:cNvSpPr txBox="1">
            <a:spLocks noGrp="1"/>
          </p:cNvSpPr>
          <p:nvPr>
            <p:ph type="body" idx="3"/>
          </p:nvPr>
        </p:nvSpPr>
        <p:spPr>
          <a:xfrm>
            <a:off x="5103815" y="1390646"/>
            <a:ext cx="4284658" cy="681035"/>
          </a:xfrm>
        </p:spPr>
        <p:txBody>
          <a:bodyPr anchor="b"/>
          <a:lstStyle>
            <a:lvl1pPr>
              <a:defRPr sz="2400" b="1"/>
            </a:lvl1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298561A-A1AC-AC99-D359-102BEAAB23B1}"/>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23DEA74-534C-0840-F23A-375FF3D488E2}"/>
              </a:ext>
            </a:extLst>
          </p:cNvPr>
          <p:cNvSpPr txBox="1">
            <a:spLocks noGrp="1"/>
          </p:cNvSpPr>
          <p:nvPr>
            <p:ph type="dt" sz="half" idx="7"/>
          </p:nvPr>
        </p:nvSpPr>
        <p:spPr/>
        <p:txBody>
          <a:bodyPr/>
          <a:lstStyle>
            <a:lvl1pPr>
              <a:defRPr/>
            </a:lvl1pPr>
          </a:lstStyle>
          <a:p>
            <a:pPr lvl="0"/>
            <a:endParaRPr lang="fr-FR"/>
          </a:p>
        </p:txBody>
      </p:sp>
      <p:sp>
        <p:nvSpPr>
          <p:cNvPr id="8" name="Espace réservé du pied de page 7">
            <a:extLst>
              <a:ext uri="{FF2B5EF4-FFF2-40B4-BE49-F238E27FC236}">
                <a16:creationId xmlns:a16="http://schemas.microsoft.com/office/drawing/2014/main" id="{C5684FA7-7548-01B2-3B27-A60DBCEEB8F7}"/>
              </a:ext>
            </a:extLst>
          </p:cNvPr>
          <p:cNvSpPr txBox="1">
            <a:spLocks noGrp="1"/>
          </p:cNvSpPr>
          <p:nvPr>
            <p:ph type="ftr" sz="quarter" idx="9"/>
          </p:nvPr>
        </p:nvSpPr>
        <p:spPr/>
        <p:txBody>
          <a:bodyPr/>
          <a:lstStyle>
            <a:lvl1pPr>
              <a:defRPr/>
            </a:lvl1pPr>
          </a:lstStyle>
          <a:p>
            <a:pPr lvl="0"/>
            <a:endParaRPr lang="fr-FR"/>
          </a:p>
        </p:txBody>
      </p:sp>
      <p:sp>
        <p:nvSpPr>
          <p:cNvPr id="9" name="Espace réservé du numéro de diapositive 8">
            <a:extLst>
              <a:ext uri="{FF2B5EF4-FFF2-40B4-BE49-F238E27FC236}">
                <a16:creationId xmlns:a16="http://schemas.microsoft.com/office/drawing/2014/main" id="{C09A0766-0770-3271-56F7-6ED6275E1E52}"/>
              </a:ext>
            </a:extLst>
          </p:cNvPr>
          <p:cNvSpPr txBox="1">
            <a:spLocks noGrp="1"/>
          </p:cNvSpPr>
          <p:nvPr>
            <p:ph type="sldNum" sz="quarter" idx="8"/>
          </p:nvPr>
        </p:nvSpPr>
        <p:spPr/>
        <p:txBody>
          <a:bodyPr/>
          <a:lstStyle>
            <a:lvl1pPr>
              <a:defRPr/>
            </a:lvl1pPr>
          </a:lstStyle>
          <a:p>
            <a:pPr lvl="0"/>
            <a:fld id="{CDC996C4-97CB-A44E-8F49-7683503C1885}" type="slidenum">
              <a:t>‹N°›</a:t>
            </a:fld>
            <a:endParaRPr lang="fr-FR"/>
          </a:p>
        </p:txBody>
      </p:sp>
    </p:spTree>
    <p:extLst>
      <p:ext uri="{BB962C8B-B14F-4D97-AF65-F5344CB8AC3E}">
        <p14:creationId xmlns:p14="http://schemas.microsoft.com/office/powerpoint/2010/main" val="3287838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96A67F-F8C4-0A2D-96CE-CAAC0FA6A3C7}"/>
              </a:ext>
            </a:extLst>
          </p:cNvPr>
          <p:cNvSpPr txBox="1">
            <a:spLocks noGrp="1"/>
          </p:cNvSpPr>
          <p:nvPr>
            <p:ph type="title"/>
          </p:nvPr>
        </p:nvSpPr>
        <p:spPr/>
        <p:txBody>
          <a:bodyPr/>
          <a:lstStyle>
            <a:lvl1pPr>
              <a:defRPr/>
            </a:lvl1pPr>
          </a:lstStyle>
          <a:p>
            <a:pPr lvl="0"/>
            <a:r>
              <a:rPr lang="fr-FR"/>
              <a:t>Modifiez le style du titre</a:t>
            </a:r>
          </a:p>
        </p:txBody>
      </p:sp>
      <p:sp>
        <p:nvSpPr>
          <p:cNvPr id="3" name="Espace réservé de la date 2">
            <a:extLst>
              <a:ext uri="{FF2B5EF4-FFF2-40B4-BE49-F238E27FC236}">
                <a16:creationId xmlns:a16="http://schemas.microsoft.com/office/drawing/2014/main" id="{D6EA885D-308E-F5F6-5ACD-D3D63D515E7C}"/>
              </a:ext>
            </a:extLst>
          </p:cNvPr>
          <p:cNvSpPr txBox="1">
            <a:spLocks noGrp="1"/>
          </p:cNvSpPr>
          <p:nvPr>
            <p:ph type="dt" sz="half" idx="7"/>
          </p:nvPr>
        </p:nvSpPr>
        <p:spPr/>
        <p:txBody>
          <a:bodyPr/>
          <a:lstStyle>
            <a:lvl1pPr>
              <a:defRPr/>
            </a:lvl1pPr>
          </a:lstStyle>
          <a:p>
            <a:pPr lvl="0"/>
            <a:endParaRPr lang="fr-FR"/>
          </a:p>
        </p:txBody>
      </p:sp>
      <p:sp>
        <p:nvSpPr>
          <p:cNvPr id="4" name="Espace réservé du pied de page 3">
            <a:extLst>
              <a:ext uri="{FF2B5EF4-FFF2-40B4-BE49-F238E27FC236}">
                <a16:creationId xmlns:a16="http://schemas.microsoft.com/office/drawing/2014/main" id="{10F141F3-E6ED-98F0-2C3F-BC2CB048D919}"/>
              </a:ext>
            </a:extLst>
          </p:cNvPr>
          <p:cNvSpPr txBox="1">
            <a:spLocks noGrp="1"/>
          </p:cNvSpPr>
          <p:nvPr>
            <p:ph type="ftr" sz="quarter" idx="9"/>
          </p:nvPr>
        </p:nvSpPr>
        <p:spPr/>
        <p:txBody>
          <a:bodyPr/>
          <a:lstStyle>
            <a:lvl1pPr>
              <a:defRPr/>
            </a:lvl1pPr>
          </a:lstStyle>
          <a:p>
            <a:pPr lvl="0"/>
            <a:endParaRPr lang="fr-FR"/>
          </a:p>
        </p:txBody>
      </p:sp>
      <p:sp>
        <p:nvSpPr>
          <p:cNvPr id="5" name="Espace réservé du numéro de diapositive 4">
            <a:extLst>
              <a:ext uri="{FF2B5EF4-FFF2-40B4-BE49-F238E27FC236}">
                <a16:creationId xmlns:a16="http://schemas.microsoft.com/office/drawing/2014/main" id="{4613FA19-9C06-908E-6DDA-46DC2A56C980}"/>
              </a:ext>
            </a:extLst>
          </p:cNvPr>
          <p:cNvSpPr txBox="1">
            <a:spLocks noGrp="1"/>
          </p:cNvSpPr>
          <p:nvPr>
            <p:ph type="sldNum" sz="quarter" idx="8"/>
          </p:nvPr>
        </p:nvSpPr>
        <p:spPr/>
        <p:txBody>
          <a:bodyPr/>
          <a:lstStyle>
            <a:lvl1pPr>
              <a:defRPr/>
            </a:lvl1pPr>
          </a:lstStyle>
          <a:p>
            <a:pPr lvl="0"/>
            <a:fld id="{FDE49513-5AEA-4941-A944-DF5CD6FDBD26}" type="slidenum">
              <a:t>‹N°›</a:t>
            </a:fld>
            <a:endParaRPr lang="fr-FR"/>
          </a:p>
        </p:txBody>
      </p:sp>
    </p:spTree>
    <p:extLst>
      <p:ext uri="{BB962C8B-B14F-4D97-AF65-F5344CB8AC3E}">
        <p14:creationId xmlns:p14="http://schemas.microsoft.com/office/powerpoint/2010/main" val="54194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8A7E6A1-93DD-7E5E-553D-61C6C7AF5933}"/>
              </a:ext>
            </a:extLst>
          </p:cNvPr>
          <p:cNvSpPr txBox="1">
            <a:spLocks noGrp="1"/>
          </p:cNvSpPr>
          <p:nvPr>
            <p:ph type="dt" sz="half" idx="7"/>
          </p:nvPr>
        </p:nvSpPr>
        <p:spPr/>
        <p:txBody>
          <a:bodyPr/>
          <a:lstStyle>
            <a:lvl1pPr>
              <a:defRPr/>
            </a:lvl1pPr>
          </a:lstStyle>
          <a:p>
            <a:pPr lvl="0"/>
            <a:endParaRPr lang="fr-FR"/>
          </a:p>
        </p:txBody>
      </p:sp>
      <p:sp>
        <p:nvSpPr>
          <p:cNvPr id="3" name="Espace réservé du pied de page 2">
            <a:extLst>
              <a:ext uri="{FF2B5EF4-FFF2-40B4-BE49-F238E27FC236}">
                <a16:creationId xmlns:a16="http://schemas.microsoft.com/office/drawing/2014/main" id="{3502FCE8-44E7-833A-ABB0-CC46E5BACEB6}"/>
              </a:ext>
            </a:extLst>
          </p:cNvPr>
          <p:cNvSpPr txBox="1">
            <a:spLocks noGrp="1"/>
          </p:cNvSpPr>
          <p:nvPr>
            <p:ph type="ftr" sz="quarter" idx="9"/>
          </p:nvPr>
        </p:nvSpPr>
        <p:spPr/>
        <p:txBody>
          <a:bodyPr/>
          <a:lstStyle>
            <a:lvl1pPr>
              <a:defRPr/>
            </a:lvl1pPr>
          </a:lstStyle>
          <a:p>
            <a:pPr lvl="0"/>
            <a:endParaRPr lang="fr-FR"/>
          </a:p>
        </p:txBody>
      </p:sp>
      <p:sp>
        <p:nvSpPr>
          <p:cNvPr id="4" name="Espace réservé du numéro de diapositive 3">
            <a:extLst>
              <a:ext uri="{FF2B5EF4-FFF2-40B4-BE49-F238E27FC236}">
                <a16:creationId xmlns:a16="http://schemas.microsoft.com/office/drawing/2014/main" id="{C0F86496-8B5A-C11B-9789-0D853CA03B29}"/>
              </a:ext>
            </a:extLst>
          </p:cNvPr>
          <p:cNvSpPr txBox="1">
            <a:spLocks noGrp="1"/>
          </p:cNvSpPr>
          <p:nvPr>
            <p:ph type="sldNum" sz="quarter" idx="8"/>
          </p:nvPr>
        </p:nvSpPr>
        <p:spPr/>
        <p:txBody>
          <a:bodyPr/>
          <a:lstStyle>
            <a:lvl1pPr>
              <a:defRPr/>
            </a:lvl1pPr>
          </a:lstStyle>
          <a:p>
            <a:pPr lvl="0"/>
            <a:fld id="{2B0FBE05-EF9B-BE41-8C32-6AA759C03F84}" type="slidenum">
              <a:t>‹N°›</a:t>
            </a:fld>
            <a:endParaRPr lang="fr-FR"/>
          </a:p>
        </p:txBody>
      </p:sp>
    </p:spTree>
    <p:extLst>
      <p:ext uri="{BB962C8B-B14F-4D97-AF65-F5344CB8AC3E}">
        <p14:creationId xmlns:p14="http://schemas.microsoft.com/office/powerpoint/2010/main" val="221595735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50200A-7937-16CF-D1CF-EA3A40DBFC6A}"/>
              </a:ext>
            </a:extLst>
          </p:cNvPr>
          <p:cNvSpPr txBox="1">
            <a:spLocks noGrp="1"/>
          </p:cNvSpPr>
          <p:nvPr>
            <p:ph type="title"/>
          </p:nvPr>
        </p:nvSpPr>
        <p:spPr>
          <a:xfrm>
            <a:off x="693736" y="377820"/>
            <a:ext cx="3251204" cy="1323978"/>
          </a:xfrm>
        </p:spPr>
        <p:txBody>
          <a:bodyPr anchor="b"/>
          <a:lstStyle>
            <a:lvl1pPr>
              <a:defRPr sz="3200"/>
            </a:lvl1pPr>
          </a:lstStyle>
          <a:p>
            <a:pPr lvl="0"/>
            <a:r>
              <a:rPr lang="fr-FR"/>
              <a:t>Modifiez le style du titre</a:t>
            </a:r>
          </a:p>
        </p:txBody>
      </p:sp>
      <p:sp>
        <p:nvSpPr>
          <p:cNvPr id="3" name="Espace réservé du contenu 2">
            <a:extLst>
              <a:ext uri="{FF2B5EF4-FFF2-40B4-BE49-F238E27FC236}">
                <a16:creationId xmlns:a16="http://schemas.microsoft.com/office/drawing/2014/main" id="{58D08A02-4F2A-6D6B-D09F-FF0B7A8A357B}"/>
              </a:ext>
            </a:extLst>
          </p:cNvPr>
          <p:cNvSpPr txBox="1">
            <a:spLocks noGrp="1"/>
          </p:cNvSpPr>
          <p:nvPr>
            <p:ph idx="1"/>
          </p:nvPr>
        </p:nvSpPr>
        <p:spPr>
          <a:xfrm>
            <a:off x="4286250" y="815973"/>
            <a:ext cx="5102223" cy="4030666"/>
          </a:xfrm>
        </p:spPr>
        <p:txBody>
          <a:bodyPr/>
          <a:lstStyle>
            <a:lvl1pPr>
              <a:defRPr/>
            </a:lvl1pPr>
            <a:lvl2pPr>
              <a:defRPr sz="2800"/>
            </a:lvl2pPr>
            <a:lvl3pPr>
              <a:defRPr sz="2400"/>
            </a:lvl3pPr>
            <a:lvl4pPr>
              <a:defRPr sz="2000"/>
            </a:lvl4pPr>
            <a:lvl5pPr>
              <a:defRPr sz="20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150CB48-97D8-B9F2-3A33-3EC835E39705}"/>
              </a:ext>
            </a:extLst>
          </p:cNvPr>
          <p:cNvSpPr txBox="1">
            <a:spLocks noGrp="1"/>
          </p:cNvSpPr>
          <p:nvPr>
            <p:ph type="body" idx="2"/>
          </p:nvPr>
        </p:nvSpPr>
        <p:spPr>
          <a:xfrm>
            <a:off x="693736" y="1701798"/>
            <a:ext cx="3251204" cy="3151186"/>
          </a:xfrm>
        </p:spPr>
        <p:txBody>
          <a:bodyPr/>
          <a:lstStyle>
            <a:lvl1pPr>
              <a:defRPr sz="1600"/>
            </a:lvl1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D3FB031-0541-86DF-896A-10A9962AF1FB}"/>
              </a:ext>
            </a:extLst>
          </p:cNvPr>
          <p:cNvSpPr txBox="1">
            <a:spLocks noGrp="1"/>
          </p:cNvSpPr>
          <p:nvPr>
            <p:ph type="dt" sz="half" idx="7"/>
          </p:nvPr>
        </p:nvSpPr>
        <p:spPr/>
        <p:txBody>
          <a:bodyPr/>
          <a:lstStyle>
            <a:lvl1pPr>
              <a:defRPr/>
            </a:lvl1pPr>
          </a:lstStyle>
          <a:p>
            <a:pPr lvl="0"/>
            <a:endParaRPr lang="fr-FR"/>
          </a:p>
        </p:txBody>
      </p:sp>
      <p:sp>
        <p:nvSpPr>
          <p:cNvPr id="6" name="Espace réservé du pied de page 5">
            <a:extLst>
              <a:ext uri="{FF2B5EF4-FFF2-40B4-BE49-F238E27FC236}">
                <a16:creationId xmlns:a16="http://schemas.microsoft.com/office/drawing/2014/main" id="{82B85B54-D34A-747E-523E-77D4DC0CB313}"/>
              </a:ext>
            </a:extLst>
          </p:cNvPr>
          <p:cNvSpPr txBox="1">
            <a:spLocks noGrp="1"/>
          </p:cNvSpPr>
          <p:nvPr>
            <p:ph type="ftr" sz="quarter" idx="9"/>
          </p:nvPr>
        </p:nvSpPr>
        <p:spPr/>
        <p:txBody>
          <a:bodyPr/>
          <a:lstStyle>
            <a:lvl1pPr>
              <a:defRPr/>
            </a:lvl1pPr>
          </a:lstStyle>
          <a:p>
            <a:pPr lvl="0"/>
            <a:endParaRPr lang="fr-FR"/>
          </a:p>
        </p:txBody>
      </p:sp>
      <p:sp>
        <p:nvSpPr>
          <p:cNvPr id="7" name="Espace réservé du numéro de diapositive 6">
            <a:extLst>
              <a:ext uri="{FF2B5EF4-FFF2-40B4-BE49-F238E27FC236}">
                <a16:creationId xmlns:a16="http://schemas.microsoft.com/office/drawing/2014/main" id="{210B1DFC-6961-CADC-E225-3DF01914DBC1}"/>
              </a:ext>
            </a:extLst>
          </p:cNvPr>
          <p:cNvSpPr txBox="1">
            <a:spLocks noGrp="1"/>
          </p:cNvSpPr>
          <p:nvPr>
            <p:ph type="sldNum" sz="quarter" idx="8"/>
          </p:nvPr>
        </p:nvSpPr>
        <p:spPr/>
        <p:txBody>
          <a:bodyPr/>
          <a:lstStyle>
            <a:lvl1pPr>
              <a:defRPr/>
            </a:lvl1pPr>
          </a:lstStyle>
          <a:p>
            <a:pPr lvl="0"/>
            <a:fld id="{414C07E4-094A-A141-9E04-D620C22729C0}" type="slidenum">
              <a:t>‹N°›</a:t>
            </a:fld>
            <a:endParaRPr lang="fr-FR"/>
          </a:p>
        </p:txBody>
      </p:sp>
    </p:spTree>
    <p:extLst>
      <p:ext uri="{BB962C8B-B14F-4D97-AF65-F5344CB8AC3E}">
        <p14:creationId xmlns:p14="http://schemas.microsoft.com/office/powerpoint/2010/main" val="3442343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481967-101A-D0E7-CE16-F1C34232637A}"/>
              </a:ext>
            </a:extLst>
          </p:cNvPr>
          <p:cNvSpPr txBox="1">
            <a:spLocks noGrp="1"/>
          </p:cNvSpPr>
          <p:nvPr>
            <p:ph type="title"/>
          </p:nvPr>
        </p:nvSpPr>
        <p:spPr>
          <a:xfrm>
            <a:off x="693736" y="377820"/>
            <a:ext cx="3251204" cy="1323978"/>
          </a:xfrm>
        </p:spPr>
        <p:txBody>
          <a:bodyPr anchor="b"/>
          <a:lstStyle>
            <a:lvl1pPr>
              <a:defRPr sz="3200"/>
            </a:lvl1pPr>
          </a:lstStyle>
          <a:p>
            <a:pPr lvl="0"/>
            <a:r>
              <a:rPr lang="fr-FR"/>
              <a:t>Modifiez le style du titre</a:t>
            </a:r>
          </a:p>
        </p:txBody>
      </p:sp>
      <p:sp>
        <p:nvSpPr>
          <p:cNvPr id="3" name="Espace réservé pour une image  2">
            <a:extLst>
              <a:ext uri="{FF2B5EF4-FFF2-40B4-BE49-F238E27FC236}">
                <a16:creationId xmlns:a16="http://schemas.microsoft.com/office/drawing/2014/main" id="{3B975DD3-8EB9-FE4F-8135-7C553F521C05}"/>
              </a:ext>
            </a:extLst>
          </p:cNvPr>
          <p:cNvSpPr txBox="1">
            <a:spLocks noGrp="1"/>
          </p:cNvSpPr>
          <p:nvPr>
            <p:ph type="pic" idx="1"/>
          </p:nvPr>
        </p:nvSpPr>
        <p:spPr>
          <a:xfrm>
            <a:off x="4286250" y="815973"/>
            <a:ext cx="5102223" cy="4030666"/>
          </a:xfrm>
        </p:spPr>
        <p:txBody>
          <a:bodyPr/>
          <a:lstStyle>
            <a:lvl1pPr>
              <a:defRPr/>
            </a:lvl1pPr>
          </a:lstStyle>
          <a:p>
            <a:pPr lvl="0"/>
            <a:endParaRPr lang="fr-FR"/>
          </a:p>
        </p:txBody>
      </p:sp>
      <p:sp>
        <p:nvSpPr>
          <p:cNvPr id="4" name="Espace réservé du texte 3">
            <a:extLst>
              <a:ext uri="{FF2B5EF4-FFF2-40B4-BE49-F238E27FC236}">
                <a16:creationId xmlns:a16="http://schemas.microsoft.com/office/drawing/2014/main" id="{8F2DD3F0-3DBB-BE3C-06DE-1FDB03B4C509}"/>
              </a:ext>
            </a:extLst>
          </p:cNvPr>
          <p:cNvSpPr txBox="1">
            <a:spLocks noGrp="1"/>
          </p:cNvSpPr>
          <p:nvPr>
            <p:ph type="body" idx="2"/>
          </p:nvPr>
        </p:nvSpPr>
        <p:spPr>
          <a:xfrm>
            <a:off x="693736" y="1701798"/>
            <a:ext cx="3251204" cy="3151186"/>
          </a:xfrm>
        </p:spPr>
        <p:txBody>
          <a:bodyPr/>
          <a:lstStyle>
            <a:lvl1pPr>
              <a:defRPr sz="1600"/>
            </a:lvl1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7E22AEE-9711-A7E5-C6DB-6AF0F38A01CC}"/>
              </a:ext>
            </a:extLst>
          </p:cNvPr>
          <p:cNvSpPr txBox="1">
            <a:spLocks noGrp="1"/>
          </p:cNvSpPr>
          <p:nvPr>
            <p:ph type="dt" sz="half" idx="7"/>
          </p:nvPr>
        </p:nvSpPr>
        <p:spPr/>
        <p:txBody>
          <a:bodyPr/>
          <a:lstStyle>
            <a:lvl1pPr>
              <a:defRPr/>
            </a:lvl1pPr>
          </a:lstStyle>
          <a:p>
            <a:pPr lvl="0"/>
            <a:endParaRPr lang="fr-FR"/>
          </a:p>
        </p:txBody>
      </p:sp>
      <p:sp>
        <p:nvSpPr>
          <p:cNvPr id="6" name="Espace réservé du pied de page 5">
            <a:extLst>
              <a:ext uri="{FF2B5EF4-FFF2-40B4-BE49-F238E27FC236}">
                <a16:creationId xmlns:a16="http://schemas.microsoft.com/office/drawing/2014/main" id="{E6DCC86D-7CAA-1E77-DE6C-A2951E7F4BA7}"/>
              </a:ext>
            </a:extLst>
          </p:cNvPr>
          <p:cNvSpPr txBox="1">
            <a:spLocks noGrp="1"/>
          </p:cNvSpPr>
          <p:nvPr>
            <p:ph type="ftr" sz="quarter" idx="9"/>
          </p:nvPr>
        </p:nvSpPr>
        <p:spPr/>
        <p:txBody>
          <a:bodyPr/>
          <a:lstStyle>
            <a:lvl1pPr>
              <a:defRPr/>
            </a:lvl1pPr>
          </a:lstStyle>
          <a:p>
            <a:pPr lvl="0"/>
            <a:endParaRPr lang="fr-FR"/>
          </a:p>
        </p:txBody>
      </p:sp>
      <p:sp>
        <p:nvSpPr>
          <p:cNvPr id="7" name="Espace réservé du numéro de diapositive 6">
            <a:extLst>
              <a:ext uri="{FF2B5EF4-FFF2-40B4-BE49-F238E27FC236}">
                <a16:creationId xmlns:a16="http://schemas.microsoft.com/office/drawing/2014/main" id="{D69758CC-AE1A-2C9B-E720-62F0C4C13A5C}"/>
              </a:ext>
            </a:extLst>
          </p:cNvPr>
          <p:cNvSpPr txBox="1">
            <a:spLocks noGrp="1"/>
          </p:cNvSpPr>
          <p:nvPr>
            <p:ph type="sldNum" sz="quarter" idx="8"/>
          </p:nvPr>
        </p:nvSpPr>
        <p:spPr/>
        <p:txBody>
          <a:bodyPr/>
          <a:lstStyle>
            <a:lvl1pPr>
              <a:defRPr/>
            </a:lvl1pPr>
          </a:lstStyle>
          <a:p>
            <a:pPr lvl="0"/>
            <a:fld id="{4E41865E-CD42-254F-95A5-9B5C928F6414}" type="slidenum">
              <a:t>‹N°›</a:t>
            </a:fld>
            <a:endParaRPr lang="fr-FR"/>
          </a:p>
        </p:txBody>
      </p:sp>
    </p:spTree>
    <p:extLst>
      <p:ext uri="{BB962C8B-B14F-4D97-AF65-F5344CB8AC3E}">
        <p14:creationId xmlns:p14="http://schemas.microsoft.com/office/powerpoint/2010/main" val="3374268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98709F-EA1A-4F81-2235-7DB9503265B2}"/>
              </a:ext>
            </a:extLst>
          </p:cNvPr>
          <p:cNvSpPr txBox="1">
            <a:spLocks noGrp="1"/>
          </p:cNvSpPr>
          <p:nvPr>
            <p:ph type="title"/>
          </p:nvPr>
        </p:nvSpPr>
        <p:spPr/>
        <p:txBody>
          <a:bodyPr/>
          <a:lstStyle>
            <a:lvl1pPr>
              <a:defRPr/>
            </a:lvl1pPr>
          </a:lstStyle>
          <a:p>
            <a:pPr lvl="0"/>
            <a:r>
              <a:rPr lang="fr-FR"/>
              <a:t>Modifiez le style du titre</a:t>
            </a:r>
          </a:p>
        </p:txBody>
      </p:sp>
      <p:sp>
        <p:nvSpPr>
          <p:cNvPr id="3" name="Espace réservé du texte vertical 2">
            <a:extLst>
              <a:ext uri="{FF2B5EF4-FFF2-40B4-BE49-F238E27FC236}">
                <a16:creationId xmlns:a16="http://schemas.microsoft.com/office/drawing/2014/main" id="{72E8B926-CA92-ED25-6838-F703D2195EA8}"/>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89C180C-89B5-ACF1-7693-BCE2990E77A1}"/>
              </a:ext>
            </a:extLst>
          </p:cNvPr>
          <p:cNvSpPr txBox="1">
            <a:spLocks noGrp="1"/>
          </p:cNvSpPr>
          <p:nvPr>
            <p:ph type="dt" sz="half" idx="7"/>
          </p:nvPr>
        </p:nvSpPr>
        <p:spPr/>
        <p:txBody>
          <a:bodyPr/>
          <a:lstStyle>
            <a:lvl1pPr>
              <a:defRPr/>
            </a:lvl1pPr>
          </a:lstStyle>
          <a:p>
            <a:pPr lvl="0"/>
            <a:endParaRPr lang="fr-FR"/>
          </a:p>
        </p:txBody>
      </p:sp>
      <p:sp>
        <p:nvSpPr>
          <p:cNvPr id="5" name="Espace réservé du pied de page 4">
            <a:extLst>
              <a:ext uri="{FF2B5EF4-FFF2-40B4-BE49-F238E27FC236}">
                <a16:creationId xmlns:a16="http://schemas.microsoft.com/office/drawing/2014/main" id="{CBC1C719-74CE-BB7D-73BC-8FF6FA6959D7}"/>
              </a:ext>
            </a:extLst>
          </p:cNvPr>
          <p:cNvSpPr txBox="1">
            <a:spLocks noGrp="1"/>
          </p:cNvSpPr>
          <p:nvPr>
            <p:ph type="ftr" sz="quarter" idx="9"/>
          </p:nvPr>
        </p:nvSpPr>
        <p:spPr/>
        <p:txBody>
          <a:bodyPr/>
          <a:lstStyle>
            <a:lvl1pPr>
              <a:defRPr/>
            </a:lvl1pPr>
          </a:lstStyle>
          <a:p>
            <a:pPr lvl="0"/>
            <a:endParaRPr lang="fr-FR"/>
          </a:p>
        </p:txBody>
      </p:sp>
      <p:sp>
        <p:nvSpPr>
          <p:cNvPr id="6" name="Espace réservé du numéro de diapositive 5">
            <a:extLst>
              <a:ext uri="{FF2B5EF4-FFF2-40B4-BE49-F238E27FC236}">
                <a16:creationId xmlns:a16="http://schemas.microsoft.com/office/drawing/2014/main" id="{1207C84B-8604-DB36-6EEE-E47BB43494A3}"/>
              </a:ext>
            </a:extLst>
          </p:cNvPr>
          <p:cNvSpPr txBox="1">
            <a:spLocks noGrp="1"/>
          </p:cNvSpPr>
          <p:nvPr>
            <p:ph type="sldNum" sz="quarter" idx="8"/>
          </p:nvPr>
        </p:nvSpPr>
        <p:spPr/>
        <p:txBody>
          <a:bodyPr/>
          <a:lstStyle>
            <a:lvl1pPr>
              <a:defRPr/>
            </a:lvl1pPr>
          </a:lstStyle>
          <a:p>
            <a:pPr lvl="0"/>
            <a:fld id="{05E184BE-3E76-DE47-A1B2-7C79630E2982}" type="slidenum">
              <a:t>‹N°›</a:t>
            </a:fld>
            <a:endParaRPr lang="fr-FR"/>
          </a:p>
        </p:txBody>
      </p:sp>
    </p:spTree>
    <p:extLst>
      <p:ext uri="{BB962C8B-B14F-4D97-AF65-F5344CB8AC3E}">
        <p14:creationId xmlns:p14="http://schemas.microsoft.com/office/powerpoint/2010/main" val="2127963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A794B1C-7B6A-8BF2-25E7-21E753231C06}"/>
              </a:ext>
            </a:extLst>
          </p:cNvPr>
          <p:cNvSpPr txBox="1">
            <a:spLocks noGrp="1"/>
          </p:cNvSpPr>
          <p:nvPr>
            <p:ph type="title" orient="vert"/>
          </p:nvPr>
        </p:nvSpPr>
        <p:spPr>
          <a:xfrm>
            <a:off x="7308854" y="225427"/>
            <a:ext cx="2266953" cy="4389440"/>
          </a:xfrm>
        </p:spPr>
        <p:txBody>
          <a:bodyPr vert="eaVert"/>
          <a:lstStyle>
            <a:lvl1pPr>
              <a:defRPr/>
            </a:lvl1pPr>
          </a:lstStyle>
          <a:p>
            <a:pPr lvl="0"/>
            <a:r>
              <a:rPr lang="fr-FR"/>
              <a:t>Modifiez le style du titre</a:t>
            </a:r>
          </a:p>
        </p:txBody>
      </p:sp>
      <p:sp>
        <p:nvSpPr>
          <p:cNvPr id="3" name="Espace réservé du texte vertical 2">
            <a:extLst>
              <a:ext uri="{FF2B5EF4-FFF2-40B4-BE49-F238E27FC236}">
                <a16:creationId xmlns:a16="http://schemas.microsoft.com/office/drawing/2014/main" id="{59BD9002-3505-F851-D4D2-8FBF5963782B}"/>
              </a:ext>
            </a:extLst>
          </p:cNvPr>
          <p:cNvSpPr txBox="1">
            <a:spLocks noGrp="1"/>
          </p:cNvSpPr>
          <p:nvPr>
            <p:ph type="body" orient="vert" idx="1"/>
          </p:nvPr>
        </p:nvSpPr>
        <p:spPr>
          <a:xfrm>
            <a:off x="503240" y="225427"/>
            <a:ext cx="6653210" cy="4389440"/>
          </a:xfrm>
        </p:spPr>
        <p:txBody>
          <a:bodyPr vert="eaVert"/>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7BDB1F1-224A-08EC-B122-43D2E1904922}"/>
              </a:ext>
            </a:extLst>
          </p:cNvPr>
          <p:cNvSpPr txBox="1">
            <a:spLocks noGrp="1"/>
          </p:cNvSpPr>
          <p:nvPr>
            <p:ph type="dt" sz="half" idx="7"/>
          </p:nvPr>
        </p:nvSpPr>
        <p:spPr/>
        <p:txBody>
          <a:bodyPr/>
          <a:lstStyle>
            <a:lvl1pPr>
              <a:defRPr/>
            </a:lvl1pPr>
          </a:lstStyle>
          <a:p>
            <a:pPr lvl="0"/>
            <a:endParaRPr lang="fr-FR"/>
          </a:p>
        </p:txBody>
      </p:sp>
      <p:sp>
        <p:nvSpPr>
          <p:cNvPr id="5" name="Espace réservé du pied de page 4">
            <a:extLst>
              <a:ext uri="{FF2B5EF4-FFF2-40B4-BE49-F238E27FC236}">
                <a16:creationId xmlns:a16="http://schemas.microsoft.com/office/drawing/2014/main" id="{569AB281-8FAB-A97F-CAF9-8C593D85D971}"/>
              </a:ext>
            </a:extLst>
          </p:cNvPr>
          <p:cNvSpPr txBox="1">
            <a:spLocks noGrp="1"/>
          </p:cNvSpPr>
          <p:nvPr>
            <p:ph type="ftr" sz="quarter" idx="9"/>
          </p:nvPr>
        </p:nvSpPr>
        <p:spPr/>
        <p:txBody>
          <a:bodyPr/>
          <a:lstStyle>
            <a:lvl1pPr>
              <a:defRPr/>
            </a:lvl1pPr>
          </a:lstStyle>
          <a:p>
            <a:pPr lvl="0"/>
            <a:endParaRPr lang="fr-FR"/>
          </a:p>
        </p:txBody>
      </p:sp>
      <p:sp>
        <p:nvSpPr>
          <p:cNvPr id="6" name="Espace réservé du numéro de diapositive 5">
            <a:extLst>
              <a:ext uri="{FF2B5EF4-FFF2-40B4-BE49-F238E27FC236}">
                <a16:creationId xmlns:a16="http://schemas.microsoft.com/office/drawing/2014/main" id="{47380EBB-79C4-483F-058A-8199BCD0C2EA}"/>
              </a:ext>
            </a:extLst>
          </p:cNvPr>
          <p:cNvSpPr txBox="1">
            <a:spLocks noGrp="1"/>
          </p:cNvSpPr>
          <p:nvPr>
            <p:ph type="sldNum" sz="quarter" idx="8"/>
          </p:nvPr>
        </p:nvSpPr>
        <p:spPr/>
        <p:txBody>
          <a:bodyPr/>
          <a:lstStyle>
            <a:lvl1pPr>
              <a:defRPr/>
            </a:lvl1pPr>
          </a:lstStyle>
          <a:p>
            <a:pPr lvl="0"/>
            <a:fld id="{5DAA99FF-58E8-5849-8EF2-874902460E8A}" type="slidenum">
              <a:t>‹N°›</a:t>
            </a:fld>
            <a:endParaRPr lang="fr-FR"/>
          </a:p>
        </p:txBody>
      </p:sp>
    </p:spTree>
    <p:extLst>
      <p:ext uri="{BB962C8B-B14F-4D97-AF65-F5344CB8AC3E}">
        <p14:creationId xmlns:p14="http://schemas.microsoft.com/office/powerpoint/2010/main" val="732354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3FA995F-3838-D77F-D67C-D4E90F29FD84}"/>
              </a:ext>
            </a:extLst>
          </p:cNvPr>
          <p:cNvSpPr txBox="1">
            <a:spLocks noGrp="1"/>
          </p:cNvSpPr>
          <p:nvPr>
            <p:ph type="title"/>
          </p:nvPr>
        </p:nvSpPr>
        <p:spPr>
          <a:xfrm>
            <a:off x="503998" y="226076"/>
            <a:ext cx="9071643" cy="946440"/>
          </a:xfrm>
          <a:prstGeom prst="rect">
            <a:avLst/>
          </a:prstGeom>
          <a:noFill/>
          <a:ln>
            <a:noFill/>
          </a:ln>
        </p:spPr>
        <p:txBody>
          <a:bodyPr vert="horz" wrap="square" lIns="0" tIns="0" rIns="0" bIns="0" anchor="ctr" anchorCtr="1" compatLnSpc="1">
            <a:noAutofit/>
          </a:bodyPr>
          <a:lstStyle/>
          <a:p>
            <a:pPr lvl="0"/>
            <a:endParaRPr lang="fr-FR"/>
          </a:p>
        </p:txBody>
      </p:sp>
      <p:sp>
        <p:nvSpPr>
          <p:cNvPr id="3" name="Espace réservé du texte 2">
            <a:extLst>
              <a:ext uri="{FF2B5EF4-FFF2-40B4-BE49-F238E27FC236}">
                <a16:creationId xmlns:a16="http://schemas.microsoft.com/office/drawing/2014/main" id="{F8BDA8C6-F7C2-7E3A-A971-D26A99577205}"/>
              </a:ext>
            </a:extLst>
          </p:cNvPr>
          <p:cNvSpPr txBox="1">
            <a:spLocks noGrp="1"/>
          </p:cNvSpPr>
          <p:nvPr>
            <p:ph type="body" idx="1"/>
          </p:nvPr>
        </p:nvSpPr>
        <p:spPr>
          <a:xfrm>
            <a:off x="503998" y="1326602"/>
            <a:ext cx="9071643" cy="3288237"/>
          </a:xfrm>
          <a:prstGeom prst="rect">
            <a:avLst/>
          </a:prstGeom>
          <a:noFill/>
          <a:ln>
            <a:noFill/>
          </a:ln>
        </p:spPr>
        <p:txBody>
          <a:bodyPr vert="horz" wrap="square" lIns="0" tIns="0" rIns="0" bIns="0" anchor="t" anchorCtr="0" compatLnSpc="1">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2E6E2F4-9FA8-62D5-56E8-033C1586C60E}"/>
              </a:ext>
            </a:extLst>
          </p:cNvPr>
          <p:cNvSpPr txBox="1">
            <a:spLocks noGrp="1"/>
          </p:cNvSpPr>
          <p:nvPr>
            <p:ph type="dt" sz="half" idx="2"/>
          </p:nvPr>
        </p:nvSpPr>
        <p:spPr>
          <a:xfrm>
            <a:off x="503998" y="5165281"/>
            <a:ext cx="2348279" cy="39060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fr-FR" sz="1400" b="0" i="0" u="none" strike="noStrike" kern="1200" cap="none" spc="0" baseline="0">
                <a:solidFill>
                  <a:srgbClr val="000000"/>
                </a:solidFill>
                <a:uFillTx/>
                <a:latin typeface="Liberation Serif" pitchFamily="18"/>
                <a:ea typeface="DejaVu Sans" pitchFamily="2"/>
                <a:cs typeface="Noto Sans" pitchFamily="2"/>
              </a:defRPr>
            </a:lvl1pPr>
          </a:lstStyle>
          <a:p>
            <a:pPr lvl="0"/>
            <a:endParaRPr lang="fr-FR"/>
          </a:p>
        </p:txBody>
      </p:sp>
      <p:sp>
        <p:nvSpPr>
          <p:cNvPr id="5" name="Espace réservé du pied de page 4">
            <a:extLst>
              <a:ext uri="{FF2B5EF4-FFF2-40B4-BE49-F238E27FC236}">
                <a16:creationId xmlns:a16="http://schemas.microsoft.com/office/drawing/2014/main" id="{DCEB42F7-E989-9732-3C15-C00234963A57}"/>
              </a:ext>
            </a:extLst>
          </p:cNvPr>
          <p:cNvSpPr txBox="1">
            <a:spLocks noGrp="1"/>
          </p:cNvSpPr>
          <p:nvPr>
            <p:ph type="ftr" sz="quarter" idx="3"/>
          </p:nvPr>
        </p:nvSpPr>
        <p:spPr>
          <a:xfrm>
            <a:off x="3447361" y="5165281"/>
            <a:ext cx="3194995" cy="390604"/>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fr-FR" sz="1400" b="0" i="0" u="none" strike="noStrike" kern="1200" cap="none" spc="0" baseline="0">
                <a:solidFill>
                  <a:srgbClr val="000000"/>
                </a:solidFill>
                <a:uFillTx/>
                <a:latin typeface="Liberation Serif" pitchFamily="18"/>
                <a:ea typeface="DejaVu Sans" pitchFamily="2"/>
                <a:cs typeface="Noto Sans" pitchFamily="2"/>
              </a:defRPr>
            </a:lvl1pPr>
          </a:lstStyle>
          <a:p>
            <a:pPr lvl="0"/>
            <a:endParaRPr lang="fr-FR"/>
          </a:p>
        </p:txBody>
      </p:sp>
      <p:sp>
        <p:nvSpPr>
          <p:cNvPr id="6" name="Espace réservé du numéro de diapositive 5">
            <a:extLst>
              <a:ext uri="{FF2B5EF4-FFF2-40B4-BE49-F238E27FC236}">
                <a16:creationId xmlns:a16="http://schemas.microsoft.com/office/drawing/2014/main" id="{57AF5FCF-7981-082B-7704-72DA3502E893}"/>
              </a:ext>
            </a:extLst>
          </p:cNvPr>
          <p:cNvSpPr txBox="1">
            <a:spLocks noGrp="1"/>
          </p:cNvSpPr>
          <p:nvPr>
            <p:ph type="sldNum" sz="quarter" idx="4"/>
          </p:nvPr>
        </p:nvSpPr>
        <p:spPr>
          <a:xfrm>
            <a:off x="7227362" y="5165281"/>
            <a:ext cx="2348279" cy="390604"/>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fr-FR" sz="1400" b="0" i="0" u="none" strike="noStrike" kern="1200" cap="none" spc="0" baseline="0">
                <a:solidFill>
                  <a:srgbClr val="000000"/>
                </a:solidFill>
                <a:uFillTx/>
                <a:latin typeface="Liberation Serif" pitchFamily="18"/>
                <a:ea typeface="DejaVu Sans" pitchFamily="2"/>
                <a:cs typeface="Noto Sans" pitchFamily="2"/>
              </a:defRPr>
            </a:lvl1pPr>
          </a:lstStyle>
          <a:p>
            <a:pPr lvl="0"/>
            <a:fld id="{A8A27FBF-97FC-5943-ABFE-64982E523C43}" type="slidenum">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ctr" defTabSz="914400" rtl="0" fontAlgn="auto" hangingPunct="0">
        <a:lnSpc>
          <a:spcPct val="100000"/>
        </a:lnSpc>
        <a:spcBef>
          <a:spcPts val="0"/>
        </a:spcBef>
        <a:spcAft>
          <a:spcPts val="0"/>
        </a:spcAft>
        <a:buNone/>
        <a:tabLst/>
        <a:defRPr lang="fr-FR" sz="4400" b="0" i="0" u="none" strike="noStrike" kern="1200" cap="none" spc="0" baseline="0">
          <a:solidFill>
            <a:srgbClr val="000000"/>
          </a:solidFill>
          <a:highlight>
            <a:scrgbClr r="0" g="0" b="0">
              <a:alpha val="0"/>
            </a:scrgbClr>
          </a:highlight>
          <a:uFillTx/>
          <a:latin typeface="Liberation Sans" pitchFamily="18"/>
          <a:cs typeface="Noto Sans" pitchFamily="2"/>
        </a:defRPr>
      </a:lvl1pPr>
    </p:titleStyle>
    <p:bodyStyle>
      <a:lvl1pPr marL="0" marR="0" lvl="0" indent="0" defTabSz="914400" rtl="0" fontAlgn="auto" hangingPunct="0">
        <a:lnSpc>
          <a:spcPct val="100000"/>
        </a:lnSpc>
        <a:spcBef>
          <a:spcPts val="1415"/>
        </a:spcBef>
        <a:spcAft>
          <a:spcPts val="0"/>
        </a:spcAft>
        <a:buNone/>
        <a:tabLst/>
        <a:defRPr lang="fr-FR" sz="3200" b="0" i="0" u="none" strike="noStrike" kern="1200" cap="none" spc="0" baseline="0">
          <a:solidFill>
            <a:srgbClr val="000000"/>
          </a:solidFill>
          <a:highlight>
            <a:scrgbClr r="0" g="0" b="0">
              <a:alpha val="0"/>
            </a:scrgbClr>
          </a:highlight>
          <a:uFillTx/>
          <a:latin typeface="Liberation Sans" pitchFamily="18"/>
          <a:cs typeface="Noto Sans"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fr-FR"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fr-FR"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fr-FR"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fr-FR"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4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4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4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name="Slide36">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F39C1C29-5E55-D3AB-8732-4B1A06989992}"/>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BCB97701-77FF-6E3A-89F7-F6F7B2F8E95F}"/>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E82A189C-C68F-E3F4-EFE5-39E2A368F4DF}"/>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4">
            <a:extLst>
              <a:ext uri="{FF2B5EF4-FFF2-40B4-BE49-F238E27FC236}">
                <a16:creationId xmlns:a16="http://schemas.microsoft.com/office/drawing/2014/main" id="{58518EF8-D73A-D0DF-14D9-84352EB5DD4B}"/>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6" name="ZoneTexte 5">
            <a:extLst>
              <a:ext uri="{FF2B5EF4-FFF2-40B4-BE49-F238E27FC236}">
                <a16:creationId xmlns:a16="http://schemas.microsoft.com/office/drawing/2014/main" id="{B299BC18-8718-D20B-09E0-EC7AE2FDDF47}"/>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7" name="ZoneTexte 6">
            <a:extLst>
              <a:ext uri="{FF2B5EF4-FFF2-40B4-BE49-F238E27FC236}">
                <a16:creationId xmlns:a16="http://schemas.microsoft.com/office/drawing/2014/main" id="{D69B673D-77EB-D9DE-8E3D-613A145E376D}"/>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
        <p:nvSpPr>
          <p:cNvPr id="8" name="ZoneTexte 7">
            <a:extLst>
              <a:ext uri="{FF2B5EF4-FFF2-40B4-BE49-F238E27FC236}">
                <a16:creationId xmlns:a16="http://schemas.microsoft.com/office/drawing/2014/main" id="{D3619A47-67F5-0F31-38C4-EFED74144BCB}"/>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9" name="ZoneTexte 8">
            <a:extLst>
              <a:ext uri="{FF2B5EF4-FFF2-40B4-BE49-F238E27FC236}">
                <a16:creationId xmlns:a16="http://schemas.microsoft.com/office/drawing/2014/main" id="{E43BA6CF-9E67-8D5E-A69E-BF901EF62615}"/>
              </a:ext>
            </a:extLst>
          </p:cNvPr>
          <p:cNvSpPr txBox="1"/>
          <p:nvPr/>
        </p:nvSpPr>
        <p:spPr>
          <a:xfrm>
            <a:off x="170636" y="199083"/>
            <a:ext cx="5229362"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2400" b="0" i="0" u="none" strike="noStrike" kern="0" cap="none" spc="0" baseline="0">
              <a:solidFill>
                <a:srgbClr val="FFFFFF"/>
              </a:solidFill>
              <a:uFillTx/>
              <a:latin typeface="Liberation Sans" pitchFamily="18"/>
              <a:ea typeface="Noto Sans CJK SC" pitchFamily="2"/>
              <a:cs typeface="Noto Sans" pitchFamily="2"/>
            </a:endParaRPr>
          </a:p>
        </p:txBody>
      </p:sp>
      <p:sp>
        <p:nvSpPr>
          <p:cNvPr id="10" name="ZoneTexte 9">
            <a:extLst>
              <a:ext uri="{FF2B5EF4-FFF2-40B4-BE49-F238E27FC236}">
                <a16:creationId xmlns:a16="http://schemas.microsoft.com/office/drawing/2014/main" id="{83160FA2-C400-6AD4-1A58-FA929482D529}"/>
              </a:ext>
            </a:extLst>
          </p:cNvPr>
          <p:cNvSpPr txBox="1"/>
          <p:nvPr/>
        </p:nvSpPr>
        <p:spPr>
          <a:xfrm>
            <a:off x="1457553" y="2104244"/>
            <a:ext cx="7164890" cy="1808006"/>
          </a:xfrm>
          <a:prstGeom prst="rect">
            <a:avLst/>
          </a:prstGeom>
          <a:noFill/>
          <a:ln cap="flat">
            <a:noFill/>
          </a:ln>
        </p:spPr>
        <p:txBody>
          <a:bodyPr vert="horz" wrap="square" lIns="90004" tIns="44997" rIns="90004" bIns="44997" anchor="t" anchorCtr="0" compatLnSpc="0">
            <a:spAutoFit/>
          </a:bodyPr>
          <a:lstStyle/>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000" b="1" i="0" u="none" strike="noStrike" kern="1200" cap="none" spc="0" baseline="0">
                <a:solidFill>
                  <a:srgbClr val="000000"/>
                </a:solidFill>
                <a:uFillTx/>
                <a:latin typeface="Liberation Sans" pitchFamily="18"/>
                <a:ea typeface="Noto Sans CJK SC" pitchFamily="2"/>
                <a:cs typeface="Noto Sans" pitchFamily="2"/>
              </a:rPr>
              <a:t> </a:t>
            </a:r>
            <a:r>
              <a:rPr lang="fr-FR" sz="2000" b="1" i="0" u="none" strike="noStrike" kern="0" cap="none" spc="0" baseline="0">
                <a:solidFill>
                  <a:srgbClr val="000000"/>
                </a:solidFill>
                <a:uFillTx/>
                <a:latin typeface="Liberation Sans" pitchFamily="18"/>
                <a:ea typeface="Noto Sans CJK SC" pitchFamily="2"/>
                <a:cs typeface="Noto Sans" pitchFamily="2"/>
              </a:rPr>
              <a:t>CLAS12 Collaboration</a:t>
            </a:r>
            <a:r>
              <a:rPr lang="fr-FR" sz="2000" b="1" i="0" u="none" strike="noStrike" kern="1200" cap="none" spc="0" baseline="0">
                <a:solidFill>
                  <a:srgbClr val="000000"/>
                </a:solidFill>
                <a:uFillTx/>
                <a:latin typeface="Liberation Sans" pitchFamily="18"/>
                <a:ea typeface="Noto Sans CJK SC" pitchFamily="2"/>
                <a:cs typeface="Noto Sans" pitchFamily="2"/>
              </a:rPr>
              <a:t> Meeting</a:t>
            </a: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2000" b="1" i="0" u="none" strike="noStrike" kern="1200" cap="none" spc="0" baseline="0">
              <a:solidFill>
                <a:srgbClr val="000000"/>
              </a:solidFill>
              <a:uFillTx/>
              <a:latin typeface="Liberation Sans" pitchFamily="18"/>
              <a:ea typeface="Noto Sans CJK SC" pitchFamily="2"/>
              <a:cs typeface="Noto Sans" pitchFamily="2"/>
            </a:endParaRPr>
          </a:p>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0" cap="none" spc="0" baseline="0">
                <a:solidFill>
                  <a:srgbClr val="000000"/>
                </a:solidFill>
                <a:uFillTx/>
                <a:latin typeface="Liberation Sans" pitchFamily="18"/>
                <a:ea typeface="Noto Sans CJK SC" pitchFamily="2"/>
                <a:cs typeface="Noto Sans" pitchFamily="2"/>
              </a:rPr>
              <a:t> </a:t>
            </a:r>
            <a:r>
              <a:rPr lang="fr-FR" sz="2000" b="0" i="0" u="none" strike="noStrike" kern="1200" cap="none" spc="0" baseline="0">
                <a:solidFill>
                  <a:srgbClr val="000000"/>
                </a:solidFill>
                <a:uFillTx/>
                <a:latin typeface="Liberation Sans" pitchFamily="34"/>
                <a:ea typeface="Liberation Sans" pitchFamily="34"/>
                <a:cs typeface="Liberation Sans" pitchFamily="34"/>
              </a:rPr>
              <a:t>ɸ </a:t>
            </a:r>
            <a:r>
              <a:rPr lang="fr-FR" sz="2000" b="0" i="0" u="none" strike="noStrike" kern="0" cap="none" spc="0" baseline="0">
                <a:solidFill>
                  <a:srgbClr val="000000"/>
                </a:solidFill>
                <a:uFillTx/>
                <a:latin typeface="Liberation Sans" pitchFamily="18"/>
                <a:ea typeface="Noto Sans CJK SC" pitchFamily="2"/>
                <a:cs typeface="Noto Sans" pitchFamily="2"/>
              </a:rPr>
              <a:t>electroproduction on the neutron with RGB</a:t>
            </a:r>
          </a:p>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34"/>
              <a:ea typeface="Liberation Sans" pitchFamily="34"/>
              <a:cs typeface="Liberation Sans" pitchFamily="34"/>
            </a:endParaRPr>
          </a:p>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0" cap="none" spc="0" baseline="0">
                <a:solidFill>
                  <a:srgbClr val="000000"/>
                </a:solidFill>
                <a:uFillTx/>
                <a:latin typeface="Liberation Sans" pitchFamily="34"/>
                <a:ea typeface="Liberation Sans" pitchFamily="34"/>
                <a:cs typeface="Liberation Sans" pitchFamily="34"/>
              </a:rPr>
              <a:t>11 March 2026</a:t>
            </a:r>
            <a:endParaRPr lang="fr-FR" sz="1800" b="0" i="0" u="none" strike="noStrike" kern="1200" cap="none" spc="0" baseline="0">
              <a:solidFill>
                <a:srgbClr val="000000"/>
              </a:solidFill>
              <a:uFillTx/>
              <a:latin typeface="Liberation Sans" pitchFamily="34"/>
              <a:ea typeface="Liberation Sans" pitchFamily="34"/>
              <a:cs typeface="Liberation Sans" pitchFamily="34"/>
            </a:endParaRPr>
          </a:p>
          <a:p>
            <a:pPr marL="0" marR="0" lvl="0" indent="0" algn="ctr" defTabSz="914400" rtl="0" fontAlgn="auto" hangingPunct="0">
              <a:lnSpc>
                <a:spcPct val="100000"/>
              </a:lnSpc>
              <a:spcBef>
                <a:spcPts val="1190"/>
              </a:spcBef>
              <a:spcAft>
                <a:spcPts val="99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Liberation Sans" pitchFamily="18"/>
                <a:ea typeface="Noto Sans CJK SC" pitchFamily="2"/>
                <a:cs typeface="Noto Sans" pitchFamily="2"/>
              </a:rPr>
              <a:t>M. Ronayette</a:t>
            </a:r>
            <a:r>
              <a:rPr lang="fr-FR" sz="1400" b="0" i="0" u="none" strike="noStrike" kern="0" cap="none" spc="0" baseline="0">
                <a:solidFill>
                  <a:srgbClr val="000000"/>
                </a:solidFill>
                <a:uFillTx/>
                <a:latin typeface="Liberation Sans" pitchFamily="18"/>
                <a:ea typeface="Noto Sans CJK SC" pitchFamily="2"/>
                <a:cs typeface="Noto Sans" pitchFamily="2"/>
              </a:rPr>
              <a:t>, P. Chatagnon</a:t>
            </a:r>
            <a:endParaRPr lang="fr-FR" sz="1400" b="0" i="0" u="none" strike="noStrike" kern="1200" cap="none" spc="0" baseline="0">
              <a:solidFill>
                <a:srgbClr val="000000"/>
              </a:solidFill>
              <a:uFillTx/>
              <a:latin typeface="Liberation Sans" pitchFamily="18"/>
              <a:ea typeface="Noto Sans CJK SC" pitchFamily="2"/>
              <a:cs typeface="Noto Sans" pitchFamily="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74">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5F061B6D-9E6D-2ACE-056F-181F56BBA65F}"/>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1C871C78-5A96-9C43-AEBE-A251A2B2BE50}"/>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D9BB10EC-A030-8C93-30B9-425710CC379C}"/>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0564531E-AAF0-B3DB-1B3B-CA4A69F77DF6}"/>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576AB27B-B6DA-BBC9-7FFC-02845DCC33DD}"/>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35">
            <a:extLst>
              <a:ext uri="{FF2B5EF4-FFF2-40B4-BE49-F238E27FC236}">
                <a16:creationId xmlns:a16="http://schemas.microsoft.com/office/drawing/2014/main" id="{46E0ACE5-3D5A-AE37-4861-9C3DFFB6C6E3}"/>
              </a:ext>
            </a:extLst>
          </p:cNvPr>
          <p:cNvSpPr txBox="1"/>
          <p:nvPr/>
        </p:nvSpPr>
        <p:spPr>
          <a:xfrm>
            <a:off x="170636" y="199083"/>
            <a:ext cx="5229362"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Summary</a:t>
            </a:r>
          </a:p>
        </p:txBody>
      </p:sp>
      <p:sp>
        <p:nvSpPr>
          <p:cNvPr id="8" name="ZoneTexte 8">
            <a:extLst>
              <a:ext uri="{FF2B5EF4-FFF2-40B4-BE49-F238E27FC236}">
                <a16:creationId xmlns:a16="http://schemas.microsoft.com/office/drawing/2014/main" id="{12E05658-7B5E-E355-FD23-4B66459EA84F}"/>
              </a:ext>
            </a:extLst>
          </p:cNvPr>
          <p:cNvSpPr txBox="1"/>
          <p:nvPr/>
        </p:nvSpPr>
        <p:spPr>
          <a:xfrm>
            <a:off x="313748" y="1193374"/>
            <a:ext cx="6721470" cy="4278093"/>
          </a:xfrm>
          <a:prstGeom prst="rect">
            <a:avLst/>
          </a:prstGeom>
          <a:noFill/>
          <a:ln cap="flat">
            <a:noFill/>
          </a:ln>
        </p:spPr>
        <p:txBody>
          <a:bodyPr vert="horz" wrap="square" lIns="91440" tIns="45720" rIns="91440" bIns="45720" anchor="t" anchorCtr="0" compatLnSpc="1">
            <a:spAutoFit/>
          </a:bodyPr>
          <a:lstStyle/>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fr-FR" sz="2000" b="0" i="0" u="none" strike="noStrike" kern="1200" cap="none" spc="0" baseline="0">
                <a:solidFill>
                  <a:srgbClr val="4472C4"/>
                </a:solidFill>
                <a:uFillTx/>
                <a:latin typeface="Calibri"/>
              </a:rPr>
              <a:t>Motivations</a:t>
            </a: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endParaRPr lang="fr-FR" sz="800" b="0" i="0" u="none" strike="noStrike" kern="1200" cap="none" spc="0" baseline="0">
              <a:solidFill>
                <a:srgbClr val="4472C4"/>
              </a:solidFill>
              <a:uFillTx/>
              <a:latin typeface="Calibri"/>
            </a:endParaRP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fr-FR" sz="2000" b="0" i="0" u="none" strike="noStrike" kern="1200" cap="none" spc="0" baseline="0">
                <a:solidFill>
                  <a:srgbClr val="4472C4"/>
                </a:solidFill>
                <a:uFillTx/>
                <a:latin typeface="Calibri"/>
              </a:rPr>
              <a:t>Events selection</a:t>
            </a: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endParaRPr lang="fr-FR" sz="800" b="0" i="0" u="none" strike="noStrike" kern="1200" cap="none" spc="0" baseline="0">
              <a:solidFill>
                <a:srgbClr val="4472C4"/>
              </a:solidFill>
              <a:uFillTx/>
              <a:latin typeface="Calibri"/>
            </a:endParaRP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fr-FR" sz="2000" b="0" i="0" u="none" strike="noStrike" kern="1200" cap="none" spc="0" baseline="0">
                <a:solidFill>
                  <a:srgbClr val="4472C4"/>
                </a:solidFill>
                <a:uFillTx/>
                <a:latin typeface="Calibri"/>
              </a:rPr>
              <a:t>Generator for MC simulation</a:t>
            </a: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endParaRPr lang="fr-FR" sz="800" b="0" i="0" u="none" strike="noStrike" kern="1200" cap="none" spc="0" baseline="0">
              <a:solidFill>
                <a:srgbClr val="4472C4"/>
              </a:solidFill>
              <a:uFillTx/>
              <a:latin typeface="Calibri"/>
            </a:endParaRP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fr-FR" sz="2000" b="0" i="0" u="none" strike="noStrike" kern="1200" cap="none" spc="0" baseline="0">
                <a:solidFill>
                  <a:srgbClr val="4472C4"/>
                </a:solidFill>
                <a:uFillTx/>
                <a:latin typeface="Calibri"/>
              </a:rPr>
              <a:t>Effect of differents cuts </a:t>
            </a: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endParaRPr lang="fr-FR" sz="800" b="0" i="0" u="none" strike="noStrike" kern="1200" cap="none" spc="0" baseline="0">
              <a:solidFill>
                <a:srgbClr val="4472C4"/>
              </a:solidFill>
              <a:uFillTx/>
              <a:latin typeface="Calibri"/>
            </a:endParaRP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fr-FR" sz="2000" b="0" i="0" u="none" strike="noStrike" kern="0" cap="none" spc="0" baseline="0">
                <a:solidFill>
                  <a:srgbClr val="4472C4"/>
                </a:solidFill>
                <a:uFillTx/>
                <a:latin typeface="Calibri"/>
              </a:rPr>
              <a:t>Y</a:t>
            </a:r>
            <a:r>
              <a:rPr lang="fr-FR" sz="2000" b="0" i="0" u="none" strike="noStrike" kern="1200" cap="none" spc="0" baseline="0">
                <a:solidFill>
                  <a:srgbClr val="4472C4"/>
                </a:solidFill>
                <a:uFillTx/>
                <a:latin typeface="Calibri"/>
              </a:rPr>
              <a:t>ield extraction</a:t>
            </a: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endParaRPr lang="fr-FR" sz="800" b="0" i="0" u="none" strike="noStrike" kern="1200" cap="none" spc="0" baseline="0">
              <a:solidFill>
                <a:srgbClr val="4472C4"/>
              </a:solidFill>
              <a:uFillTx/>
              <a:latin typeface="Calibri"/>
            </a:endParaRP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fr-FR" sz="2000" b="0" i="0" u="none" strike="noStrike" kern="1200" cap="none" spc="0" baseline="0">
                <a:solidFill>
                  <a:srgbClr val="4472C4"/>
                </a:solidFill>
                <a:uFillTx/>
                <a:latin typeface="Calibri"/>
              </a:rPr>
              <a:t>Neutron Efficiency correction</a:t>
            </a: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endParaRPr lang="fr-FR" sz="800" b="0" i="0" u="none" strike="noStrike" kern="1200" cap="none" spc="0" baseline="0">
              <a:solidFill>
                <a:srgbClr val="4472C4"/>
              </a:solidFill>
              <a:uFillTx/>
              <a:latin typeface="Calibri"/>
            </a:endParaRP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fr-FR" sz="2000" b="0" i="0" u="none" strike="noStrike" kern="1200" cap="none" spc="0" baseline="0">
                <a:solidFill>
                  <a:srgbClr val="4472C4"/>
                </a:solidFill>
                <a:uFillTx/>
                <a:latin typeface="Calibri"/>
              </a:rPr>
              <a:t>Acceptance correction</a:t>
            </a: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endParaRPr lang="fr-FR" sz="800" b="0" i="0" u="none" strike="noStrike" kern="1200" cap="none" spc="0" baseline="0">
              <a:solidFill>
                <a:srgbClr val="4472C4"/>
              </a:solidFill>
              <a:uFillTx/>
              <a:latin typeface="Calibri"/>
            </a:endParaRP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fr-FR" sz="2000" b="0" i="0" u="none" strike="noStrike" kern="1200" cap="none" spc="0" baseline="0">
                <a:solidFill>
                  <a:srgbClr val="4472C4"/>
                </a:solidFill>
                <a:uFillTx/>
                <a:latin typeface="Calibri"/>
              </a:rPr>
              <a:t>Binning correction</a:t>
            </a: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endParaRPr lang="fr-FR" sz="800" b="0" i="0" u="none" strike="noStrike" kern="1200" cap="none" spc="0" baseline="0">
              <a:solidFill>
                <a:srgbClr val="4472C4"/>
              </a:solidFill>
              <a:uFillTx/>
              <a:latin typeface="Calibri"/>
            </a:endParaRPr>
          </a:p>
          <a:p>
            <a:pPr marL="342900" marR="0" lvl="0" indent="-342900" algn="l" defTabSz="91440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fr-FR" sz="2000" b="0" i="0" u="none" strike="noStrike" kern="1200" cap="none" spc="0" baseline="0">
                <a:solidFill>
                  <a:srgbClr val="4472C4"/>
                </a:solidFill>
                <a:uFillTx/>
                <a:latin typeface="Calibri"/>
              </a:rPr>
              <a:t>Preliminary plot of differential cross section  </a:t>
            </a:r>
          </a:p>
          <a:p>
            <a:pPr marL="285750" marR="0" lvl="0"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fr-FR" sz="1400" b="0" i="0" u="none" strike="noStrike" kern="1200" cap="none" spc="0" baseline="0">
              <a:solidFill>
                <a:srgbClr val="000000"/>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400" b="0" i="0" u="none" strike="noStrike" kern="1200" cap="none" spc="0" baseline="0">
              <a:solidFill>
                <a:srgbClr val="000000"/>
              </a:solidFill>
              <a:uFillTx/>
              <a:latin typeface="Calibri"/>
            </a:endParaRPr>
          </a:p>
        </p:txBody>
      </p:sp>
      <p:sp>
        <p:nvSpPr>
          <p:cNvPr id="9" name="ZoneTexte 14">
            <a:extLst>
              <a:ext uri="{FF2B5EF4-FFF2-40B4-BE49-F238E27FC236}">
                <a16:creationId xmlns:a16="http://schemas.microsoft.com/office/drawing/2014/main" id="{1E3DF065-BFEA-FD43-FE8C-15AEBCA24B83}"/>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0" name="ZoneTexte 16">
            <a:extLst>
              <a:ext uri="{FF2B5EF4-FFF2-40B4-BE49-F238E27FC236}">
                <a16:creationId xmlns:a16="http://schemas.microsoft.com/office/drawing/2014/main" id="{0538B077-FCF4-3ED0-0C1D-08E723A4448A}"/>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59">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5BD55E0C-DD72-BECE-1900-DF25F1B5FC39}"/>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E8E8C681-758B-61F7-F976-A3E345D0E360}"/>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BD4C96F5-FFA5-1701-6D11-9EF8E1B727EF}"/>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40E3228B-1511-977A-077A-A443EC2298C9}"/>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E260627A-0AB5-0C4E-CC02-BAFFFBAAC140}"/>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3/20</a:t>
            </a:r>
            <a:endParaRPr lang="fr-FR" sz="1200" b="0" i="0" u="none" strike="noStrike" kern="1200" cap="none" spc="0" baseline="0">
              <a:solidFill>
                <a:srgbClr val="FFFFFF"/>
              </a:solidFill>
              <a:uFillTx/>
              <a:latin typeface="Liberation Sans" pitchFamily="18"/>
              <a:ea typeface="Noto Sans CJK SC" pitchFamily="2"/>
              <a:cs typeface="Noto Sans" pitchFamily="2"/>
            </a:endParaRPr>
          </a:p>
        </p:txBody>
      </p:sp>
      <p:sp>
        <p:nvSpPr>
          <p:cNvPr id="7" name="ZoneTexte 9">
            <a:extLst>
              <a:ext uri="{FF2B5EF4-FFF2-40B4-BE49-F238E27FC236}">
                <a16:creationId xmlns:a16="http://schemas.microsoft.com/office/drawing/2014/main" id="{909C23D6-8645-0B82-829D-4E60DB644F07}"/>
              </a:ext>
            </a:extLst>
          </p:cNvPr>
          <p:cNvSpPr txBox="1"/>
          <p:nvPr/>
        </p:nvSpPr>
        <p:spPr>
          <a:xfrm>
            <a:off x="237003" y="1098541"/>
            <a:ext cx="5358557" cy="1450028"/>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000" b="1" i="0" u="none" strike="noStrike" kern="1200" cap="none" spc="0" baseline="0">
                <a:solidFill>
                  <a:srgbClr val="000000"/>
                </a:solidFill>
                <a:uFillTx/>
                <a:latin typeface="Calibri"/>
                <a:ea typeface="Noto Sans CJK SC" pitchFamily="2"/>
                <a:cs typeface="Noto Sans" pitchFamily="2"/>
              </a:rPr>
              <a:t>Analysis objective :</a:t>
            </a: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2000" b="1" i="0" u="none" strike="noStrike" kern="1200" cap="none" spc="0" baseline="0">
              <a:solidFill>
                <a:srgbClr val="000000"/>
              </a:solidFill>
              <a:uFillTx/>
              <a:latin typeface="Liberation Sans" pitchFamily="18"/>
              <a:ea typeface="Noto Sans CJK SC" pitchFamily="2"/>
              <a:cs typeface="Noto Sans" pitchFamily="2"/>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0" cap="none" spc="0" baseline="0">
                <a:solidFill>
                  <a:srgbClr val="000000"/>
                </a:solidFill>
                <a:uFillTx/>
                <a:latin typeface="Calibri"/>
                <a:ea typeface="Noto Sans CJK SC" pitchFamily="2"/>
                <a:cs typeface="Noto Sans" pitchFamily="2"/>
              </a:rPr>
              <a:t>-</a:t>
            </a:r>
            <a:r>
              <a:rPr lang="fr-FR" sz="1600" b="0" i="0" u="none" strike="noStrike" kern="1200" cap="none" spc="0" baseline="0">
                <a:solidFill>
                  <a:srgbClr val="000000"/>
                </a:solidFill>
                <a:uFillTx/>
                <a:latin typeface="Calibri"/>
                <a:ea typeface="Noto Sans CJK SC" pitchFamily="2"/>
                <a:cs typeface="Noto Sans" pitchFamily="2"/>
              </a:rPr>
              <a:t> Measurement of the cross section and differential cross section of the electroproduction of </a:t>
            </a:r>
            <a:r>
              <a:rPr lang="fr-FR" sz="1600" b="0" i="0" u="none" strike="noStrike" kern="1200" cap="none" spc="0" baseline="0">
                <a:solidFill>
                  <a:srgbClr val="000000"/>
                </a:solidFill>
                <a:uFillTx/>
                <a:latin typeface="Calibri"/>
                <a:ea typeface="Liberation Sans" pitchFamily="34"/>
                <a:cs typeface="Liberation Sans" pitchFamily="34"/>
              </a:rPr>
              <a:t>ɸ in the </a:t>
            </a:r>
            <a:r>
              <a:rPr lang="fr-FR" sz="1600" b="1" i="0" u="none" strike="noStrike" kern="1200" cap="none" spc="0" baseline="0">
                <a:solidFill>
                  <a:srgbClr val="000000"/>
                </a:solidFill>
                <a:uFillTx/>
                <a:latin typeface="Calibri"/>
                <a:ea typeface="Liberation Sans" pitchFamily="34"/>
                <a:cs typeface="Liberation Sans" pitchFamily="34"/>
              </a:rPr>
              <a:t>K</a:t>
            </a:r>
            <a:r>
              <a:rPr lang="fr-FR" sz="1600" b="1" i="0" u="none" strike="noStrike" kern="1200" cap="none" spc="0" baseline="30000">
                <a:solidFill>
                  <a:srgbClr val="000000"/>
                </a:solidFill>
                <a:uFillTx/>
                <a:latin typeface="Calibri"/>
                <a:ea typeface="Liberation Sans" pitchFamily="34"/>
                <a:cs typeface="Liberation Sans" pitchFamily="34"/>
              </a:rPr>
              <a:t>+</a:t>
            </a:r>
            <a:r>
              <a:rPr lang="fr-FR" sz="1600" b="1" i="0" u="none" strike="noStrike" kern="1200" cap="none" spc="0" baseline="0">
                <a:solidFill>
                  <a:srgbClr val="000000"/>
                </a:solidFill>
                <a:uFillTx/>
                <a:latin typeface="Calibri"/>
                <a:ea typeface="Liberation Sans" pitchFamily="34"/>
                <a:cs typeface="Liberation Sans" pitchFamily="34"/>
              </a:rPr>
              <a:t> K</a:t>
            </a:r>
            <a:r>
              <a:rPr lang="fr-FR" sz="1600" b="1" i="0" u="none" strike="noStrike" kern="0" cap="none" spc="0" baseline="30000">
                <a:solidFill>
                  <a:srgbClr val="000000"/>
                </a:solidFill>
                <a:uFillTx/>
                <a:latin typeface="Calibri"/>
                <a:ea typeface="Liberation Sans" pitchFamily="34"/>
                <a:cs typeface="Liberation Sans" pitchFamily="34"/>
              </a:rPr>
              <a:t>-</a:t>
            </a:r>
            <a:r>
              <a:rPr lang="fr-FR" sz="1600" b="1" i="0" u="none" strike="noStrike" kern="1200" cap="none" spc="0" baseline="-25000">
                <a:solidFill>
                  <a:srgbClr val="000000"/>
                </a:solidFill>
                <a:uFillTx/>
                <a:latin typeface="Calibri"/>
                <a:ea typeface="Liberation Sans" pitchFamily="34"/>
                <a:cs typeface="Liberation Sans" pitchFamily="34"/>
              </a:rPr>
              <a:t> </a:t>
            </a:r>
            <a:r>
              <a:rPr lang="fr-FR" sz="1600" b="1" i="0" u="none" strike="noStrike" kern="1200" cap="none" spc="0" baseline="0">
                <a:solidFill>
                  <a:srgbClr val="000000"/>
                </a:solidFill>
                <a:uFillTx/>
                <a:latin typeface="Calibri"/>
                <a:ea typeface="Liberation Sans" pitchFamily="34"/>
                <a:cs typeface="Liberation Sans" pitchFamily="34"/>
              </a:rPr>
              <a:t>channel </a:t>
            </a:r>
            <a:r>
              <a:rPr lang="fr-FR" sz="1600" b="0" i="0" u="none" strike="noStrike" kern="0" cap="none" spc="0" baseline="0">
                <a:solidFill>
                  <a:srgbClr val="000000"/>
                </a:solidFill>
                <a:uFillTx/>
                <a:latin typeface="Calibri"/>
                <a:ea typeface="Liberation Sans" pitchFamily="34"/>
                <a:cs typeface="Liberation Sans" pitchFamily="34"/>
              </a:rPr>
              <a:t>with</a:t>
            </a:r>
            <a:r>
              <a:rPr lang="fr-FR" sz="1600" b="0" i="0" u="none" strike="noStrike" kern="1200" cap="none" spc="0" baseline="0">
                <a:solidFill>
                  <a:srgbClr val="000000"/>
                </a:solidFill>
                <a:uFillTx/>
                <a:latin typeface="Calibri"/>
                <a:ea typeface="Liberation Sans" pitchFamily="34"/>
                <a:cs typeface="Liberation Sans" pitchFamily="34"/>
              </a:rPr>
              <a:t> </a:t>
            </a:r>
            <a:r>
              <a:rPr lang="fr-FR" sz="1600" b="1" i="0" u="none" strike="noStrike" kern="0" cap="none" spc="0" baseline="0">
                <a:solidFill>
                  <a:srgbClr val="000000"/>
                </a:solidFill>
                <a:uFillTx/>
                <a:latin typeface="Calibri"/>
                <a:ea typeface="Liberation Sans" pitchFamily="34"/>
                <a:cs typeface="Liberation Sans" pitchFamily="34"/>
              </a:rPr>
              <a:t>RG</a:t>
            </a:r>
            <a:r>
              <a:rPr lang="fr-FR" sz="1600" b="1" i="0" u="none" strike="noStrike" kern="1200" cap="none" spc="0" baseline="0">
                <a:solidFill>
                  <a:srgbClr val="000000"/>
                </a:solidFill>
                <a:uFillTx/>
                <a:latin typeface="Calibri"/>
                <a:ea typeface="Liberation Sans" pitchFamily="34"/>
                <a:cs typeface="Liberation Sans" pitchFamily="34"/>
              </a:rPr>
              <a:t>B </a:t>
            </a:r>
            <a:r>
              <a:rPr lang="fr-FR" sz="1600" b="0" i="0" u="none" strike="noStrike" kern="1200" cap="none" spc="0" baseline="0">
                <a:solidFill>
                  <a:srgbClr val="000000"/>
                </a:solidFill>
                <a:uFillTx/>
                <a:latin typeface="Calibri"/>
                <a:ea typeface="Liberation Sans" pitchFamily="34"/>
                <a:cs typeface="Liberation Sans" pitchFamily="34"/>
              </a:rPr>
              <a:t>data (</a:t>
            </a:r>
            <a:r>
              <a:rPr lang="fr-FR" sz="1600" b="1" i="0" u="none" strike="noStrike" kern="1200" cap="none" spc="0" baseline="0">
                <a:solidFill>
                  <a:srgbClr val="000000"/>
                </a:solidFill>
                <a:uFillTx/>
                <a:latin typeface="Calibri"/>
                <a:ea typeface="Liberation Sans" pitchFamily="34"/>
                <a:cs typeface="Liberation Sans" pitchFamily="34"/>
              </a:rPr>
              <a:t>deuterium</a:t>
            </a:r>
            <a:r>
              <a:rPr lang="fr-FR" sz="1600" b="0" i="0" u="none" strike="noStrike" kern="1200" cap="none" spc="0" baseline="0">
                <a:solidFill>
                  <a:srgbClr val="000000"/>
                </a:solidFill>
                <a:uFillTx/>
                <a:latin typeface="Calibri"/>
                <a:ea typeface="Liberation Sans" pitchFamily="34"/>
                <a:cs typeface="Liberation Sans" pitchFamily="34"/>
              </a:rPr>
              <a:t> target). </a:t>
            </a:r>
            <a:r>
              <a:rPr lang="fr-FR" sz="1600" b="0" i="0" u="none" strike="noStrike" kern="0" cap="none" spc="0" baseline="0">
                <a:solidFill>
                  <a:srgbClr val="000000"/>
                </a:solidFill>
                <a:uFillTx/>
                <a:latin typeface="Calibri"/>
                <a:ea typeface="Liberation Sans" pitchFamily="34"/>
                <a:cs typeface="Liberation Sans" pitchFamily="34"/>
              </a:rPr>
              <a:t> </a:t>
            </a:r>
            <a:endParaRPr lang="fr-FR" sz="1600" b="1" i="0" u="none" strike="noStrike" kern="1200" cap="none" spc="0" baseline="0">
              <a:solidFill>
                <a:srgbClr val="000000"/>
              </a:solidFill>
              <a:uFillTx/>
              <a:latin typeface="Calibri"/>
              <a:ea typeface="Liberation Sans" pitchFamily="34"/>
              <a:cs typeface="Liberation Sans" pitchFamily="34"/>
            </a:endParaRPr>
          </a:p>
        </p:txBody>
      </p:sp>
      <p:sp>
        <p:nvSpPr>
          <p:cNvPr id="8" name="ZoneTexte 32">
            <a:extLst>
              <a:ext uri="{FF2B5EF4-FFF2-40B4-BE49-F238E27FC236}">
                <a16:creationId xmlns:a16="http://schemas.microsoft.com/office/drawing/2014/main" id="{9CD30E40-9005-1EAB-17B2-4C831F69E966}"/>
              </a:ext>
            </a:extLst>
          </p:cNvPr>
          <p:cNvSpPr txBox="1"/>
          <p:nvPr/>
        </p:nvSpPr>
        <p:spPr>
          <a:xfrm>
            <a:off x="220361" y="3058585"/>
            <a:ext cx="2419484"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0" cap="none" spc="0" baseline="0">
                <a:solidFill>
                  <a:srgbClr val="000000"/>
                </a:solidFill>
                <a:uFillTx/>
                <a:latin typeface="Calibri"/>
                <a:ea typeface="Liberation Sans" pitchFamily="34"/>
                <a:cs typeface="Liberation Sans" pitchFamily="34"/>
              </a:rPr>
              <a:t> </a:t>
            </a:r>
            <a:r>
              <a:rPr lang="fr-FR" sz="1600" b="0" i="0" u="none" strike="noStrike" kern="0" cap="none" spc="0" baseline="0">
                <a:solidFill>
                  <a:srgbClr val="000000"/>
                </a:solidFill>
                <a:uFillTx/>
                <a:latin typeface="Calibri"/>
                <a:ea typeface="Liberation Sans" pitchFamily="34"/>
                <a:cs typeface="Liberation Sans" pitchFamily="34"/>
              </a:rPr>
              <a:t>e </a:t>
            </a:r>
            <a:r>
              <a:rPr lang="fr-FR" sz="1600" b="1" i="0" u="none" strike="noStrike" kern="0" cap="none" spc="0" baseline="0">
                <a:solidFill>
                  <a:srgbClr val="000000"/>
                </a:solidFill>
                <a:uFillTx/>
                <a:latin typeface="Calibri"/>
                <a:ea typeface="Liberation Sans" pitchFamily="34"/>
                <a:cs typeface="Liberation Sans" pitchFamily="34"/>
              </a:rPr>
              <a:t>n</a:t>
            </a:r>
            <a:r>
              <a:rPr lang="fr-FR" sz="1600" b="0" i="0" u="none" strike="noStrike" kern="0" cap="none" spc="0" baseline="0">
                <a:solidFill>
                  <a:srgbClr val="000000"/>
                </a:solidFill>
                <a:uFillTx/>
                <a:latin typeface="Calibri"/>
                <a:ea typeface="Liberation Sans" pitchFamily="34"/>
                <a:cs typeface="Liberation Sans" pitchFamily="34"/>
              </a:rPr>
              <a:t> → e </a:t>
            </a:r>
            <a:r>
              <a:rPr lang="fr-FR" sz="1600" b="1" i="0" u="none" strike="noStrike" kern="0" cap="none" spc="0" baseline="0">
                <a:solidFill>
                  <a:srgbClr val="000000"/>
                </a:solidFill>
                <a:uFillTx/>
                <a:latin typeface="Calibri"/>
                <a:ea typeface="Liberation Sans" pitchFamily="34"/>
                <a:cs typeface="Liberation Sans" pitchFamily="34"/>
              </a:rPr>
              <a:t>n’</a:t>
            </a:r>
            <a:r>
              <a:rPr lang="fr-FR" sz="1600" b="0" i="0" u="none" strike="noStrike" kern="0" cap="none" spc="0" baseline="0">
                <a:solidFill>
                  <a:srgbClr val="000000"/>
                </a:solidFill>
                <a:uFillTx/>
                <a:latin typeface="Calibri"/>
                <a:ea typeface="Liberation Sans" pitchFamily="34"/>
                <a:cs typeface="Liberation Sans" pitchFamily="34"/>
              </a:rPr>
              <a:t> K</a:t>
            </a:r>
            <a:r>
              <a:rPr lang="fr-FR" sz="1600" b="0" i="0" u="none" strike="noStrike" kern="0" cap="none" spc="0" baseline="30000">
                <a:solidFill>
                  <a:srgbClr val="000000"/>
                </a:solidFill>
                <a:uFillTx/>
                <a:latin typeface="Calibri"/>
                <a:ea typeface="Liberation Sans" pitchFamily="34"/>
                <a:cs typeface="Liberation Sans" pitchFamily="34"/>
              </a:rPr>
              <a:t>+</a:t>
            </a:r>
            <a:r>
              <a:rPr lang="fr-FR" sz="1600" b="0" i="0" u="none" strike="noStrike" kern="0" cap="none" spc="0" baseline="0">
                <a:solidFill>
                  <a:srgbClr val="000000"/>
                </a:solidFill>
                <a:uFillTx/>
                <a:latin typeface="Calibri"/>
                <a:ea typeface="Liberation Sans" pitchFamily="34"/>
                <a:cs typeface="Liberation Sans" pitchFamily="34"/>
              </a:rPr>
              <a:t> K</a:t>
            </a:r>
            <a:r>
              <a:rPr lang="fr-FR" sz="1600" b="0" i="0" u="none" strike="noStrike" kern="0" cap="none" spc="0" baseline="30000">
                <a:solidFill>
                  <a:srgbClr val="000000"/>
                </a:solidFill>
                <a:uFillTx/>
                <a:latin typeface="Calibri"/>
                <a:ea typeface="Liberation Sans" pitchFamily="34"/>
                <a:cs typeface="Liberation Sans" pitchFamily="34"/>
              </a:rPr>
              <a:t>-</a:t>
            </a:r>
            <a:r>
              <a:rPr lang="fr-FR" sz="1600" b="0" i="0" u="none" strike="noStrike" kern="0" cap="none" spc="0" baseline="0">
                <a:solidFill>
                  <a:srgbClr val="000000"/>
                </a:solidFill>
                <a:uFillTx/>
                <a:latin typeface="Calibri"/>
                <a:ea typeface="Liberation Sans" pitchFamily="34"/>
                <a:cs typeface="Liberation Sans" pitchFamily="34"/>
              </a:rPr>
              <a:t> </a:t>
            </a:r>
            <a:endParaRPr lang="fr-FR" sz="1600" b="0" i="0" u="none" strike="noStrike" kern="1200" cap="none" spc="0" baseline="0">
              <a:solidFill>
                <a:srgbClr val="000000"/>
              </a:solidFill>
              <a:uFillTx/>
              <a:latin typeface="Calibri"/>
            </a:endParaRPr>
          </a:p>
        </p:txBody>
      </p:sp>
      <p:sp>
        <p:nvSpPr>
          <p:cNvPr id="9" name="ZoneTexte 20">
            <a:extLst>
              <a:ext uri="{FF2B5EF4-FFF2-40B4-BE49-F238E27FC236}">
                <a16:creationId xmlns:a16="http://schemas.microsoft.com/office/drawing/2014/main" id="{5C247A5E-84CD-8374-8160-61C983FA2562}"/>
              </a:ext>
            </a:extLst>
          </p:cNvPr>
          <p:cNvSpPr txBox="1"/>
          <p:nvPr/>
        </p:nvSpPr>
        <p:spPr>
          <a:xfrm>
            <a:off x="2160004" y="3084764"/>
            <a:ext cx="3435556"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0" cap="none" spc="0" baseline="0">
                <a:solidFill>
                  <a:srgbClr val="000000"/>
                </a:solidFill>
                <a:uFillTx/>
                <a:latin typeface="Calibri"/>
              </a:rPr>
              <a:t> Acess to the gluon GPD of the neutron</a:t>
            </a:r>
            <a:endParaRPr lang="fr-FR" sz="1600" b="1" i="0" u="none" strike="noStrike" kern="1200" cap="none" spc="0" baseline="0">
              <a:solidFill>
                <a:srgbClr val="4472C4"/>
              </a:solidFill>
              <a:uFillTx/>
              <a:latin typeface="Calibri"/>
            </a:endParaRPr>
          </a:p>
        </p:txBody>
      </p:sp>
      <p:sp>
        <p:nvSpPr>
          <p:cNvPr id="10" name="ZoneTexte 39">
            <a:extLst>
              <a:ext uri="{FF2B5EF4-FFF2-40B4-BE49-F238E27FC236}">
                <a16:creationId xmlns:a16="http://schemas.microsoft.com/office/drawing/2014/main" id="{1F12F8E6-BFC5-8C76-583A-F8831A31CDD8}"/>
              </a:ext>
            </a:extLst>
          </p:cNvPr>
          <p:cNvSpPr txBox="1"/>
          <p:nvPr/>
        </p:nvSpPr>
        <p:spPr>
          <a:xfrm>
            <a:off x="1746129" y="3065489"/>
            <a:ext cx="36807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0" cap="none" spc="0" baseline="0">
                <a:solidFill>
                  <a:srgbClr val="000000"/>
                </a:solidFill>
                <a:uFillTx/>
                <a:latin typeface="Liberation Sans" pitchFamily="34"/>
                <a:ea typeface="Liberation Sans" pitchFamily="34"/>
                <a:cs typeface="Liberation Sans" pitchFamily="34"/>
              </a:rPr>
              <a:t>→</a:t>
            </a:r>
            <a:endParaRPr lang="fr-FR" sz="1800" b="1" i="0" u="none" strike="noStrike" kern="1200" cap="none" spc="0" baseline="0">
              <a:solidFill>
                <a:srgbClr val="000000"/>
              </a:solidFill>
              <a:uFillTx/>
              <a:latin typeface="Calibri"/>
            </a:endParaRPr>
          </a:p>
        </p:txBody>
      </p:sp>
      <p:sp>
        <p:nvSpPr>
          <p:cNvPr id="11" name="ZoneTexte 35">
            <a:extLst>
              <a:ext uri="{FF2B5EF4-FFF2-40B4-BE49-F238E27FC236}">
                <a16:creationId xmlns:a16="http://schemas.microsoft.com/office/drawing/2014/main" id="{9D01B1F3-1837-4F96-FADD-8528A2FEFC72}"/>
              </a:ext>
            </a:extLst>
          </p:cNvPr>
          <p:cNvSpPr txBox="1"/>
          <p:nvPr/>
        </p:nvSpPr>
        <p:spPr>
          <a:xfrm>
            <a:off x="170636" y="199083"/>
            <a:ext cx="5229362"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Introduction</a:t>
            </a:r>
          </a:p>
        </p:txBody>
      </p:sp>
      <p:sp>
        <p:nvSpPr>
          <p:cNvPr id="12" name="ZoneTexte 36">
            <a:extLst>
              <a:ext uri="{FF2B5EF4-FFF2-40B4-BE49-F238E27FC236}">
                <a16:creationId xmlns:a16="http://schemas.microsoft.com/office/drawing/2014/main" id="{2C904902-B3DA-248C-9A7C-FC65C063DDB0}"/>
              </a:ext>
            </a:extLst>
          </p:cNvPr>
          <p:cNvSpPr txBox="1"/>
          <p:nvPr/>
        </p:nvSpPr>
        <p:spPr>
          <a:xfrm>
            <a:off x="220361" y="3948845"/>
            <a:ext cx="5612532" cy="83099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 We expect that cross section measurement to be similar to that of proton. We will compare with proton bound target (RGB) and with the work on free proton target (Bhawani’s work on RGA).</a:t>
            </a:r>
          </a:p>
        </p:txBody>
      </p:sp>
      <p:pic>
        <p:nvPicPr>
          <p:cNvPr id="13" name="Image 38">
            <a:extLst>
              <a:ext uri="{FF2B5EF4-FFF2-40B4-BE49-F238E27FC236}">
                <a16:creationId xmlns:a16="http://schemas.microsoft.com/office/drawing/2014/main" id="{FD503CCB-6229-6015-8D0B-9D3F5FAD6918}"/>
              </a:ext>
            </a:extLst>
          </p:cNvPr>
          <p:cNvPicPr>
            <a:picLocks noChangeAspect="1"/>
          </p:cNvPicPr>
          <p:nvPr/>
        </p:nvPicPr>
        <p:blipFill>
          <a:blip r:embed="rId3"/>
          <a:stretch>
            <a:fillRect/>
          </a:stretch>
        </p:blipFill>
        <p:spPr>
          <a:xfrm>
            <a:off x="5956858" y="1154338"/>
            <a:ext cx="3926278" cy="2755617"/>
          </a:xfrm>
          <a:prstGeom prst="rect">
            <a:avLst/>
          </a:prstGeom>
          <a:noFill/>
          <a:ln cap="flat">
            <a:noFill/>
          </a:ln>
        </p:spPr>
      </p:pic>
      <p:sp>
        <p:nvSpPr>
          <p:cNvPr id="14" name="ZoneTexte 39">
            <a:extLst>
              <a:ext uri="{FF2B5EF4-FFF2-40B4-BE49-F238E27FC236}">
                <a16:creationId xmlns:a16="http://schemas.microsoft.com/office/drawing/2014/main" id="{E6D99242-9E15-814E-AF52-C42E2B82C7A5}"/>
              </a:ext>
            </a:extLst>
          </p:cNvPr>
          <p:cNvSpPr txBox="1"/>
          <p:nvPr/>
        </p:nvSpPr>
        <p:spPr>
          <a:xfrm>
            <a:off x="6652342" y="4099218"/>
            <a:ext cx="2853796" cy="523219"/>
          </a:xfrm>
          <a:prstGeom prst="rect">
            <a:avLst/>
          </a:prstGeom>
          <a:noFill/>
          <a:ln cap="flat">
            <a:noFill/>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Calibri"/>
              </a:rPr>
              <a:t>Change of t–dependence with Q2 </a:t>
            </a:r>
            <a:r>
              <a:rPr lang="fr-FR" sz="1400" b="1" i="0" u="none" strike="noStrike" kern="0" cap="none" spc="0" baseline="0">
                <a:solidFill>
                  <a:srgbClr val="000000"/>
                </a:solidFill>
                <a:uFillTx/>
                <a:latin typeface="Liberation Sans" pitchFamily="34"/>
                <a:ea typeface="Liberation Sans" pitchFamily="34"/>
                <a:cs typeface="Liberation Sans" pitchFamily="34"/>
              </a:rPr>
              <a:t>→</a:t>
            </a:r>
            <a:endParaRPr lang="fr-FR" sz="14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Calibri"/>
              </a:rPr>
              <a:t> gluonic radius of the neutron</a:t>
            </a:r>
          </a:p>
        </p:txBody>
      </p:sp>
      <p:sp>
        <p:nvSpPr>
          <p:cNvPr id="15" name="ZoneTexte 16">
            <a:extLst>
              <a:ext uri="{FF2B5EF4-FFF2-40B4-BE49-F238E27FC236}">
                <a16:creationId xmlns:a16="http://schemas.microsoft.com/office/drawing/2014/main" id="{05D3A614-E10C-FA11-3F21-37D917CBE3BC}"/>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6" name="ZoneTexte 17">
            <a:extLst>
              <a:ext uri="{FF2B5EF4-FFF2-40B4-BE49-F238E27FC236}">
                <a16:creationId xmlns:a16="http://schemas.microsoft.com/office/drawing/2014/main" id="{6B31DB88-6EDA-A213-7F59-142D12349BBE}"/>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
        <p:nvSpPr>
          <p:cNvPr id="17" name="Rectangle 18">
            <a:extLst>
              <a:ext uri="{FF2B5EF4-FFF2-40B4-BE49-F238E27FC236}">
                <a16:creationId xmlns:a16="http://schemas.microsoft.com/office/drawing/2014/main" id="{82917369-D47F-D07B-5E24-5C40D2895999}"/>
              </a:ext>
            </a:extLst>
          </p:cNvPr>
          <p:cNvSpPr/>
          <p:nvPr/>
        </p:nvSpPr>
        <p:spPr>
          <a:xfrm>
            <a:off x="6062133" y="3423321"/>
            <a:ext cx="1007531" cy="525523"/>
          </a:xfrm>
          <a:prstGeom prst="rect">
            <a:avLst/>
          </a:prstGeom>
          <a:solidFill>
            <a:srgbClr val="FFFFFF"/>
          </a:solidFill>
          <a:ln w="12701" cap="flat">
            <a:solidFill>
              <a:srgbClr val="FFFFF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38">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C97FF84D-F7E1-1D0F-11D8-83D7AFCC43E3}"/>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C08CD57B-9B62-3622-F53D-0B763FCBB13C}"/>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5C726669-4479-C244-46C7-A1BCAF7646A3}"/>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E06067E8-72DC-390C-70B2-32FC54997806}"/>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FA6538ED-4CA6-6904-A1F4-3563178CCDD6}"/>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4</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6496CE23-BC1D-0825-2D91-706079848497}"/>
              </a:ext>
            </a:extLst>
          </p:cNvPr>
          <p:cNvSpPr txBox="1"/>
          <p:nvPr/>
        </p:nvSpPr>
        <p:spPr>
          <a:xfrm>
            <a:off x="170636" y="199083"/>
            <a:ext cx="5229362"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Events selection</a:t>
            </a:r>
          </a:p>
        </p:txBody>
      </p:sp>
      <p:sp>
        <p:nvSpPr>
          <p:cNvPr id="8" name="ZoneTexte 33">
            <a:extLst>
              <a:ext uri="{FF2B5EF4-FFF2-40B4-BE49-F238E27FC236}">
                <a16:creationId xmlns:a16="http://schemas.microsoft.com/office/drawing/2014/main" id="{85FCB6C5-E09A-E0EF-D80F-482B65F6F821}"/>
              </a:ext>
            </a:extLst>
          </p:cNvPr>
          <p:cNvSpPr txBox="1"/>
          <p:nvPr/>
        </p:nvSpPr>
        <p:spPr>
          <a:xfrm>
            <a:off x="352693" y="2062429"/>
            <a:ext cx="9727304" cy="3139318"/>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1200" cap="none" spc="0" baseline="0">
                <a:solidFill>
                  <a:srgbClr val="000000"/>
                </a:solidFill>
                <a:uFillTx/>
                <a:latin typeface="Calibri" pitchFamily="34"/>
                <a:ea typeface="Liberation Sans" pitchFamily="34"/>
                <a:cs typeface="Calibri" pitchFamily="34"/>
              </a:rPr>
              <a:t>Events selection :</a:t>
            </a: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000" b="0" i="0" u="none" strike="noStrike" kern="1200" cap="none" spc="0" baseline="0">
              <a:solidFill>
                <a:srgbClr val="000000"/>
              </a:solidFill>
              <a:uFillTx/>
              <a:latin typeface="Calibri" pitchFamily="34"/>
              <a:ea typeface="Liberation Sans" pitchFamily="34"/>
              <a:cs typeface="Calibri"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400" b="1" i="0" u="none" strike="noStrike" kern="0" cap="none" spc="0" baseline="0">
              <a:solidFill>
                <a:srgbClr val="000000"/>
              </a:solidFill>
              <a:uFillTx/>
              <a:latin typeface="Liberation Sans" pitchFamily="34"/>
              <a:ea typeface="Liberation Sans" pitchFamily="34"/>
              <a:cs typeface="Liberation Sans"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800" b="0" i="0" u="none" strike="noStrike" kern="0" cap="none" spc="0" baseline="0">
              <a:solidFill>
                <a:srgbClr val="000000"/>
              </a:solidFill>
              <a:uFillTx/>
              <a:latin typeface="Calibri" pitchFamily="34"/>
              <a:ea typeface="Liberation Sans" pitchFamily="34"/>
              <a:cs typeface="Calibri"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800" b="1" i="0" u="none" strike="noStrike" kern="0" cap="none" spc="0" baseline="0">
              <a:solidFill>
                <a:srgbClr val="000000"/>
              </a:solidFill>
              <a:uFillTx/>
              <a:latin typeface="Calibri" pitchFamily="34"/>
              <a:ea typeface="Liberation Sans" pitchFamily="34"/>
              <a:cs typeface="Calibri"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800" b="1" i="0" u="none" strike="noStrike" kern="0" cap="none" spc="0" baseline="0">
              <a:solidFill>
                <a:srgbClr val="000000"/>
              </a:solidFill>
              <a:uFillTx/>
              <a:latin typeface="Calibri" pitchFamily="34"/>
              <a:ea typeface="Liberation Sans" pitchFamily="34"/>
              <a:cs typeface="Calibri"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800" b="1" i="0" u="none" strike="noStrike" kern="0" cap="none" spc="0" baseline="0">
              <a:solidFill>
                <a:srgbClr val="000000"/>
              </a:solidFill>
              <a:uFillTx/>
              <a:latin typeface="Calibri" pitchFamily="34"/>
              <a:ea typeface="Liberation Sans" pitchFamily="34"/>
              <a:cs typeface="Calibri"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400" b="1" i="0" u="none" strike="noStrike" kern="0" cap="none" spc="0" baseline="0">
              <a:solidFill>
                <a:srgbClr val="000000"/>
              </a:solidFill>
              <a:uFillTx/>
              <a:latin typeface="Liberation Sans" pitchFamily="34"/>
              <a:ea typeface="Liberation Sans" pitchFamily="34"/>
              <a:cs typeface="Liberation Sans"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400" b="1" i="0" u="none" strike="noStrike" kern="0" cap="none" spc="0" baseline="0">
              <a:solidFill>
                <a:srgbClr val="000000"/>
              </a:solidFill>
              <a:uFillTx/>
              <a:latin typeface="Liberation Sans" pitchFamily="34"/>
              <a:ea typeface="Liberation Sans" pitchFamily="34"/>
              <a:cs typeface="Liberation Sans"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600" b="0" i="0" u="none" strike="noStrike" kern="0" cap="none" spc="0" baseline="0">
              <a:solidFill>
                <a:srgbClr val="4472C4"/>
              </a:solidFill>
              <a:uFillTx/>
              <a:latin typeface="Calibri" pitchFamily="34"/>
              <a:cs typeface="Calibri"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0" cap="none" spc="0" baseline="0">
                <a:solidFill>
                  <a:srgbClr val="000000"/>
                </a:solidFill>
                <a:uFillTx/>
                <a:latin typeface="Calibri" pitchFamily="34"/>
                <a:ea typeface="Liberation Sans" pitchFamily="34"/>
                <a:cs typeface="Calibri" pitchFamily="34"/>
              </a:rPr>
              <a:t>Cuts :</a:t>
            </a: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800" b="0" i="0" u="none" strike="noStrike" kern="0" cap="none" spc="0" baseline="0">
              <a:solidFill>
                <a:srgbClr val="4472C4"/>
              </a:solidFill>
              <a:uFillTx/>
              <a:latin typeface="Calibri" pitchFamily="34"/>
              <a:cs typeface="Calibri"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400" b="1" i="0" u="none" strike="noStrike" kern="0" cap="none" spc="0" baseline="0">
                <a:solidFill>
                  <a:srgbClr val="000000"/>
                </a:solidFill>
                <a:uFillTx/>
                <a:latin typeface="Liberation Sans" pitchFamily="34"/>
                <a:ea typeface="Liberation Sans" pitchFamily="34"/>
                <a:cs typeface="Liberation Sans" pitchFamily="34"/>
              </a:rPr>
              <a:t>→</a:t>
            </a:r>
            <a:r>
              <a:rPr lang="fr-FR" sz="1400" b="1" i="0" u="none" strike="noStrike" kern="0" cap="none" spc="0" baseline="0">
                <a:solidFill>
                  <a:srgbClr val="000000"/>
                </a:solidFill>
                <a:uFillTx/>
                <a:latin typeface="Calibri" pitchFamily="34"/>
                <a:ea typeface="Liberation Sans" pitchFamily="34"/>
                <a:cs typeface="Calibri" pitchFamily="34"/>
              </a:rPr>
              <a:t> </a:t>
            </a:r>
            <a:r>
              <a:rPr lang="fr-FR" sz="1400" b="0" i="0" u="none" strike="noStrike" kern="0" cap="none" spc="0" baseline="0">
                <a:solidFill>
                  <a:srgbClr val="000000"/>
                </a:solidFill>
                <a:uFillTx/>
                <a:latin typeface="Calibri" pitchFamily="34"/>
                <a:ea typeface="Noto Sans CJK SC" pitchFamily="2"/>
                <a:cs typeface="Calibri" pitchFamily="34"/>
              </a:rPr>
              <a:t>Cut on the </a:t>
            </a:r>
            <a:r>
              <a:rPr lang="fr-FR" sz="1400" b="0" i="0" u="none" strike="noStrike" kern="0" cap="none" spc="0" baseline="0">
                <a:solidFill>
                  <a:srgbClr val="4472C4"/>
                </a:solidFill>
                <a:uFillTx/>
                <a:latin typeface="Calibri" pitchFamily="34"/>
                <a:ea typeface="Noto Sans CJK SC" pitchFamily="2"/>
                <a:cs typeface="Calibri" pitchFamily="34"/>
              </a:rPr>
              <a:t>angle</a:t>
            </a:r>
            <a:r>
              <a:rPr lang="fr-FR" sz="1400" b="0" i="0" u="none" strike="noStrike" kern="0" cap="none" spc="0" baseline="0">
                <a:solidFill>
                  <a:srgbClr val="000000"/>
                </a:solidFill>
                <a:uFillTx/>
                <a:latin typeface="Calibri" pitchFamily="34"/>
                <a:ea typeface="Noto Sans CJK SC" pitchFamily="2"/>
                <a:cs typeface="Calibri" pitchFamily="34"/>
              </a:rPr>
              <a:t> between the </a:t>
            </a:r>
            <a:r>
              <a:rPr lang="fr-FR" sz="1400" b="0" i="0" u="none" strike="noStrike" kern="0" cap="none" spc="0" baseline="0">
                <a:solidFill>
                  <a:srgbClr val="4472C4"/>
                </a:solidFill>
                <a:uFillTx/>
                <a:latin typeface="Calibri" pitchFamily="34"/>
                <a:ea typeface="Noto Sans CJK SC" pitchFamily="2"/>
                <a:cs typeface="Calibri" pitchFamily="34"/>
              </a:rPr>
              <a:t>missing nucleon</a:t>
            </a:r>
            <a:r>
              <a:rPr lang="fr-FR" sz="1400" b="0" i="0" u="none" strike="noStrike" kern="0" cap="none" spc="0" baseline="0">
                <a:solidFill>
                  <a:srgbClr val="000000"/>
                </a:solidFill>
                <a:uFillTx/>
                <a:latin typeface="Calibri" pitchFamily="34"/>
                <a:ea typeface="Noto Sans CJK SC" pitchFamily="2"/>
                <a:cs typeface="Calibri" pitchFamily="34"/>
              </a:rPr>
              <a:t> and the </a:t>
            </a:r>
            <a:r>
              <a:rPr lang="fr-FR" sz="1400" b="0" i="0" u="none" strike="noStrike" kern="0" cap="none" spc="0" baseline="0">
                <a:solidFill>
                  <a:srgbClr val="4472C4"/>
                </a:solidFill>
                <a:uFillTx/>
                <a:latin typeface="Calibri" pitchFamily="34"/>
                <a:ea typeface="Noto Sans CJK SC" pitchFamily="2"/>
                <a:cs typeface="Calibri" pitchFamily="34"/>
              </a:rPr>
              <a:t>neutron </a:t>
            </a: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800" b="0" i="0" u="none" strike="noStrike" kern="0" cap="none" spc="0" baseline="0">
              <a:solidFill>
                <a:srgbClr val="5B9BD5"/>
              </a:solidFill>
              <a:uFillTx/>
              <a:latin typeface="Calibri" pitchFamily="34"/>
              <a:cs typeface="Calibri"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400" b="1" i="0" u="none" strike="noStrike" kern="0" cap="none" spc="0" baseline="0">
                <a:solidFill>
                  <a:srgbClr val="000000"/>
                </a:solidFill>
                <a:uFillTx/>
                <a:latin typeface="Liberation Sans" pitchFamily="34"/>
                <a:ea typeface="Liberation Sans" pitchFamily="34"/>
                <a:cs typeface="Liberation Sans" pitchFamily="34"/>
              </a:rPr>
              <a:t>→ </a:t>
            </a:r>
            <a:r>
              <a:rPr lang="fr-FR" sz="1400" b="0" i="0" u="none" strike="noStrike" kern="0" cap="none" spc="0" baseline="0">
                <a:solidFill>
                  <a:srgbClr val="000000"/>
                </a:solidFill>
                <a:uFillTx/>
                <a:latin typeface="Calibri" pitchFamily="34"/>
                <a:ea typeface="Liberation Sans" pitchFamily="34"/>
                <a:cs typeface="Calibri" pitchFamily="34"/>
              </a:rPr>
              <a:t>Cut on –0.5  &lt; </a:t>
            </a:r>
            <a:r>
              <a:rPr lang="fr-FR" sz="1400" b="0" i="0" u="none" strike="noStrike" kern="0" cap="none" spc="0" baseline="0">
                <a:solidFill>
                  <a:srgbClr val="4472C4"/>
                </a:solidFill>
                <a:uFillTx/>
                <a:latin typeface="Calibri" pitchFamily="34"/>
                <a:ea typeface="Liberation Serif" pitchFamily="18"/>
                <a:cs typeface="Calibri" pitchFamily="34"/>
              </a:rPr>
              <a:t>MissingMass</a:t>
            </a:r>
            <a:r>
              <a:rPr lang="fr-FR" sz="1400" b="0" i="0" u="none" strike="noStrike" kern="0" cap="none" spc="0" baseline="-25000">
                <a:solidFill>
                  <a:srgbClr val="4472C4"/>
                </a:solidFill>
                <a:uFillTx/>
                <a:latin typeface="Calibri" pitchFamily="34"/>
                <a:ea typeface="Liberation Serif" pitchFamily="18"/>
                <a:cs typeface="Calibri" pitchFamily="34"/>
              </a:rPr>
              <a:t>tot </a:t>
            </a:r>
            <a:r>
              <a:rPr lang="fr-FR" sz="1400" b="0" i="0" u="none" strike="noStrike" kern="0" cap="none" spc="0" baseline="30000">
                <a:solidFill>
                  <a:srgbClr val="4472C4"/>
                </a:solidFill>
                <a:uFillTx/>
                <a:latin typeface="Calibri" pitchFamily="34"/>
                <a:ea typeface="Liberation Serif" pitchFamily="18"/>
                <a:cs typeface="Calibri" pitchFamily="34"/>
              </a:rPr>
              <a:t>2</a:t>
            </a:r>
            <a:r>
              <a:rPr lang="fr-FR" sz="1400" b="0" i="0" u="none" strike="noStrike" kern="0" cap="none" spc="0" baseline="-25000">
                <a:solidFill>
                  <a:srgbClr val="4472C4"/>
                </a:solidFill>
                <a:uFillTx/>
                <a:latin typeface="Calibri" pitchFamily="34"/>
                <a:ea typeface="Liberation Serif" pitchFamily="18"/>
                <a:cs typeface="Calibri" pitchFamily="34"/>
              </a:rPr>
              <a:t>  </a:t>
            </a:r>
            <a:r>
              <a:rPr lang="fr-FR" sz="1400" b="0" i="0" u="none" strike="noStrike" kern="0" cap="none" spc="0" baseline="0">
                <a:solidFill>
                  <a:srgbClr val="000000"/>
                </a:solidFill>
                <a:uFillTx/>
                <a:latin typeface="Calibri" pitchFamily="34"/>
                <a:ea typeface="Liberation Serif" pitchFamily="18"/>
                <a:cs typeface="Calibri" pitchFamily="34"/>
              </a:rPr>
              <a:t>&lt; 0.5 GeV </a:t>
            </a:r>
            <a:r>
              <a:rPr lang="fr-FR" sz="1400" b="0" i="0" u="none" strike="noStrike" kern="0" cap="none" spc="0" baseline="30000">
                <a:solidFill>
                  <a:srgbClr val="000000"/>
                </a:solidFill>
                <a:uFillTx/>
                <a:latin typeface="Calibri" pitchFamily="34"/>
                <a:ea typeface="Liberation Serif" pitchFamily="18"/>
                <a:cs typeface="Calibri" pitchFamily="34"/>
              </a:rPr>
              <a:t>2</a:t>
            </a: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800" b="0" i="0" u="none" strike="noStrike" kern="1200" cap="none" spc="0" baseline="0">
              <a:solidFill>
                <a:srgbClr val="4472C4"/>
              </a:solidFill>
              <a:uFillTx/>
              <a:latin typeface="Calibri" pitchFamily="34"/>
              <a:ea typeface="Noto Sans CJK SC" pitchFamily="2"/>
              <a:cs typeface="Calibri" pitchFamily="34"/>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400" b="1" i="0" u="none" strike="noStrike" kern="0" cap="none" spc="0" baseline="0">
                <a:solidFill>
                  <a:srgbClr val="000000"/>
                </a:solidFill>
                <a:uFillTx/>
                <a:latin typeface="Liberation Sans" pitchFamily="34"/>
                <a:ea typeface="Liberation Sans" pitchFamily="34"/>
                <a:cs typeface="Liberation Sans" pitchFamily="34"/>
              </a:rPr>
              <a:t>→</a:t>
            </a:r>
            <a:r>
              <a:rPr lang="fr-FR" sz="1400" b="1" i="0" u="none" strike="noStrike" kern="1200" cap="none" spc="0" baseline="0">
                <a:solidFill>
                  <a:srgbClr val="000000"/>
                </a:solidFill>
                <a:uFillTx/>
                <a:latin typeface="Calibri" pitchFamily="34"/>
                <a:ea typeface="Liberation Sans" pitchFamily="34"/>
                <a:cs typeface="Calibri" pitchFamily="34"/>
              </a:rPr>
              <a:t> </a:t>
            </a:r>
            <a:r>
              <a:rPr lang="fr-FR" sz="1400" b="0" i="0" u="none" strike="noStrike" kern="1200" cap="none" spc="0" baseline="0">
                <a:solidFill>
                  <a:srgbClr val="000000"/>
                </a:solidFill>
                <a:uFillTx/>
                <a:latin typeface="Calibri" pitchFamily="34"/>
                <a:ea typeface="Noto Sans CJK SC" pitchFamily="2"/>
                <a:cs typeface="Calibri" pitchFamily="34"/>
              </a:rPr>
              <a:t>Cut </a:t>
            </a:r>
            <a:r>
              <a:rPr lang="fr-FR" sz="1400" b="0" i="0" u="none" strike="noStrike" kern="0" cap="none" spc="0" baseline="0">
                <a:solidFill>
                  <a:srgbClr val="000000"/>
                </a:solidFill>
                <a:uFillTx/>
                <a:latin typeface="Calibri" pitchFamily="34"/>
                <a:ea typeface="Noto Sans CJK SC" pitchFamily="2"/>
                <a:cs typeface="Calibri" pitchFamily="34"/>
              </a:rPr>
              <a:t>on status of </a:t>
            </a:r>
            <a:r>
              <a:rPr lang="fr-FR" sz="1400" b="0" i="0" u="none" strike="noStrike" kern="0" cap="none" spc="0" baseline="0">
                <a:solidFill>
                  <a:srgbClr val="4472C4"/>
                </a:solidFill>
                <a:uFillTx/>
                <a:latin typeface="Calibri" pitchFamily="34"/>
                <a:ea typeface="Noto Sans CJK SC" pitchFamily="2"/>
                <a:cs typeface="Calibri" pitchFamily="34"/>
              </a:rPr>
              <a:t>K</a:t>
            </a:r>
            <a:r>
              <a:rPr lang="fr-FR" sz="1400" b="0" i="0" u="none" strike="noStrike" kern="0" cap="none" spc="0" baseline="30000">
                <a:solidFill>
                  <a:srgbClr val="4472C4"/>
                </a:solidFill>
                <a:uFillTx/>
                <a:latin typeface="Calibri" pitchFamily="34"/>
                <a:ea typeface="Noto Sans CJK SC" pitchFamily="2"/>
                <a:cs typeface="Calibri" pitchFamily="34"/>
              </a:rPr>
              <a:t>+ </a:t>
            </a:r>
            <a:r>
              <a:rPr lang="fr-FR" sz="1400" b="0" i="0" u="none" strike="noStrike" kern="0" cap="none" spc="0" baseline="0">
                <a:solidFill>
                  <a:srgbClr val="000000"/>
                </a:solidFill>
                <a:uFillTx/>
                <a:latin typeface="Calibri" pitchFamily="34"/>
                <a:ea typeface="Noto Sans CJK SC" pitchFamily="2"/>
                <a:cs typeface="Calibri" pitchFamily="34"/>
              </a:rPr>
              <a:t>and</a:t>
            </a:r>
            <a:r>
              <a:rPr lang="fr-FR" sz="1400" b="0" i="0" u="none" strike="noStrike" kern="0" cap="none" spc="0" baseline="0">
                <a:solidFill>
                  <a:srgbClr val="4472C4"/>
                </a:solidFill>
                <a:uFillTx/>
                <a:latin typeface="Calibri" pitchFamily="34"/>
                <a:ea typeface="Noto Sans CJK SC" pitchFamily="2"/>
                <a:cs typeface="Calibri" pitchFamily="34"/>
              </a:rPr>
              <a:t> K</a:t>
            </a:r>
            <a:r>
              <a:rPr lang="fr-FR" sz="1400" b="0" i="0" u="none" strike="noStrike" kern="0" cap="none" spc="0" baseline="30000">
                <a:solidFill>
                  <a:srgbClr val="4472C4"/>
                </a:solidFill>
                <a:uFillTx/>
                <a:latin typeface="Calibri" pitchFamily="34"/>
                <a:ea typeface="Noto Sans CJK SC" pitchFamily="2"/>
                <a:cs typeface="Calibri" pitchFamily="34"/>
              </a:rPr>
              <a:t>- </a:t>
            </a:r>
            <a:r>
              <a:rPr lang="fr-FR" sz="1400" b="0" i="0" u="none" strike="noStrike" kern="0" cap="none" spc="0" baseline="0">
                <a:solidFill>
                  <a:srgbClr val="4472C4"/>
                </a:solidFill>
                <a:uFillTx/>
                <a:latin typeface="Calibri" pitchFamily="34"/>
                <a:ea typeface="Noto Sans CJK SC" pitchFamily="2"/>
                <a:cs typeface="Calibri" pitchFamily="34"/>
              </a:rPr>
              <a:t> </a:t>
            </a:r>
            <a:r>
              <a:rPr lang="fr-FR" sz="1400" b="0" i="0" u="none" strike="noStrike" kern="0" cap="none" spc="0" baseline="0">
                <a:solidFill>
                  <a:srgbClr val="000000"/>
                </a:solidFill>
                <a:uFillTx/>
                <a:latin typeface="Calibri" pitchFamily="34"/>
                <a:ea typeface="Noto Sans CJK SC" pitchFamily="2"/>
                <a:cs typeface="Calibri" pitchFamily="34"/>
              </a:rPr>
              <a:t>(keep event with both kaons in FD)</a:t>
            </a:r>
            <a:endParaRPr lang="fr-FR" sz="1400" b="0" i="0" u="none" strike="noStrike" kern="1200" cap="none" spc="0" baseline="0">
              <a:solidFill>
                <a:srgbClr val="000000"/>
              </a:solidFill>
              <a:uFillTx/>
              <a:latin typeface="Liberation Sans" pitchFamily="34"/>
              <a:ea typeface="Liberation Serif" pitchFamily="18"/>
              <a:cs typeface="Liberation Serif" pitchFamily="18"/>
            </a:endParaRPr>
          </a:p>
        </p:txBody>
      </p:sp>
      <p:sp>
        <p:nvSpPr>
          <p:cNvPr id="9" name="ZoneTexte 20">
            <a:extLst>
              <a:ext uri="{FF2B5EF4-FFF2-40B4-BE49-F238E27FC236}">
                <a16:creationId xmlns:a16="http://schemas.microsoft.com/office/drawing/2014/main" id="{7F008419-0B22-FC44-B5C0-211F2A5AD803}"/>
              </a:ext>
            </a:extLst>
          </p:cNvPr>
          <p:cNvSpPr txBox="1"/>
          <p:nvPr/>
        </p:nvSpPr>
        <p:spPr>
          <a:xfrm>
            <a:off x="6065416" y="1138638"/>
            <a:ext cx="3848115" cy="692493"/>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1200" cap="none" spc="0" baseline="0">
                <a:solidFill>
                  <a:srgbClr val="000000"/>
                </a:solidFill>
                <a:uFillTx/>
                <a:latin typeface="Calibri"/>
              </a:rPr>
              <a:t>Datas :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900" b="1" i="0" u="none" strike="noStrike" kern="1200" cap="none" spc="0" baseline="0">
              <a:solidFill>
                <a:srgbClr val="000000"/>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0" cap="none" spc="0" baseline="0">
                <a:solidFill>
                  <a:srgbClr val="000000"/>
                </a:solidFill>
                <a:uFillTx/>
                <a:latin typeface="Calibri"/>
              </a:rPr>
              <a:t>sidisdvcs </a:t>
            </a:r>
            <a:r>
              <a:rPr lang="fr-FR" sz="1400" b="1" i="0" u="none" strike="noStrike" kern="1200" cap="none" spc="0" baseline="0">
                <a:solidFill>
                  <a:srgbClr val="4472C4"/>
                </a:solidFill>
                <a:uFillTx/>
                <a:latin typeface="Calibri"/>
              </a:rPr>
              <a:t>RG-B outbending fall 2019 </a:t>
            </a:r>
          </a:p>
        </p:txBody>
      </p:sp>
      <p:sp>
        <p:nvSpPr>
          <p:cNvPr id="10" name="ZoneTexte 14">
            <a:extLst>
              <a:ext uri="{FF2B5EF4-FFF2-40B4-BE49-F238E27FC236}">
                <a16:creationId xmlns:a16="http://schemas.microsoft.com/office/drawing/2014/main" id="{05A45B5B-0FDF-D2FC-DDD6-36C370809E0D}"/>
              </a:ext>
            </a:extLst>
          </p:cNvPr>
          <p:cNvSpPr txBox="1"/>
          <p:nvPr/>
        </p:nvSpPr>
        <p:spPr>
          <a:xfrm>
            <a:off x="352693" y="1534710"/>
            <a:ext cx="5042778"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0" cap="none" spc="0" baseline="0">
                <a:solidFill>
                  <a:srgbClr val="000000"/>
                </a:solidFill>
                <a:uFillTx/>
                <a:latin typeface="Liberation Sans" pitchFamily="34"/>
                <a:ea typeface="Liberation Sans" pitchFamily="34"/>
                <a:cs typeface="Liberation Sans" pitchFamily="34"/>
              </a:rPr>
              <a:t>e </a:t>
            </a:r>
            <a:r>
              <a:rPr lang="fr-FR" sz="1400" b="1" i="0" u="none" strike="noStrike" kern="0" cap="none" spc="0" baseline="0">
                <a:solidFill>
                  <a:srgbClr val="4472C4"/>
                </a:solidFill>
                <a:uFillTx/>
                <a:latin typeface="Liberation Sans" pitchFamily="34"/>
                <a:ea typeface="Liberation Sans" pitchFamily="34"/>
                <a:cs typeface="Liberation Sans" pitchFamily="34"/>
              </a:rPr>
              <a:t>n</a:t>
            </a:r>
            <a:r>
              <a:rPr lang="fr-FR" sz="1400" b="0" i="0" u="none" strike="noStrike" kern="0" cap="none" spc="0" baseline="0">
                <a:solidFill>
                  <a:srgbClr val="000000"/>
                </a:solidFill>
                <a:uFillTx/>
                <a:latin typeface="Liberation Sans" pitchFamily="34"/>
                <a:ea typeface="Liberation Sans" pitchFamily="34"/>
                <a:cs typeface="Liberation Sans" pitchFamily="34"/>
              </a:rPr>
              <a:t> → e </a:t>
            </a:r>
            <a:r>
              <a:rPr lang="fr-FR" sz="1400" b="1" i="0" u="none" strike="noStrike" kern="0" cap="none" spc="0" baseline="0">
                <a:solidFill>
                  <a:srgbClr val="4472C4"/>
                </a:solidFill>
                <a:uFillTx/>
                <a:latin typeface="Liberation Sans" pitchFamily="34"/>
                <a:ea typeface="Liberation Sans" pitchFamily="34"/>
                <a:cs typeface="Liberation Sans" pitchFamily="34"/>
              </a:rPr>
              <a:t>n’</a:t>
            </a:r>
            <a:r>
              <a:rPr lang="fr-FR" sz="1400" b="0" i="0" u="none" strike="noStrike" kern="0" cap="none" spc="0" baseline="0">
                <a:solidFill>
                  <a:srgbClr val="000000"/>
                </a:solidFill>
                <a:uFillTx/>
                <a:latin typeface="Liberation Sans" pitchFamily="34"/>
                <a:ea typeface="Liberation Sans" pitchFamily="34"/>
                <a:cs typeface="Liberation Sans" pitchFamily="34"/>
              </a:rPr>
              <a:t> K</a:t>
            </a:r>
            <a:r>
              <a:rPr lang="fr-FR" sz="1400" b="0" i="0" u="none" strike="noStrike" kern="0" cap="none" spc="0" baseline="30000">
                <a:solidFill>
                  <a:srgbClr val="000000"/>
                </a:solidFill>
                <a:uFillTx/>
                <a:latin typeface="Liberation Sans" pitchFamily="34"/>
                <a:ea typeface="Liberation Sans" pitchFamily="34"/>
                <a:cs typeface="Liberation Sans" pitchFamily="34"/>
              </a:rPr>
              <a:t>+</a:t>
            </a:r>
            <a:r>
              <a:rPr lang="fr-FR" sz="1400" b="0" i="0" u="none" strike="noStrike" kern="0" cap="none" spc="0" baseline="0">
                <a:solidFill>
                  <a:srgbClr val="000000"/>
                </a:solidFill>
                <a:uFillTx/>
                <a:latin typeface="Liberation Sans" pitchFamily="34"/>
                <a:ea typeface="Liberation Sans" pitchFamily="34"/>
                <a:cs typeface="Liberation Sans" pitchFamily="34"/>
              </a:rPr>
              <a:t> K</a:t>
            </a:r>
            <a:r>
              <a:rPr lang="fr-FR" sz="1400" b="0" i="0" u="none" strike="noStrike" kern="0" cap="none" spc="0" baseline="30000">
                <a:solidFill>
                  <a:srgbClr val="000000"/>
                </a:solidFill>
                <a:uFillTx/>
                <a:latin typeface="Liberation Sans" pitchFamily="34"/>
                <a:ea typeface="Liberation Sans" pitchFamily="34"/>
                <a:cs typeface="Liberation Sans" pitchFamily="34"/>
              </a:rPr>
              <a:t>-</a:t>
            </a:r>
            <a:r>
              <a:rPr lang="fr-FR" sz="1400" b="0" i="0" u="none" strike="noStrike" kern="0" cap="none" spc="0" baseline="0">
                <a:solidFill>
                  <a:srgbClr val="000000"/>
                </a:solidFill>
                <a:uFillTx/>
                <a:latin typeface="Liberation Sans" pitchFamily="34"/>
                <a:ea typeface="Liberation Sans" pitchFamily="34"/>
                <a:cs typeface="Liberation Sans" pitchFamily="34"/>
              </a:rPr>
              <a:t> </a:t>
            </a:r>
            <a:endParaRPr lang="fr-FR" sz="1400" b="0" i="0" u="none" strike="noStrike" kern="1200" cap="none" spc="0" baseline="0">
              <a:solidFill>
                <a:srgbClr val="000000"/>
              </a:solidFill>
              <a:uFillTx/>
              <a:latin typeface="Calibri"/>
            </a:endParaRPr>
          </a:p>
        </p:txBody>
      </p:sp>
      <p:sp>
        <p:nvSpPr>
          <p:cNvPr id="11" name="ZoneTexte 16">
            <a:extLst>
              <a:ext uri="{FF2B5EF4-FFF2-40B4-BE49-F238E27FC236}">
                <a16:creationId xmlns:a16="http://schemas.microsoft.com/office/drawing/2014/main" id="{7D6F9ACB-4B50-BF51-0C00-62D9C817DED9}"/>
              </a:ext>
            </a:extLst>
          </p:cNvPr>
          <p:cNvSpPr txBox="1"/>
          <p:nvPr/>
        </p:nvSpPr>
        <p:spPr>
          <a:xfrm>
            <a:off x="352693" y="1138985"/>
            <a:ext cx="5042778"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1200" cap="none" spc="0" baseline="0">
                <a:solidFill>
                  <a:srgbClr val="000000"/>
                </a:solidFill>
                <a:uFillTx/>
                <a:latin typeface="Calibri"/>
              </a:rPr>
              <a:t>Analysis : </a:t>
            </a:r>
          </a:p>
        </p:txBody>
      </p:sp>
      <p:graphicFrame>
        <p:nvGraphicFramePr>
          <p:cNvPr id="12" name="Tableau 13">
            <a:extLst>
              <a:ext uri="{FF2B5EF4-FFF2-40B4-BE49-F238E27FC236}">
                <a16:creationId xmlns:a16="http://schemas.microsoft.com/office/drawing/2014/main" id="{801015E7-C013-F1EB-B7B6-222865FEE0F5}"/>
              </a:ext>
            </a:extLst>
          </p:cNvPr>
          <p:cNvGraphicFramePr>
            <a:graphicFrameLocks noGrp="1"/>
          </p:cNvGraphicFramePr>
          <p:nvPr/>
        </p:nvGraphicFramePr>
        <p:xfrm>
          <a:off x="420797" y="3348249"/>
          <a:ext cx="5924891" cy="380417"/>
        </p:xfrm>
        <a:graphic>
          <a:graphicData uri="http://schemas.openxmlformats.org/drawingml/2006/table">
            <a:tbl>
              <a:tblPr firstRow="1" bandRow="1">
                <a:effectLst/>
                <a:tableStyleId>{5940675A-B579-460E-94D1-54222C63F5DA}</a:tableStyleId>
              </a:tblPr>
              <a:tblGrid>
                <a:gridCol w="1301127">
                  <a:extLst>
                    <a:ext uri="{9D8B030D-6E8A-4147-A177-3AD203B41FA5}">
                      <a16:colId xmlns:a16="http://schemas.microsoft.com/office/drawing/2014/main" val="1655057048"/>
                    </a:ext>
                  </a:extLst>
                </a:gridCol>
                <a:gridCol w="1561383">
                  <a:extLst>
                    <a:ext uri="{9D8B030D-6E8A-4147-A177-3AD203B41FA5}">
                      <a16:colId xmlns:a16="http://schemas.microsoft.com/office/drawing/2014/main" val="3060335045"/>
                    </a:ext>
                  </a:extLst>
                </a:gridCol>
                <a:gridCol w="1173193">
                  <a:extLst>
                    <a:ext uri="{9D8B030D-6E8A-4147-A177-3AD203B41FA5}">
                      <a16:colId xmlns:a16="http://schemas.microsoft.com/office/drawing/2014/main" val="4049168338"/>
                    </a:ext>
                  </a:extLst>
                </a:gridCol>
                <a:gridCol w="1889186">
                  <a:extLst>
                    <a:ext uri="{9D8B030D-6E8A-4147-A177-3AD203B41FA5}">
                      <a16:colId xmlns:a16="http://schemas.microsoft.com/office/drawing/2014/main" val="869082309"/>
                    </a:ext>
                  </a:extLst>
                </a:gridCol>
              </a:tblGrid>
              <a:tr h="380417">
                <a:tc>
                  <a:txBody>
                    <a:bodyPr/>
                    <a:lstStyle/>
                    <a:p>
                      <a:pPr lvl="0"/>
                      <a:r>
                        <a:rPr lang="fr-FR" sz="1600" b="0" i="0" u="none" strike="noStrike" kern="0" cap="none" spc="0" baseline="0">
                          <a:solidFill>
                            <a:srgbClr val="4472C4"/>
                          </a:solidFill>
                          <a:uFillTx/>
                          <a:latin typeface="Calibri" pitchFamily="34"/>
                          <a:cs typeface="Calibri" pitchFamily="34"/>
                        </a:rPr>
                        <a:t>Q</a:t>
                      </a:r>
                      <a:r>
                        <a:rPr lang="fr-FR" sz="1600" b="0" i="0" u="none" strike="noStrike" kern="0" cap="none" spc="0" baseline="30000">
                          <a:solidFill>
                            <a:srgbClr val="4472C4"/>
                          </a:solidFill>
                          <a:uFillTx/>
                          <a:latin typeface="Calibri" pitchFamily="34"/>
                          <a:cs typeface="Calibri" pitchFamily="34"/>
                        </a:rPr>
                        <a:t>2 </a:t>
                      </a:r>
                      <a:r>
                        <a:rPr lang="fr-FR" sz="1600" b="0" i="0" u="none" strike="noStrike" kern="0" cap="none" spc="0" baseline="0">
                          <a:solidFill>
                            <a:srgbClr val="4472C4"/>
                          </a:solidFill>
                          <a:uFillTx/>
                          <a:latin typeface="Calibri" pitchFamily="34"/>
                          <a:cs typeface="Calibri" pitchFamily="34"/>
                        </a:rPr>
                        <a:t>&gt; 1.0 GeV </a:t>
                      </a:r>
                      <a:endParaRPr lang="fr-FR" sz="1600"/>
                    </a:p>
                  </a:txBody>
                  <a:tcPr/>
                </a:tc>
                <a:tc>
                  <a:txBody>
                    <a:bodyPr/>
                    <a:lstStyle/>
                    <a:p>
                      <a:pPr lvl="0"/>
                      <a:r>
                        <a:rPr lang="fr-FR" sz="1600" b="0" i="0" u="none" strike="noStrike" kern="0" cap="none" spc="0" baseline="0">
                          <a:solidFill>
                            <a:srgbClr val="4472C4"/>
                          </a:solidFill>
                          <a:uFillTx/>
                          <a:latin typeface="Calibri" pitchFamily="34"/>
                          <a:cs typeface="Calibri" pitchFamily="34"/>
                        </a:rPr>
                        <a:t>P</a:t>
                      </a:r>
                      <a:r>
                        <a:rPr lang="fr-FR" sz="1600" b="0" i="0" u="none" strike="noStrike" kern="0" cap="none" spc="0" baseline="-25000">
                          <a:solidFill>
                            <a:srgbClr val="4472C4"/>
                          </a:solidFill>
                          <a:uFillTx/>
                          <a:latin typeface="Calibri" pitchFamily="34"/>
                          <a:cs typeface="Calibri" pitchFamily="34"/>
                        </a:rPr>
                        <a:t>electron</a:t>
                      </a:r>
                      <a:r>
                        <a:rPr lang="fr-FR" sz="1600" b="0" i="0" u="none" strike="noStrike" kern="0" cap="none" spc="0" baseline="0">
                          <a:solidFill>
                            <a:srgbClr val="4472C4"/>
                          </a:solidFill>
                          <a:uFillTx/>
                          <a:latin typeface="Calibri" pitchFamily="34"/>
                          <a:cs typeface="Calibri" pitchFamily="34"/>
                        </a:rPr>
                        <a:t> &gt; 2 GeV</a:t>
                      </a:r>
                      <a:endParaRPr lang="fr-FR" sz="1600"/>
                    </a:p>
                  </a:txBody>
                  <a:tcPr/>
                </a:tc>
                <a:tc>
                  <a:txBody>
                    <a:bodyPr/>
                    <a:lstStyle/>
                    <a:p>
                      <a:pPr lvl="0"/>
                      <a:r>
                        <a:rPr lang="el-GR" sz="1600" b="0" i="0" u="none" strike="noStrike" kern="0" cap="none" spc="0" baseline="0">
                          <a:solidFill>
                            <a:srgbClr val="4472C4"/>
                          </a:solidFill>
                          <a:uFillTx/>
                          <a:latin typeface="Calibri" pitchFamily="34"/>
                          <a:cs typeface="Calibri" pitchFamily="34"/>
                        </a:rPr>
                        <a:t>θ</a:t>
                      </a:r>
                      <a:r>
                        <a:rPr lang="fr-FR" sz="1600" b="0" i="0" u="none" strike="noStrike" kern="0" cap="none" spc="0" baseline="-25000">
                          <a:solidFill>
                            <a:srgbClr val="4472C4"/>
                          </a:solidFill>
                          <a:uFillTx/>
                          <a:latin typeface="Calibri" pitchFamily="34"/>
                          <a:cs typeface="Calibri" pitchFamily="34"/>
                        </a:rPr>
                        <a:t>neutron</a:t>
                      </a:r>
                      <a:r>
                        <a:rPr lang="el-GR" sz="1600" b="0" i="0" u="none" strike="noStrike" kern="0" cap="none" spc="0" baseline="0">
                          <a:solidFill>
                            <a:srgbClr val="000000"/>
                          </a:solidFill>
                          <a:uFillTx/>
                          <a:latin typeface="Calibri"/>
                        </a:rPr>
                        <a:t> </a:t>
                      </a:r>
                      <a:r>
                        <a:rPr lang="fr-FR" sz="1600" b="0" i="0" u="none" strike="noStrike" kern="0" cap="none" spc="0" baseline="0">
                          <a:solidFill>
                            <a:srgbClr val="4472C4"/>
                          </a:solidFill>
                          <a:uFillTx/>
                          <a:latin typeface="Calibri" pitchFamily="34"/>
                          <a:cs typeface="Calibri" pitchFamily="34"/>
                        </a:rPr>
                        <a:t>&gt; 4 ° </a:t>
                      </a:r>
                      <a:endParaRPr lang="fr-FR" sz="1600"/>
                    </a:p>
                  </a:txBody>
                  <a:tcPr/>
                </a:tc>
                <a:tc>
                  <a:txBody>
                    <a:bodyPr/>
                    <a:lstStyle/>
                    <a:p>
                      <a:pPr lvl="0"/>
                      <a:r>
                        <a:rPr lang="fr-FR" sz="1600" b="0" i="0" u="none" strike="noStrike" kern="0" cap="none" spc="0" baseline="0">
                          <a:solidFill>
                            <a:srgbClr val="4472C4"/>
                          </a:solidFill>
                          <a:uFillTx/>
                          <a:latin typeface="Calibri" pitchFamily="34"/>
                          <a:cs typeface="Calibri" pitchFamily="34"/>
                        </a:rPr>
                        <a:t>P</a:t>
                      </a:r>
                      <a:r>
                        <a:rPr lang="fr-FR" sz="1600" b="0" i="0" u="none" strike="noStrike" kern="0" cap="none" spc="0" baseline="-25000">
                          <a:solidFill>
                            <a:srgbClr val="4472C4"/>
                          </a:solidFill>
                          <a:uFillTx/>
                          <a:latin typeface="Calibri" pitchFamily="34"/>
                          <a:cs typeface="Calibri" pitchFamily="34"/>
                        </a:rPr>
                        <a:t>neutron</a:t>
                      </a:r>
                      <a:r>
                        <a:rPr lang="fr-FR" sz="1600" b="0" i="0" u="none" strike="noStrike" kern="0" cap="none" spc="0" baseline="0">
                          <a:solidFill>
                            <a:srgbClr val="4472C4"/>
                          </a:solidFill>
                          <a:uFillTx/>
                          <a:latin typeface="Calibri" pitchFamily="34"/>
                          <a:cs typeface="Calibri" pitchFamily="34"/>
                        </a:rPr>
                        <a:t> &gt; 0.25 GeV</a:t>
                      </a:r>
                      <a:endParaRPr lang="fr-FR" sz="1600"/>
                    </a:p>
                  </a:txBody>
                  <a:tcPr/>
                </a:tc>
                <a:extLst>
                  <a:ext uri="{0D108BD9-81ED-4DB2-BD59-A6C34878D82A}">
                    <a16:rowId xmlns:a16="http://schemas.microsoft.com/office/drawing/2014/main" val="1603733597"/>
                  </a:ext>
                </a:extLst>
              </a:tr>
            </a:tbl>
          </a:graphicData>
        </a:graphic>
      </p:graphicFrame>
      <p:graphicFrame>
        <p:nvGraphicFramePr>
          <p:cNvPr id="13" name="Tableau 16">
            <a:extLst>
              <a:ext uri="{FF2B5EF4-FFF2-40B4-BE49-F238E27FC236}">
                <a16:creationId xmlns:a16="http://schemas.microsoft.com/office/drawing/2014/main" id="{D0E03EB6-303F-6DEF-DFA1-0CA6D3DED873}"/>
              </a:ext>
            </a:extLst>
          </p:cNvPr>
          <p:cNvGraphicFramePr>
            <a:graphicFrameLocks noGrp="1"/>
          </p:cNvGraphicFramePr>
          <p:nvPr/>
        </p:nvGraphicFramePr>
        <p:xfrm>
          <a:off x="420797" y="2479441"/>
          <a:ext cx="5379652" cy="670556"/>
        </p:xfrm>
        <a:graphic>
          <a:graphicData uri="http://schemas.openxmlformats.org/drawingml/2006/table">
            <a:tbl>
              <a:tblPr firstRow="1" bandRow="1">
                <a:effectLst/>
                <a:tableStyleId>{5940675A-B579-460E-94D1-54222C63F5DA}</a:tableStyleId>
              </a:tblPr>
              <a:tblGrid>
                <a:gridCol w="1136910">
                  <a:extLst>
                    <a:ext uri="{9D8B030D-6E8A-4147-A177-3AD203B41FA5}">
                      <a16:colId xmlns:a16="http://schemas.microsoft.com/office/drawing/2014/main" val="2924238993"/>
                    </a:ext>
                  </a:extLst>
                </a:gridCol>
                <a:gridCol w="1136910">
                  <a:extLst>
                    <a:ext uri="{9D8B030D-6E8A-4147-A177-3AD203B41FA5}">
                      <a16:colId xmlns:a16="http://schemas.microsoft.com/office/drawing/2014/main" val="2717092963"/>
                    </a:ext>
                  </a:extLst>
                </a:gridCol>
                <a:gridCol w="1136910">
                  <a:extLst>
                    <a:ext uri="{9D8B030D-6E8A-4147-A177-3AD203B41FA5}">
                      <a16:colId xmlns:a16="http://schemas.microsoft.com/office/drawing/2014/main" val="3650583450"/>
                    </a:ext>
                  </a:extLst>
                </a:gridCol>
                <a:gridCol w="1136910">
                  <a:extLst>
                    <a:ext uri="{9D8B030D-6E8A-4147-A177-3AD203B41FA5}">
                      <a16:colId xmlns:a16="http://schemas.microsoft.com/office/drawing/2014/main" val="1102011000"/>
                    </a:ext>
                  </a:extLst>
                </a:gridCol>
                <a:gridCol w="832012">
                  <a:extLst>
                    <a:ext uri="{9D8B030D-6E8A-4147-A177-3AD203B41FA5}">
                      <a16:colId xmlns:a16="http://schemas.microsoft.com/office/drawing/2014/main" val="731623692"/>
                    </a:ext>
                  </a:extLst>
                </a:gridCol>
              </a:tblGrid>
              <a:tr h="0">
                <a:tc>
                  <a:txBody>
                    <a:bodyPr/>
                    <a:lstStyle/>
                    <a:p>
                      <a:pPr lvl="0"/>
                      <a:r>
                        <a:rPr lang="fr-FR" sz="1600" b="0" i="0" u="none" strike="noStrike" kern="1200" cap="none" spc="0" baseline="0">
                          <a:solidFill>
                            <a:srgbClr val="4472C4"/>
                          </a:solidFill>
                          <a:uFillTx/>
                          <a:latin typeface="Calibri" pitchFamily="34"/>
                          <a:ea typeface="Noto Sans CJK SC" pitchFamily="2"/>
                          <a:cs typeface="Calibri" pitchFamily="34"/>
                        </a:rPr>
                        <a:t>e</a:t>
                      </a:r>
                      <a:r>
                        <a:rPr lang="fr-FR" sz="1600" b="0" i="0" u="none" strike="noStrike" kern="1200" cap="none" spc="0" baseline="30000">
                          <a:solidFill>
                            <a:srgbClr val="4472C4"/>
                          </a:solidFill>
                          <a:uFillTx/>
                          <a:latin typeface="Calibri" pitchFamily="34"/>
                          <a:ea typeface="Noto Sans CJK SC" pitchFamily="2"/>
                          <a:cs typeface="Calibri" pitchFamily="34"/>
                        </a:rPr>
                        <a:t>-</a:t>
                      </a:r>
                      <a:endParaRPr lang="fr-FR" sz="1600"/>
                    </a:p>
                  </a:txBody>
                  <a:tcPr/>
                </a:tc>
                <a:tc>
                  <a:txBody>
                    <a:bodyPr/>
                    <a:lstStyle/>
                    <a:p>
                      <a:pPr lvl="0"/>
                      <a:r>
                        <a:rPr lang="fr-FR" sz="1600" b="0" i="0" u="none" strike="noStrike" kern="0" cap="none" spc="0" baseline="0">
                          <a:solidFill>
                            <a:srgbClr val="4472C4"/>
                          </a:solidFill>
                          <a:uFillTx/>
                          <a:latin typeface="Calibri" pitchFamily="34"/>
                          <a:ea typeface="Noto Sans CJK SC" pitchFamily="2"/>
                          <a:cs typeface="Calibri" pitchFamily="34"/>
                        </a:rPr>
                        <a:t>K</a:t>
                      </a:r>
                      <a:r>
                        <a:rPr lang="fr-FR" sz="1600" b="0" i="0" u="none" strike="noStrike" kern="1200" cap="none" spc="0" baseline="30000">
                          <a:solidFill>
                            <a:srgbClr val="4472C4"/>
                          </a:solidFill>
                          <a:uFillTx/>
                          <a:latin typeface="Calibri" pitchFamily="34"/>
                          <a:ea typeface="Liberation Serif" pitchFamily="18"/>
                          <a:cs typeface="Calibri" pitchFamily="34"/>
                        </a:rPr>
                        <a:t>+</a:t>
                      </a:r>
                      <a:endParaRPr lang="fr-FR" sz="1600"/>
                    </a:p>
                  </a:txBody>
                  <a:tcPr/>
                </a:tc>
                <a:tc>
                  <a:txBody>
                    <a:bodyPr/>
                    <a:lstStyle/>
                    <a:p>
                      <a:pPr lvl="0"/>
                      <a:r>
                        <a:rPr lang="fr-FR" sz="1600" b="0" i="0" u="none" strike="noStrike" kern="0" cap="none" spc="0" baseline="0">
                          <a:solidFill>
                            <a:srgbClr val="4472C4"/>
                          </a:solidFill>
                          <a:uFillTx/>
                          <a:latin typeface="Calibri" pitchFamily="34"/>
                          <a:ea typeface="Liberation Serif" pitchFamily="18"/>
                          <a:cs typeface="Calibri" pitchFamily="34"/>
                        </a:rPr>
                        <a:t>K</a:t>
                      </a:r>
                      <a:r>
                        <a:rPr lang="fr-FR" sz="1600" b="0" i="0" u="none" strike="noStrike" kern="1200" cap="none" spc="0" baseline="0">
                          <a:solidFill>
                            <a:srgbClr val="4472C4"/>
                          </a:solidFill>
                          <a:uFillTx/>
                          <a:latin typeface="Calibri" pitchFamily="34"/>
                          <a:ea typeface="Liberation Serif" pitchFamily="18"/>
                          <a:cs typeface="Calibri" pitchFamily="34"/>
                        </a:rPr>
                        <a:t> </a:t>
                      </a:r>
                      <a:r>
                        <a:rPr lang="fr-FR" sz="1600" b="0" i="0" u="none" strike="noStrike" kern="1200" cap="none" spc="0" baseline="30000">
                          <a:solidFill>
                            <a:srgbClr val="4472C4"/>
                          </a:solidFill>
                          <a:uFillTx/>
                          <a:latin typeface="Calibri" pitchFamily="34"/>
                          <a:ea typeface="Liberation Serif" pitchFamily="18"/>
                          <a:cs typeface="Calibri" pitchFamily="34"/>
                        </a:rPr>
                        <a:t>-</a:t>
                      </a:r>
                      <a:r>
                        <a:rPr lang="fr-FR" sz="1600" b="0" i="0" u="none" strike="noStrike" kern="1200" cap="none" spc="0" baseline="0">
                          <a:solidFill>
                            <a:srgbClr val="4472C4"/>
                          </a:solidFill>
                          <a:uFillTx/>
                          <a:latin typeface="Calibri" pitchFamily="34"/>
                          <a:ea typeface="Liberation Serif" pitchFamily="18"/>
                          <a:cs typeface="Calibri" pitchFamily="34"/>
                        </a:rPr>
                        <a:t> </a:t>
                      </a:r>
                      <a:endParaRPr lang="fr-FR" sz="1600"/>
                    </a:p>
                  </a:txBody>
                  <a:tcPr/>
                </a:tc>
                <a:tc>
                  <a:txBody>
                    <a:bodyPr/>
                    <a:lstStyle/>
                    <a:p>
                      <a:pPr lvl="0"/>
                      <a:r>
                        <a:rPr lang="fr-FR" sz="1600" b="0" i="0" u="none" strike="noStrike" kern="0" cap="none" spc="0" baseline="0">
                          <a:solidFill>
                            <a:srgbClr val="4472C4"/>
                          </a:solidFill>
                          <a:uFillTx/>
                          <a:latin typeface="Calibri" pitchFamily="34"/>
                          <a:ea typeface="Liberation Serif" pitchFamily="18"/>
                          <a:cs typeface="Calibri" pitchFamily="34"/>
                        </a:rPr>
                        <a:t>neutron</a:t>
                      </a:r>
                      <a:endParaRPr lang="fr-FR" sz="1600"/>
                    </a:p>
                  </a:txBody>
                  <a:tcPr/>
                </a:tc>
                <a:tc>
                  <a:txBody>
                    <a:bodyPr/>
                    <a:lstStyle/>
                    <a:p>
                      <a:pPr lvl="0"/>
                      <a:r>
                        <a:rPr lang="fr-FR" sz="1600" b="0" i="0" u="none" strike="noStrike" kern="1200" cap="none" spc="0" baseline="0">
                          <a:solidFill>
                            <a:srgbClr val="4472C4"/>
                          </a:solidFill>
                          <a:uFillTx/>
                          <a:latin typeface="Calibri" pitchFamily="34"/>
                          <a:ea typeface="Liberation Serif" pitchFamily="18"/>
                          <a:cs typeface="Calibri" pitchFamily="34"/>
                        </a:rPr>
                        <a:t>proton</a:t>
                      </a:r>
                      <a:endParaRPr lang="fr-FR" sz="1600"/>
                    </a:p>
                  </a:txBody>
                  <a:tcPr/>
                </a:tc>
                <a:extLst>
                  <a:ext uri="{0D108BD9-81ED-4DB2-BD59-A6C34878D82A}">
                    <a16:rowId xmlns:a16="http://schemas.microsoft.com/office/drawing/2014/main" val="3657833589"/>
                  </a:ext>
                </a:extLst>
              </a:tr>
              <a:tr h="0">
                <a:tc>
                  <a:txBody>
                    <a:bodyPr/>
                    <a:lstStyle/>
                    <a:p>
                      <a:pPr lvl="0"/>
                      <a:r>
                        <a:rPr lang="fr-FR" sz="1600"/>
                        <a:t>1</a:t>
                      </a:r>
                    </a:p>
                  </a:txBody>
                  <a:tcPr/>
                </a:tc>
                <a:tc>
                  <a:txBody>
                    <a:bodyPr/>
                    <a:lstStyle/>
                    <a:p>
                      <a:pPr lvl="0"/>
                      <a:r>
                        <a:rPr lang="fr-FR" sz="1600"/>
                        <a:t>1</a:t>
                      </a:r>
                    </a:p>
                  </a:txBody>
                  <a:tcPr/>
                </a:tc>
                <a:tc>
                  <a:txBody>
                    <a:bodyPr/>
                    <a:lstStyle/>
                    <a:p>
                      <a:pPr lvl="0"/>
                      <a:r>
                        <a:rPr lang="fr-FR" sz="1600"/>
                        <a:t>1</a:t>
                      </a:r>
                    </a:p>
                  </a:txBody>
                  <a:tcPr/>
                </a:tc>
                <a:tc>
                  <a:txBody>
                    <a:bodyPr/>
                    <a:lstStyle/>
                    <a:p>
                      <a:pPr lvl="0"/>
                      <a:r>
                        <a:rPr lang="fr-FR" sz="1600"/>
                        <a:t>&gt;= 1</a:t>
                      </a:r>
                    </a:p>
                  </a:txBody>
                  <a:tcPr/>
                </a:tc>
                <a:tc>
                  <a:txBody>
                    <a:bodyPr/>
                    <a:lstStyle/>
                    <a:p>
                      <a:pPr lvl="0"/>
                      <a:r>
                        <a:rPr lang="fr-FR" sz="1600"/>
                        <a:t>0</a:t>
                      </a:r>
                    </a:p>
                  </a:txBody>
                  <a:tcPr/>
                </a:tc>
                <a:extLst>
                  <a:ext uri="{0D108BD9-81ED-4DB2-BD59-A6C34878D82A}">
                    <a16:rowId xmlns:a16="http://schemas.microsoft.com/office/drawing/2014/main" val="4165516668"/>
                  </a:ext>
                </a:extLst>
              </a:tr>
            </a:tbl>
          </a:graphicData>
        </a:graphic>
      </p:graphicFrame>
      <p:sp>
        <p:nvSpPr>
          <p:cNvPr id="14" name="ZoneTexte 18">
            <a:extLst>
              <a:ext uri="{FF2B5EF4-FFF2-40B4-BE49-F238E27FC236}">
                <a16:creationId xmlns:a16="http://schemas.microsoft.com/office/drawing/2014/main" id="{3DEDEBEA-A890-97FE-54BD-8F0335E285A1}"/>
              </a:ext>
            </a:extLst>
          </p:cNvPr>
          <p:cNvSpPr txBox="1"/>
          <p:nvPr/>
        </p:nvSpPr>
        <p:spPr>
          <a:xfrm>
            <a:off x="5954042" y="2558920"/>
            <a:ext cx="3959489" cy="523219"/>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Calibri" pitchFamily="34"/>
                <a:ea typeface="Liberation Serif" pitchFamily="18"/>
                <a:cs typeface="Calibri" pitchFamily="34"/>
              </a:rPr>
              <a:t>(select the best neutron wich minimize the </a:t>
            </a:r>
            <a:r>
              <a:rPr lang="fr-FR" sz="1400" b="0" i="0" u="none" strike="noStrike" kern="0" cap="none" spc="0" baseline="0">
                <a:solidFill>
                  <a:srgbClr val="000000"/>
                </a:solidFill>
                <a:uFillTx/>
                <a:latin typeface="Calibri" pitchFamily="34"/>
                <a:ea typeface="Liberation Serif" pitchFamily="18"/>
                <a:cs typeface="Calibri" pitchFamily="34"/>
              </a:rPr>
              <a:t>angle </a:t>
            </a:r>
          </a:p>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0" cap="none" spc="0" baseline="0">
                <a:solidFill>
                  <a:srgbClr val="000000"/>
                </a:solidFill>
                <a:uFillTx/>
                <a:latin typeface="Calibri" pitchFamily="34"/>
                <a:ea typeface="Liberation Serif" pitchFamily="18"/>
                <a:cs typeface="Calibri" pitchFamily="34"/>
              </a:rPr>
              <a:t>between the </a:t>
            </a:r>
            <a:r>
              <a:rPr lang="fr-FR" sz="1400" b="0" i="0" u="none" strike="noStrike" kern="0" cap="none" spc="0" baseline="0">
                <a:solidFill>
                  <a:srgbClr val="4472C4"/>
                </a:solidFill>
                <a:uFillTx/>
                <a:latin typeface="Calibri" pitchFamily="34"/>
                <a:ea typeface="Noto Sans CJK SC" pitchFamily="2"/>
                <a:cs typeface="Calibri" pitchFamily="34"/>
              </a:rPr>
              <a:t>missing nucleon</a:t>
            </a:r>
            <a:r>
              <a:rPr lang="fr-FR" sz="1400" b="0" i="0" u="none" strike="noStrike" kern="0" cap="none" spc="0" baseline="0">
                <a:solidFill>
                  <a:srgbClr val="000000"/>
                </a:solidFill>
                <a:uFillTx/>
                <a:latin typeface="Calibri" pitchFamily="34"/>
                <a:ea typeface="Noto Sans CJK SC" pitchFamily="2"/>
                <a:cs typeface="Calibri" pitchFamily="34"/>
              </a:rPr>
              <a:t> and the </a:t>
            </a:r>
            <a:r>
              <a:rPr lang="fr-FR" sz="1400" b="0" i="0" u="none" strike="noStrike" kern="0" cap="none" spc="0" baseline="0">
                <a:solidFill>
                  <a:srgbClr val="4472C4"/>
                </a:solidFill>
                <a:uFillTx/>
                <a:latin typeface="Calibri" pitchFamily="34"/>
                <a:ea typeface="Noto Sans CJK SC" pitchFamily="2"/>
                <a:cs typeface="Calibri" pitchFamily="34"/>
              </a:rPr>
              <a:t>neutron</a:t>
            </a:r>
            <a:r>
              <a:rPr lang="fr-FR" sz="1400" b="0" i="0" u="none" strike="noStrike" kern="1200" cap="none" spc="0" baseline="0">
                <a:solidFill>
                  <a:srgbClr val="000000"/>
                </a:solidFill>
                <a:uFillTx/>
                <a:latin typeface="Calibri" pitchFamily="34"/>
                <a:ea typeface="Liberation Serif" pitchFamily="18"/>
                <a:cs typeface="Calibri" pitchFamily="34"/>
              </a:rPr>
              <a:t>)</a:t>
            </a:r>
          </a:p>
        </p:txBody>
      </p:sp>
      <p:sp>
        <p:nvSpPr>
          <p:cNvPr id="15" name="ZoneTexte 16">
            <a:extLst>
              <a:ext uri="{FF2B5EF4-FFF2-40B4-BE49-F238E27FC236}">
                <a16:creationId xmlns:a16="http://schemas.microsoft.com/office/drawing/2014/main" id="{B858C138-6CED-7B9A-B8A0-8382B885FBDD}"/>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6" name="ZoneTexte 17">
            <a:extLst>
              <a:ext uri="{FF2B5EF4-FFF2-40B4-BE49-F238E27FC236}">
                <a16:creationId xmlns:a16="http://schemas.microsoft.com/office/drawing/2014/main" id="{606D580C-00B2-54FE-551E-E96527A775C5}"/>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17">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3C401066-5895-3333-2535-708D03B51214}"/>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1710C3DE-04D4-56F2-47B6-27E1082BE674}"/>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FE4B602A-E198-69CA-CFAC-2885DCF3881D}"/>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B77B67D2-BF32-8570-27CC-6AAB0C52925B}"/>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8F8F55F7-3405-A6FE-5006-B6F5F9ECFD68}"/>
              </a:ext>
            </a:extLst>
          </p:cNvPr>
          <p:cNvSpPr txBox="1"/>
          <p:nvPr/>
        </p:nvSpPr>
        <p:spPr>
          <a:xfrm>
            <a:off x="9515191" y="5399998"/>
            <a:ext cx="564806"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5</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B001B033-20C0-8A72-9D7A-B9B71D19CEA9}"/>
              </a:ext>
            </a:extLst>
          </p:cNvPr>
          <p:cNvSpPr txBox="1"/>
          <p:nvPr/>
        </p:nvSpPr>
        <p:spPr>
          <a:xfrm>
            <a:off x="170636" y="199083"/>
            <a:ext cx="5229362"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34"/>
                <a:ea typeface="Liberation Sans" pitchFamily="34"/>
                <a:cs typeface="Liberation Sans" pitchFamily="34"/>
              </a:rPr>
              <a:t>ɸ</a:t>
            </a:r>
            <a:r>
              <a:rPr lang="fr-FR" sz="2400" b="0" i="0" u="none" strike="noStrike" kern="0" cap="none" spc="0" baseline="0">
                <a:solidFill>
                  <a:srgbClr val="000000"/>
                </a:solidFill>
                <a:uFillTx/>
                <a:latin typeface="Liberation Sans" pitchFamily="34"/>
                <a:ea typeface="Liberation Sans" pitchFamily="34"/>
                <a:cs typeface="Liberation Sans" pitchFamily="34"/>
              </a:rPr>
              <a:t> </a:t>
            </a:r>
            <a:r>
              <a:rPr lang="fr-FR" sz="2400" b="0" i="0" u="none" strike="noStrike" kern="0" cap="none" spc="0" baseline="0">
                <a:solidFill>
                  <a:srgbClr val="FFFFFF"/>
                </a:solidFill>
                <a:uFillTx/>
                <a:latin typeface="Liberation Sans" pitchFamily="18"/>
                <a:ea typeface="Noto Sans CJK SC" pitchFamily="2"/>
                <a:cs typeface="Noto Sans" pitchFamily="2"/>
              </a:rPr>
              <a:t>generator for MC simulation</a:t>
            </a:r>
          </a:p>
        </p:txBody>
      </p:sp>
      <p:sp>
        <p:nvSpPr>
          <p:cNvPr id="8" name="ZoneTexte 14">
            <a:extLst>
              <a:ext uri="{FF2B5EF4-FFF2-40B4-BE49-F238E27FC236}">
                <a16:creationId xmlns:a16="http://schemas.microsoft.com/office/drawing/2014/main" id="{76B62ECE-E87E-5FBF-7B1D-04F4D373E50E}"/>
              </a:ext>
            </a:extLst>
          </p:cNvPr>
          <p:cNvSpPr txBox="1"/>
          <p:nvPr/>
        </p:nvSpPr>
        <p:spPr>
          <a:xfrm>
            <a:off x="6244273" y="4870862"/>
            <a:ext cx="3115726"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1" u="none" strike="noStrike" kern="1200" cap="none" spc="0" baseline="0">
                <a:solidFill>
                  <a:srgbClr val="000000"/>
                </a:solidFill>
                <a:uFillTx/>
                <a:latin typeface="Calibri" pitchFamily="34"/>
                <a:cs typeface="Calibri" pitchFamily="34"/>
              </a:rPr>
              <a:t>From Proposal to Jeﬀerson Lab PAC39 </a:t>
            </a:r>
            <a:endParaRPr lang="fr-FR" sz="1400" b="0" i="0" u="none" strike="noStrike" kern="1200" cap="none" spc="0" baseline="0">
              <a:solidFill>
                <a:srgbClr val="000000"/>
              </a:solidFill>
              <a:uFillTx/>
              <a:latin typeface="Calibri"/>
            </a:endParaRPr>
          </a:p>
        </p:txBody>
      </p:sp>
      <p:sp>
        <p:nvSpPr>
          <p:cNvPr id="9" name="ZoneTexte 15">
            <a:extLst>
              <a:ext uri="{FF2B5EF4-FFF2-40B4-BE49-F238E27FC236}">
                <a16:creationId xmlns:a16="http://schemas.microsoft.com/office/drawing/2014/main" id="{35547FE8-1AB7-9D80-7267-4D05A611A38E}"/>
              </a:ext>
            </a:extLst>
          </p:cNvPr>
          <p:cNvSpPr txBox="1"/>
          <p:nvPr/>
        </p:nvSpPr>
        <p:spPr>
          <a:xfrm>
            <a:off x="1565727" y="4827657"/>
            <a:ext cx="2439180"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1" u="none" strike="noStrike" kern="1200" cap="none" spc="0" baseline="0">
                <a:solidFill>
                  <a:srgbClr val="000000"/>
                </a:solidFill>
                <a:uFillTx/>
                <a:latin typeface="Calibri"/>
              </a:rPr>
              <a:t>Implemented in the generator</a:t>
            </a:r>
          </a:p>
        </p:txBody>
      </p:sp>
      <p:pic>
        <p:nvPicPr>
          <p:cNvPr id="10" name="Image 11">
            <a:extLst>
              <a:ext uri="{FF2B5EF4-FFF2-40B4-BE49-F238E27FC236}">
                <a16:creationId xmlns:a16="http://schemas.microsoft.com/office/drawing/2014/main" id="{8B484B1D-C741-0420-A0E2-5F7319D08358}"/>
              </a:ext>
            </a:extLst>
          </p:cNvPr>
          <p:cNvPicPr>
            <a:picLocks noChangeAspect="1"/>
          </p:cNvPicPr>
          <p:nvPr/>
        </p:nvPicPr>
        <p:blipFill>
          <a:blip r:embed="rId3"/>
          <a:srcRect l="3006" t="5490" r="3773"/>
          <a:stretch>
            <a:fillRect/>
          </a:stretch>
        </p:blipFill>
        <p:spPr>
          <a:xfrm>
            <a:off x="5467005" y="1164561"/>
            <a:ext cx="3957651" cy="3759866"/>
          </a:xfrm>
          <a:prstGeom prst="rect">
            <a:avLst/>
          </a:prstGeom>
          <a:noFill/>
          <a:ln cap="flat">
            <a:noFill/>
          </a:ln>
        </p:spPr>
      </p:pic>
      <p:pic>
        <p:nvPicPr>
          <p:cNvPr id="11" name="Image 14">
            <a:extLst>
              <a:ext uri="{FF2B5EF4-FFF2-40B4-BE49-F238E27FC236}">
                <a16:creationId xmlns:a16="http://schemas.microsoft.com/office/drawing/2014/main" id="{8BDC24AB-242E-2E97-5719-2CED51BECAE3}"/>
              </a:ext>
            </a:extLst>
          </p:cNvPr>
          <p:cNvPicPr>
            <a:picLocks noChangeAspect="1"/>
          </p:cNvPicPr>
          <p:nvPr/>
        </p:nvPicPr>
        <p:blipFill>
          <a:blip r:embed="rId4"/>
          <a:stretch>
            <a:fillRect/>
          </a:stretch>
        </p:blipFill>
        <p:spPr>
          <a:xfrm>
            <a:off x="259040" y="1164561"/>
            <a:ext cx="4883389" cy="3597304"/>
          </a:xfrm>
          <a:prstGeom prst="rect">
            <a:avLst/>
          </a:prstGeom>
          <a:noFill/>
          <a:ln cap="flat">
            <a:noFill/>
          </a:ln>
        </p:spPr>
      </p:pic>
      <p:sp>
        <p:nvSpPr>
          <p:cNvPr id="12" name="ZoneTexte 13">
            <a:extLst>
              <a:ext uri="{FF2B5EF4-FFF2-40B4-BE49-F238E27FC236}">
                <a16:creationId xmlns:a16="http://schemas.microsoft.com/office/drawing/2014/main" id="{A432FB9F-E90A-68CF-9BA0-3BADAED76FB7}"/>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3" name="ZoneTexte 14">
            <a:extLst>
              <a:ext uri="{FF2B5EF4-FFF2-40B4-BE49-F238E27FC236}">
                <a16:creationId xmlns:a16="http://schemas.microsoft.com/office/drawing/2014/main" id="{9272D0F9-2C02-B251-A2EE-96FCED3E0E75}"/>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60">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CF16258A-D04C-C92B-9E8D-DD9F9086B6EE}"/>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8BDFF803-9BA8-8809-3F8F-28040CBCC797}"/>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28DBFB62-0371-8B2B-6BE8-7665A93C5707}"/>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61C6BF25-34FC-9760-3527-891B9AB230A2}"/>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66CF42DF-0A53-C3AD-E359-5B1CA9D405A4}"/>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6/20</a:t>
            </a:r>
            <a:endParaRPr lang="fr-FR" sz="1200" b="0" i="0" u="none" strike="noStrike" kern="1200" cap="none" spc="0" baseline="0">
              <a:solidFill>
                <a:srgbClr val="FFFFFF"/>
              </a:solidFill>
              <a:uFillTx/>
              <a:latin typeface="Liberation Sans" pitchFamily="18"/>
              <a:ea typeface="Noto Sans CJK SC" pitchFamily="2"/>
              <a:cs typeface="Noto Sans" pitchFamily="2"/>
            </a:endParaRPr>
          </a:p>
        </p:txBody>
      </p:sp>
      <p:sp>
        <p:nvSpPr>
          <p:cNvPr id="7" name="ZoneTexte 8">
            <a:extLst>
              <a:ext uri="{FF2B5EF4-FFF2-40B4-BE49-F238E27FC236}">
                <a16:creationId xmlns:a16="http://schemas.microsoft.com/office/drawing/2014/main" id="{6F72E036-546C-9F26-C345-3F4AA793ED7B}"/>
              </a:ext>
            </a:extLst>
          </p:cNvPr>
          <p:cNvSpPr txBox="1"/>
          <p:nvPr/>
        </p:nvSpPr>
        <p:spPr>
          <a:xfrm>
            <a:off x="170636" y="199083"/>
            <a:ext cx="9675330" cy="466554"/>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Calibri" pitchFamily="34"/>
                <a:ea typeface="Noto Sans CJK SC" pitchFamily="2"/>
                <a:cs typeface="Calibri" pitchFamily="34"/>
              </a:rPr>
              <a:t>Cut on the angle between missing nucleon and detected neutron </a:t>
            </a:r>
            <a:endParaRPr lang="fr-FR" sz="2400" b="0" i="0" u="none" strike="noStrike" kern="0" cap="none" spc="0" baseline="0">
              <a:solidFill>
                <a:srgbClr val="FFFFFF"/>
              </a:solidFill>
              <a:uFillTx/>
              <a:latin typeface="Liberation Sans" pitchFamily="18"/>
              <a:ea typeface="Noto Sans CJK SC" pitchFamily="2"/>
              <a:cs typeface="Noto Sans" pitchFamily="2"/>
            </a:endParaRPr>
          </a:p>
        </p:txBody>
      </p:sp>
      <p:sp>
        <p:nvSpPr>
          <p:cNvPr id="8" name="ZoneTexte 11">
            <a:extLst>
              <a:ext uri="{FF2B5EF4-FFF2-40B4-BE49-F238E27FC236}">
                <a16:creationId xmlns:a16="http://schemas.microsoft.com/office/drawing/2014/main" id="{2A76795A-18F7-D7F9-633B-33FA9BB104AB}"/>
              </a:ext>
            </a:extLst>
          </p:cNvPr>
          <p:cNvSpPr txBox="1"/>
          <p:nvPr/>
        </p:nvSpPr>
        <p:spPr>
          <a:xfrm>
            <a:off x="287167" y="1108408"/>
            <a:ext cx="8462387"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70AD47"/>
                </a:solidFill>
                <a:uFillTx/>
                <a:latin typeface="Calibri" pitchFamily="34"/>
                <a:ea typeface="Noto Sans CJK SC" pitchFamily="2"/>
                <a:cs typeface="Calibri" pitchFamily="34"/>
              </a:rPr>
              <a:t>Missing</a:t>
            </a:r>
            <a:r>
              <a:rPr lang="fr-FR" sz="1400" b="0" i="0" u="none" strike="noStrike" kern="0" cap="none" spc="0" baseline="0">
                <a:solidFill>
                  <a:srgbClr val="70AD47"/>
                </a:solidFill>
                <a:uFillTx/>
                <a:latin typeface="Calibri" pitchFamily="34"/>
                <a:ea typeface="Noto Sans CJK SC" pitchFamily="2"/>
                <a:cs typeface="Calibri" pitchFamily="34"/>
              </a:rPr>
              <a:t> </a:t>
            </a:r>
            <a:r>
              <a:rPr lang="fr-FR" sz="1400" b="0" i="0" u="none" strike="noStrike" kern="1200" cap="none" spc="0" baseline="0">
                <a:solidFill>
                  <a:srgbClr val="70AD47"/>
                </a:solidFill>
                <a:uFillTx/>
                <a:latin typeface="Calibri" pitchFamily="34"/>
                <a:ea typeface="Noto Sans CJK SC" pitchFamily="2"/>
                <a:cs typeface="Calibri" pitchFamily="34"/>
              </a:rPr>
              <a:t>nucleon  </a:t>
            </a:r>
            <a:r>
              <a:rPr lang="fr-FR" sz="1400" b="0" i="0" u="none" strike="noStrike" kern="1200" cap="none" spc="0" baseline="0">
                <a:solidFill>
                  <a:srgbClr val="000000"/>
                </a:solidFill>
                <a:uFillTx/>
                <a:latin typeface="Calibri" pitchFamily="34"/>
                <a:ea typeface="Noto Sans CJK SC" pitchFamily="2"/>
                <a:cs typeface="Calibri" pitchFamily="34"/>
              </a:rPr>
              <a:t>=  the missing particle of :  e n </a:t>
            </a:r>
            <a:r>
              <a:rPr lang="fr-FR" sz="1400" b="1" i="0" u="none" strike="noStrike" kern="0" cap="none" spc="0" baseline="0">
                <a:solidFill>
                  <a:srgbClr val="000000"/>
                </a:solidFill>
                <a:uFillTx/>
                <a:latin typeface="Liberation Sans" pitchFamily="34"/>
                <a:ea typeface="Liberation Sans" pitchFamily="34"/>
                <a:cs typeface="Liberation Sans" pitchFamily="34"/>
              </a:rPr>
              <a:t>→</a:t>
            </a:r>
            <a:r>
              <a:rPr lang="fr-FR" sz="1400" b="0" i="0" u="none" strike="noStrike" kern="1200" cap="none" spc="0" baseline="0">
                <a:solidFill>
                  <a:srgbClr val="000000"/>
                </a:solidFill>
                <a:uFillTx/>
                <a:latin typeface="Calibri" pitchFamily="34"/>
                <a:ea typeface="Noto Sans CJK SC" pitchFamily="2"/>
                <a:cs typeface="Calibri" pitchFamily="34"/>
              </a:rPr>
              <a:t> e’ K</a:t>
            </a:r>
            <a:r>
              <a:rPr lang="fr-FR" sz="1400" b="0" i="0" u="none" strike="noStrike" kern="1200" cap="none" spc="0" baseline="30000">
                <a:solidFill>
                  <a:srgbClr val="000000"/>
                </a:solidFill>
                <a:uFillTx/>
                <a:latin typeface="Calibri" pitchFamily="34"/>
                <a:ea typeface="Noto Sans CJK SC" pitchFamily="2"/>
                <a:cs typeface="Calibri" pitchFamily="34"/>
              </a:rPr>
              <a:t>+</a:t>
            </a:r>
            <a:r>
              <a:rPr lang="fr-FR" sz="1400" b="0" i="0" u="none" strike="noStrike" kern="1200" cap="none" spc="0" baseline="0">
                <a:solidFill>
                  <a:srgbClr val="000000"/>
                </a:solidFill>
                <a:uFillTx/>
                <a:latin typeface="Calibri" pitchFamily="34"/>
                <a:ea typeface="Noto Sans CJK SC" pitchFamily="2"/>
                <a:cs typeface="Calibri" pitchFamily="34"/>
              </a:rPr>
              <a:t>  K</a:t>
            </a:r>
            <a:r>
              <a:rPr lang="fr-FR" sz="1400" b="0" i="0" u="none" strike="noStrike" kern="1200" cap="none" spc="0" baseline="30000">
                <a:solidFill>
                  <a:srgbClr val="000000"/>
                </a:solidFill>
                <a:uFillTx/>
                <a:latin typeface="Calibri" pitchFamily="34"/>
                <a:ea typeface="Noto Sans CJK SC" pitchFamily="2"/>
                <a:cs typeface="Calibri" pitchFamily="34"/>
              </a:rPr>
              <a:t>-</a:t>
            </a:r>
            <a:r>
              <a:rPr lang="fr-FR" sz="1400" b="0" i="0" u="none" strike="noStrike" kern="1200" cap="none" spc="0" baseline="0">
                <a:solidFill>
                  <a:srgbClr val="000000"/>
                </a:solidFill>
                <a:uFillTx/>
                <a:latin typeface="Calibri" pitchFamily="34"/>
                <a:ea typeface="Noto Sans CJK SC" pitchFamily="2"/>
                <a:cs typeface="Calibri" pitchFamily="34"/>
              </a:rPr>
              <a:t>  </a:t>
            </a:r>
            <a:r>
              <a:rPr lang="fr-FR" sz="1400" b="0" i="0" u="none" strike="noStrike" kern="1200" cap="none" spc="0" baseline="0">
                <a:solidFill>
                  <a:srgbClr val="70AD47"/>
                </a:solidFill>
                <a:uFillTx/>
                <a:latin typeface="Calibri" pitchFamily="34"/>
                <a:ea typeface="Noto Sans CJK SC" pitchFamily="2"/>
                <a:cs typeface="Calibri" pitchFamily="34"/>
              </a:rPr>
              <a:t>X</a:t>
            </a:r>
            <a:endParaRPr lang="fr-FR" sz="1400" b="0" i="0" u="none" strike="noStrike" kern="1200" cap="none" spc="0" baseline="30000">
              <a:solidFill>
                <a:srgbClr val="000000"/>
              </a:solidFill>
              <a:uFillTx/>
              <a:latin typeface="Calibri"/>
            </a:endParaRPr>
          </a:p>
        </p:txBody>
      </p:sp>
      <p:cxnSp>
        <p:nvCxnSpPr>
          <p:cNvPr id="9" name="Connecteur droit 40">
            <a:extLst>
              <a:ext uri="{FF2B5EF4-FFF2-40B4-BE49-F238E27FC236}">
                <a16:creationId xmlns:a16="http://schemas.microsoft.com/office/drawing/2014/main" id="{B38AE6A8-6E5F-73D1-D957-81ADDD4C151C}"/>
              </a:ext>
            </a:extLst>
          </p:cNvPr>
          <p:cNvCxnSpPr/>
          <p:nvPr/>
        </p:nvCxnSpPr>
        <p:spPr>
          <a:xfrm flipH="1" flipV="1">
            <a:off x="2160004" y="2038078"/>
            <a:ext cx="501622" cy="491801"/>
          </a:xfrm>
          <a:prstGeom prst="straightConnector1">
            <a:avLst/>
          </a:prstGeom>
          <a:noFill/>
          <a:ln w="22229" cap="flat">
            <a:solidFill>
              <a:srgbClr val="000000"/>
            </a:solidFill>
            <a:prstDash val="solid"/>
            <a:miter/>
          </a:ln>
        </p:spPr>
      </p:cxnSp>
      <p:sp>
        <p:nvSpPr>
          <p:cNvPr id="10" name="ZoneTexte 20">
            <a:extLst>
              <a:ext uri="{FF2B5EF4-FFF2-40B4-BE49-F238E27FC236}">
                <a16:creationId xmlns:a16="http://schemas.microsoft.com/office/drawing/2014/main" id="{10E101F4-8890-A9DA-10C0-7BD5FC0BBEF1}"/>
              </a:ext>
            </a:extLst>
          </p:cNvPr>
          <p:cNvSpPr txBox="1"/>
          <p:nvPr/>
        </p:nvSpPr>
        <p:spPr>
          <a:xfrm>
            <a:off x="1751432" y="4963043"/>
            <a:ext cx="6622615"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0" cap="none" spc="0" baseline="0">
                <a:solidFill>
                  <a:srgbClr val="000000"/>
                </a:solidFill>
                <a:uFillTx/>
                <a:latin typeface="Liberation Sans" pitchFamily="34"/>
                <a:ea typeface="Liberation Sans" pitchFamily="34"/>
                <a:cs typeface="Liberation Sans" pitchFamily="34"/>
              </a:rPr>
              <a:t>→ </a:t>
            </a:r>
            <a:r>
              <a:rPr lang="fr-FR" sz="1600" b="0" i="0" u="none" strike="noStrike" kern="1200" cap="none" spc="0" baseline="0">
                <a:solidFill>
                  <a:srgbClr val="000000"/>
                </a:solidFill>
                <a:uFillTx/>
                <a:latin typeface="Calibri" pitchFamily="34"/>
                <a:ea typeface="Noto Sans CJK SC" pitchFamily="2"/>
                <a:cs typeface="Calibri" pitchFamily="34"/>
              </a:rPr>
              <a:t>Cut on the angle between the missing nucleon and the neutron </a:t>
            </a:r>
            <a:r>
              <a:rPr lang="fr-FR" sz="1600" b="1" i="0" u="none" strike="noStrike" kern="1200" cap="none" spc="0" baseline="0">
                <a:solidFill>
                  <a:srgbClr val="FF0000"/>
                </a:solidFill>
                <a:uFillTx/>
                <a:latin typeface="Calibri" pitchFamily="34"/>
                <a:ea typeface="Noto Sans CJK SC" pitchFamily="2"/>
                <a:cs typeface="Calibri" pitchFamily="34"/>
              </a:rPr>
              <a:t>&lt; 5 ° </a:t>
            </a:r>
          </a:p>
        </p:txBody>
      </p:sp>
      <p:cxnSp>
        <p:nvCxnSpPr>
          <p:cNvPr id="11" name="Connecteur droit 40">
            <a:extLst>
              <a:ext uri="{FF2B5EF4-FFF2-40B4-BE49-F238E27FC236}">
                <a16:creationId xmlns:a16="http://schemas.microsoft.com/office/drawing/2014/main" id="{4C00592C-A8FB-7EBF-E4E2-94F0362BFD2C}"/>
              </a:ext>
            </a:extLst>
          </p:cNvPr>
          <p:cNvCxnSpPr/>
          <p:nvPr/>
        </p:nvCxnSpPr>
        <p:spPr>
          <a:xfrm flipV="1">
            <a:off x="2755004" y="2672032"/>
            <a:ext cx="0" cy="686806"/>
          </a:xfrm>
          <a:prstGeom prst="straightConnector1">
            <a:avLst/>
          </a:prstGeom>
          <a:noFill/>
          <a:ln w="22229" cap="flat">
            <a:solidFill>
              <a:srgbClr val="000000"/>
            </a:solidFill>
            <a:prstDash val="solid"/>
            <a:miter/>
          </a:ln>
        </p:spPr>
      </p:cxnSp>
      <p:cxnSp>
        <p:nvCxnSpPr>
          <p:cNvPr id="12" name="Connecteur droit 40">
            <a:extLst>
              <a:ext uri="{FF2B5EF4-FFF2-40B4-BE49-F238E27FC236}">
                <a16:creationId xmlns:a16="http://schemas.microsoft.com/office/drawing/2014/main" id="{7FB01881-18D5-35DC-3A7E-88C6ACF35D28}"/>
              </a:ext>
            </a:extLst>
          </p:cNvPr>
          <p:cNvCxnSpPr/>
          <p:nvPr/>
        </p:nvCxnSpPr>
        <p:spPr>
          <a:xfrm flipV="1">
            <a:off x="2291943" y="3523128"/>
            <a:ext cx="369683" cy="489131"/>
          </a:xfrm>
          <a:prstGeom prst="straightConnector1">
            <a:avLst/>
          </a:prstGeom>
          <a:noFill/>
          <a:ln w="22229" cap="flat">
            <a:solidFill>
              <a:srgbClr val="000000"/>
            </a:solidFill>
            <a:prstDash val="solid"/>
            <a:miter/>
          </a:ln>
        </p:spPr>
      </p:cxnSp>
      <p:cxnSp>
        <p:nvCxnSpPr>
          <p:cNvPr id="13" name="Connecteur droit 40">
            <a:extLst>
              <a:ext uri="{FF2B5EF4-FFF2-40B4-BE49-F238E27FC236}">
                <a16:creationId xmlns:a16="http://schemas.microsoft.com/office/drawing/2014/main" id="{3619D058-6F19-04C8-527A-BDD4A37FEEDC}"/>
              </a:ext>
            </a:extLst>
          </p:cNvPr>
          <p:cNvCxnSpPr/>
          <p:nvPr/>
        </p:nvCxnSpPr>
        <p:spPr>
          <a:xfrm flipH="1">
            <a:off x="1304071" y="2130113"/>
            <a:ext cx="921907" cy="935669"/>
          </a:xfrm>
          <a:prstGeom prst="straightConnector1">
            <a:avLst/>
          </a:prstGeom>
          <a:noFill/>
          <a:ln w="22229" cap="sq">
            <a:solidFill>
              <a:srgbClr val="FF0000"/>
            </a:solidFill>
            <a:prstDash val="solid"/>
            <a:miter/>
            <a:headEnd type="arrow"/>
          </a:ln>
        </p:spPr>
      </p:cxnSp>
      <p:cxnSp>
        <p:nvCxnSpPr>
          <p:cNvPr id="14" name="Connecteur droit 40">
            <a:extLst>
              <a:ext uri="{FF2B5EF4-FFF2-40B4-BE49-F238E27FC236}">
                <a16:creationId xmlns:a16="http://schemas.microsoft.com/office/drawing/2014/main" id="{505E019F-CA38-45EA-264E-A7677776A871}"/>
              </a:ext>
            </a:extLst>
          </p:cNvPr>
          <p:cNvCxnSpPr/>
          <p:nvPr/>
        </p:nvCxnSpPr>
        <p:spPr>
          <a:xfrm flipH="1">
            <a:off x="1304071" y="2421120"/>
            <a:ext cx="1238683" cy="644662"/>
          </a:xfrm>
          <a:prstGeom prst="straightConnector1">
            <a:avLst/>
          </a:prstGeom>
          <a:noFill/>
          <a:ln w="22229" cap="flat">
            <a:solidFill>
              <a:srgbClr val="FF0000"/>
            </a:solidFill>
            <a:prstDash val="solid"/>
            <a:miter/>
            <a:headEnd type="arrow"/>
          </a:ln>
        </p:spPr>
      </p:cxnSp>
      <p:sp>
        <p:nvSpPr>
          <p:cNvPr id="15" name="ZoneTexte 41">
            <a:extLst>
              <a:ext uri="{FF2B5EF4-FFF2-40B4-BE49-F238E27FC236}">
                <a16:creationId xmlns:a16="http://schemas.microsoft.com/office/drawing/2014/main" id="{ADFB1EAE-B777-28EA-9A89-C5C0EDC9B261}"/>
              </a:ext>
            </a:extLst>
          </p:cNvPr>
          <p:cNvSpPr txBox="1"/>
          <p:nvPr/>
        </p:nvSpPr>
        <p:spPr>
          <a:xfrm>
            <a:off x="2785317" y="3039182"/>
            <a:ext cx="1694886"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000000"/>
                </a:solidFill>
                <a:uFillTx/>
                <a:latin typeface="Calibri"/>
              </a:rPr>
              <a:t>neutron</a:t>
            </a:r>
          </a:p>
        </p:txBody>
      </p:sp>
      <p:cxnSp>
        <p:nvCxnSpPr>
          <p:cNvPr id="16" name="Connecteur droit 40">
            <a:extLst>
              <a:ext uri="{FF2B5EF4-FFF2-40B4-BE49-F238E27FC236}">
                <a16:creationId xmlns:a16="http://schemas.microsoft.com/office/drawing/2014/main" id="{C6AB5118-3235-52A1-ED29-AB7BF6FE8A6F}"/>
              </a:ext>
            </a:extLst>
          </p:cNvPr>
          <p:cNvCxnSpPr/>
          <p:nvPr/>
        </p:nvCxnSpPr>
        <p:spPr>
          <a:xfrm flipH="1" flipV="1">
            <a:off x="1291708" y="3066147"/>
            <a:ext cx="1400230" cy="110990"/>
          </a:xfrm>
          <a:prstGeom prst="straightConnector1">
            <a:avLst/>
          </a:prstGeom>
          <a:noFill/>
          <a:ln w="22229" cap="flat">
            <a:solidFill>
              <a:srgbClr val="000000"/>
            </a:solidFill>
            <a:prstDash val="solid"/>
            <a:miter/>
            <a:headEnd type="arrow"/>
          </a:ln>
        </p:spPr>
      </p:cxnSp>
      <p:sp>
        <p:nvSpPr>
          <p:cNvPr id="17" name="ZoneTexte 47">
            <a:extLst>
              <a:ext uri="{FF2B5EF4-FFF2-40B4-BE49-F238E27FC236}">
                <a16:creationId xmlns:a16="http://schemas.microsoft.com/office/drawing/2014/main" id="{53F371DB-416F-4A48-90E2-EC1844F0777B}"/>
              </a:ext>
            </a:extLst>
          </p:cNvPr>
          <p:cNvSpPr txBox="1"/>
          <p:nvPr/>
        </p:nvSpPr>
        <p:spPr>
          <a:xfrm>
            <a:off x="2221708" y="1874318"/>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K</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sp>
        <p:nvSpPr>
          <p:cNvPr id="18" name="ZoneTexte 48">
            <a:extLst>
              <a:ext uri="{FF2B5EF4-FFF2-40B4-BE49-F238E27FC236}">
                <a16:creationId xmlns:a16="http://schemas.microsoft.com/office/drawing/2014/main" id="{0E950B38-DBF2-1602-172E-13F7045282CA}"/>
              </a:ext>
            </a:extLst>
          </p:cNvPr>
          <p:cNvSpPr txBox="1"/>
          <p:nvPr/>
        </p:nvSpPr>
        <p:spPr>
          <a:xfrm>
            <a:off x="2608728" y="2126601"/>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K</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cxnSp>
        <p:nvCxnSpPr>
          <p:cNvPr id="19" name="Connecteur droit 40">
            <a:extLst>
              <a:ext uri="{FF2B5EF4-FFF2-40B4-BE49-F238E27FC236}">
                <a16:creationId xmlns:a16="http://schemas.microsoft.com/office/drawing/2014/main" id="{21E95EBF-BDCC-0F6C-6D67-CD5356A34A8F}"/>
              </a:ext>
            </a:extLst>
          </p:cNvPr>
          <p:cNvCxnSpPr/>
          <p:nvPr/>
        </p:nvCxnSpPr>
        <p:spPr>
          <a:xfrm flipH="1">
            <a:off x="1304071" y="2815730"/>
            <a:ext cx="1416991" cy="255190"/>
          </a:xfrm>
          <a:prstGeom prst="straightConnector1">
            <a:avLst/>
          </a:prstGeom>
          <a:noFill/>
          <a:ln w="22229" cap="flat">
            <a:solidFill>
              <a:srgbClr val="FF0000"/>
            </a:solidFill>
            <a:prstDash val="solid"/>
            <a:miter/>
            <a:headEnd type="arrow"/>
          </a:ln>
        </p:spPr>
      </p:cxnSp>
      <p:sp>
        <p:nvSpPr>
          <p:cNvPr id="20" name="ZoneTexte 53">
            <a:extLst>
              <a:ext uri="{FF2B5EF4-FFF2-40B4-BE49-F238E27FC236}">
                <a16:creationId xmlns:a16="http://schemas.microsoft.com/office/drawing/2014/main" id="{EA29AFF2-F468-F983-82F5-09ADEFC9C04A}"/>
              </a:ext>
            </a:extLst>
          </p:cNvPr>
          <p:cNvSpPr txBox="1"/>
          <p:nvPr/>
        </p:nvSpPr>
        <p:spPr>
          <a:xfrm>
            <a:off x="2757400" y="2602226"/>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e</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cxnSp>
        <p:nvCxnSpPr>
          <p:cNvPr id="21" name="Connecteur droit 40">
            <a:extLst>
              <a:ext uri="{FF2B5EF4-FFF2-40B4-BE49-F238E27FC236}">
                <a16:creationId xmlns:a16="http://schemas.microsoft.com/office/drawing/2014/main" id="{6FF80EE3-0778-1E8B-A8D0-423189E55D17}"/>
              </a:ext>
            </a:extLst>
          </p:cNvPr>
          <p:cNvCxnSpPr/>
          <p:nvPr/>
        </p:nvCxnSpPr>
        <p:spPr>
          <a:xfrm flipH="1" flipV="1">
            <a:off x="1291708" y="3065782"/>
            <a:ext cx="997839" cy="781391"/>
          </a:xfrm>
          <a:prstGeom prst="straightConnector1">
            <a:avLst/>
          </a:prstGeom>
          <a:noFill/>
          <a:ln w="22229" cap="flat">
            <a:solidFill>
              <a:srgbClr val="70AD47"/>
            </a:solidFill>
            <a:prstDash val="solid"/>
            <a:miter/>
            <a:headEnd type="arrow"/>
          </a:ln>
        </p:spPr>
      </p:cxnSp>
      <p:sp>
        <p:nvSpPr>
          <p:cNvPr id="22" name="ZoneTexte 60">
            <a:extLst>
              <a:ext uri="{FF2B5EF4-FFF2-40B4-BE49-F238E27FC236}">
                <a16:creationId xmlns:a16="http://schemas.microsoft.com/office/drawing/2014/main" id="{5ECBE6B8-6412-2D83-92F4-9414FD18043E}"/>
              </a:ext>
            </a:extLst>
          </p:cNvPr>
          <p:cNvSpPr txBox="1"/>
          <p:nvPr/>
        </p:nvSpPr>
        <p:spPr>
          <a:xfrm>
            <a:off x="2410815" y="3713835"/>
            <a:ext cx="2239237"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0" cap="none" spc="0" baseline="0">
                <a:solidFill>
                  <a:srgbClr val="70AD47"/>
                </a:solidFill>
                <a:uFillTx/>
                <a:latin typeface="Calibri"/>
                <a:ea typeface="Noto Sans CJK SC" pitchFamily="2"/>
                <a:cs typeface="Calibri" pitchFamily="34"/>
              </a:rPr>
              <a:t>m</a:t>
            </a:r>
            <a:r>
              <a:rPr lang="fr-FR" sz="1600" b="1" i="0" u="none" strike="noStrike" kern="1200" cap="none" spc="0" baseline="0">
                <a:solidFill>
                  <a:srgbClr val="70AD47"/>
                </a:solidFill>
                <a:uFillTx/>
                <a:latin typeface="Calibri"/>
                <a:ea typeface="Noto Sans CJK SC" pitchFamily="2"/>
                <a:cs typeface="Calibri" pitchFamily="34"/>
              </a:rPr>
              <a:t>issing</a:t>
            </a:r>
            <a:r>
              <a:rPr lang="fr-FR" sz="1600" b="1" i="0" u="none" strike="noStrike" kern="0" cap="none" spc="0" baseline="0">
                <a:solidFill>
                  <a:srgbClr val="70AD47"/>
                </a:solidFill>
                <a:uFillTx/>
                <a:latin typeface="Calibri"/>
                <a:ea typeface="Noto Sans CJK SC" pitchFamily="2"/>
                <a:cs typeface="Calibri" pitchFamily="34"/>
              </a:rPr>
              <a:t> </a:t>
            </a:r>
            <a:r>
              <a:rPr lang="fr-FR" sz="1600" b="1" i="0" u="none" strike="noStrike" kern="1200" cap="none" spc="0" baseline="0">
                <a:solidFill>
                  <a:srgbClr val="70AD47"/>
                </a:solidFill>
                <a:uFillTx/>
                <a:latin typeface="Calibri"/>
                <a:ea typeface="Noto Sans CJK SC" pitchFamily="2"/>
                <a:cs typeface="Calibri" pitchFamily="34"/>
              </a:rPr>
              <a:t>nucleon </a:t>
            </a:r>
            <a:endParaRPr lang="fr-FR" sz="1600" b="1" i="0" u="none" strike="noStrike" kern="1200" cap="none" spc="0" baseline="0">
              <a:solidFill>
                <a:srgbClr val="000000"/>
              </a:solidFill>
              <a:uFillTx/>
              <a:latin typeface="Calibri"/>
            </a:endParaRPr>
          </a:p>
        </p:txBody>
      </p:sp>
      <p:cxnSp>
        <p:nvCxnSpPr>
          <p:cNvPr id="23" name="Connecteur droit 40">
            <a:extLst>
              <a:ext uri="{FF2B5EF4-FFF2-40B4-BE49-F238E27FC236}">
                <a16:creationId xmlns:a16="http://schemas.microsoft.com/office/drawing/2014/main" id="{6996ECA0-452F-16B6-ADB1-E19D7AB24E41}"/>
              </a:ext>
            </a:extLst>
          </p:cNvPr>
          <p:cNvCxnSpPr/>
          <p:nvPr/>
        </p:nvCxnSpPr>
        <p:spPr>
          <a:xfrm flipH="1" flipV="1">
            <a:off x="6869951" y="1997945"/>
            <a:ext cx="501621" cy="491801"/>
          </a:xfrm>
          <a:prstGeom prst="straightConnector1">
            <a:avLst/>
          </a:prstGeom>
          <a:noFill/>
          <a:ln w="22229" cap="flat">
            <a:solidFill>
              <a:srgbClr val="000000"/>
            </a:solidFill>
            <a:prstDash val="solid"/>
            <a:miter/>
          </a:ln>
        </p:spPr>
      </p:cxnSp>
      <p:cxnSp>
        <p:nvCxnSpPr>
          <p:cNvPr id="24" name="Connecteur droit 40">
            <a:extLst>
              <a:ext uri="{FF2B5EF4-FFF2-40B4-BE49-F238E27FC236}">
                <a16:creationId xmlns:a16="http://schemas.microsoft.com/office/drawing/2014/main" id="{A7A64A94-B1CD-AD77-9C35-D6678B7DE9BD}"/>
              </a:ext>
            </a:extLst>
          </p:cNvPr>
          <p:cNvCxnSpPr/>
          <p:nvPr/>
        </p:nvCxnSpPr>
        <p:spPr>
          <a:xfrm flipV="1">
            <a:off x="7464951" y="2631899"/>
            <a:ext cx="0" cy="686806"/>
          </a:xfrm>
          <a:prstGeom prst="straightConnector1">
            <a:avLst/>
          </a:prstGeom>
          <a:noFill/>
          <a:ln w="22229" cap="flat">
            <a:solidFill>
              <a:srgbClr val="000000"/>
            </a:solidFill>
            <a:prstDash val="solid"/>
            <a:miter/>
          </a:ln>
        </p:spPr>
      </p:cxnSp>
      <p:cxnSp>
        <p:nvCxnSpPr>
          <p:cNvPr id="25" name="Connecteur droit 40">
            <a:extLst>
              <a:ext uri="{FF2B5EF4-FFF2-40B4-BE49-F238E27FC236}">
                <a16:creationId xmlns:a16="http://schemas.microsoft.com/office/drawing/2014/main" id="{DC25BD56-4FAC-DFD0-B618-D722BE0725DD}"/>
              </a:ext>
            </a:extLst>
          </p:cNvPr>
          <p:cNvCxnSpPr/>
          <p:nvPr/>
        </p:nvCxnSpPr>
        <p:spPr>
          <a:xfrm flipV="1">
            <a:off x="7001889" y="3482995"/>
            <a:ext cx="369683" cy="489140"/>
          </a:xfrm>
          <a:prstGeom prst="straightConnector1">
            <a:avLst/>
          </a:prstGeom>
          <a:noFill/>
          <a:ln w="22229" cap="flat">
            <a:solidFill>
              <a:srgbClr val="000000"/>
            </a:solidFill>
            <a:prstDash val="solid"/>
            <a:miter/>
          </a:ln>
        </p:spPr>
      </p:cxnSp>
      <p:cxnSp>
        <p:nvCxnSpPr>
          <p:cNvPr id="26" name="Connecteur droit 40">
            <a:extLst>
              <a:ext uri="{FF2B5EF4-FFF2-40B4-BE49-F238E27FC236}">
                <a16:creationId xmlns:a16="http://schemas.microsoft.com/office/drawing/2014/main" id="{A5A167E8-EDDC-3A69-638C-01EFD4738DFF}"/>
              </a:ext>
            </a:extLst>
          </p:cNvPr>
          <p:cNvCxnSpPr/>
          <p:nvPr/>
        </p:nvCxnSpPr>
        <p:spPr>
          <a:xfrm flipH="1">
            <a:off x="6014017" y="2089980"/>
            <a:ext cx="921899" cy="949202"/>
          </a:xfrm>
          <a:prstGeom prst="straightConnector1">
            <a:avLst/>
          </a:prstGeom>
          <a:noFill/>
          <a:ln w="22229" cap="sq">
            <a:solidFill>
              <a:srgbClr val="FF0000"/>
            </a:solidFill>
            <a:prstDash val="solid"/>
            <a:miter/>
            <a:headEnd type="arrow"/>
          </a:ln>
        </p:spPr>
      </p:cxnSp>
      <p:cxnSp>
        <p:nvCxnSpPr>
          <p:cNvPr id="27" name="Connecteur droit 40">
            <a:extLst>
              <a:ext uri="{FF2B5EF4-FFF2-40B4-BE49-F238E27FC236}">
                <a16:creationId xmlns:a16="http://schemas.microsoft.com/office/drawing/2014/main" id="{90C8878D-9132-4C1E-1197-3D6AD6BBA116}"/>
              </a:ext>
            </a:extLst>
          </p:cNvPr>
          <p:cNvCxnSpPr/>
          <p:nvPr/>
        </p:nvCxnSpPr>
        <p:spPr>
          <a:xfrm flipH="1">
            <a:off x="6014017" y="2380987"/>
            <a:ext cx="1238683" cy="658195"/>
          </a:xfrm>
          <a:prstGeom prst="straightConnector1">
            <a:avLst/>
          </a:prstGeom>
          <a:noFill/>
          <a:ln w="22229" cap="flat">
            <a:solidFill>
              <a:srgbClr val="FF0000"/>
            </a:solidFill>
            <a:prstDash val="solid"/>
            <a:miter/>
            <a:headEnd type="arrow"/>
          </a:ln>
        </p:spPr>
      </p:cxnSp>
      <p:sp>
        <p:nvSpPr>
          <p:cNvPr id="28" name="ZoneTexte 67">
            <a:extLst>
              <a:ext uri="{FF2B5EF4-FFF2-40B4-BE49-F238E27FC236}">
                <a16:creationId xmlns:a16="http://schemas.microsoft.com/office/drawing/2014/main" id="{E4E1E596-3565-19FF-6508-D87AFB237119}"/>
              </a:ext>
            </a:extLst>
          </p:cNvPr>
          <p:cNvSpPr txBox="1"/>
          <p:nvPr/>
        </p:nvSpPr>
        <p:spPr>
          <a:xfrm>
            <a:off x="7481977" y="2931429"/>
            <a:ext cx="1374087"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000000"/>
                </a:solidFill>
                <a:uFillTx/>
                <a:latin typeface="Calibri"/>
              </a:rPr>
              <a:t>neutron</a:t>
            </a:r>
          </a:p>
        </p:txBody>
      </p:sp>
      <p:cxnSp>
        <p:nvCxnSpPr>
          <p:cNvPr id="29" name="Connecteur droit 40">
            <a:extLst>
              <a:ext uri="{FF2B5EF4-FFF2-40B4-BE49-F238E27FC236}">
                <a16:creationId xmlns:a16="http://schemas.microsoft.com/office/drawing/2014/main" id="{249B3E58-D2A0-7CA8-E23C-65BCD80C163A}"/>
              </a:ext>
            </a:extLst>
          </p:cNvPr>
          <p:cNvCxnSpPr/>
          <p:nvPr/>
        </p:nvCxnSpPr>
        <p:spPr>
          <a:xfrm flipH="1" flipV="1">
            <a:off x="6001655" y="3026014"/>
            <a:ext cx="1369917" cy="88158"/>
          </a:xfrm>
          <a:prstGeom prst="straightConnector1">
            <a:avLst/>
          </a:prstGeom>
          <a:noFill/>
          <a:ln w="22229" cap="flat">
            <a:solidFill>
              <a:srgbClr val="000000"/>
            </a:solidFill>
            <a:prstDash val="solid"/>
            <a:miter/>
            <a:headEnd type="arrow"/>
          </a:ln>
        </p:spPr>
      </p:cxnSp>
      <p:sp>
        <p:nvSpPr>
          <p:cNvPr id="30" name="ZoneTexte 69">
            <a:extLst>
              <a:ext uri="{FF2B5EF4-FFF2-40B4-BE49-F238E27FC236}">
                <a16:creationId xmlns:a16="http://schemas.microsoft.com/office/drawing/2014/main" id="{4A543BB1-87F8-6532-BC57-15E1BE94BD77}"/>
              </a:ext>
            </a:extLst>
          </p:cNvPr>
          <p:cNvSpPr txBox="1"/>
          <p:nvPr/>
        </p:nvSpPr>
        <p:spPr>
          <a:xfrm>
            <a:off x="6931645" y="1834185"/>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K</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sp>
        <p:nvSpPr>
          <p:cNvPr id="31" name="ZoneTexte 70">
            <a:extLst>
              <a:ext uri="{FF2B5EF4-FFF2-40B4-BE49-F238E27FC236}">
                <a16:creationId xmlns:a16="http://schemas.microsoft.com/office/drawing/2014/main" id="{7ECC19A3-52A5-09CB-D398-1B958AC05DC3}"/>
              </a:ext>
            </a:extLst>
          </p:cNvPr>
          <p:cNvSpPr txBox="1"/>
          <p:nvPr/>
        </p:nvSpPr>
        <p:spPr>
          <a:xfrm>
            <a:off x="7318674" y="2086468"/>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K</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cxnSp>
        <p:nvCxnSpPr>
          <p:cNvPr id="32" name="Connecteur droit 40">
            <a:extLst>
              <a:ext uri="{FF2B5EF4-FFF2-40B4-BE49-F238E27FC236}">
                <a16:creationId xmlns:a16="http://schemas.microsoft.com/office/drawing/2014/main" id="{BE04C3B0-7066-7C67-98AC-06475702D872}"/>
              </a:ext>
            </a:extLst>
          </p:cNvPr>
          <p:cNvCxnSpPr/>
          <p:nvPr/>
        </p:nvCxnSpPr>
        <p:spPr>
          <a:xfrm flipH="1">
            <a:off x="6014017" y="2775597"/>
            <a:ext cx="1416991" cy="255190"/>
          </a:xfrm>
          <a:prstGeom prst="straightConnector1">
            <a:avLst/>
          </a:prstGeom>
          <a:noFill/>
          <a:ln w="22229" cap="flat">
            <a:solidFill>
              <a:srgbClr val="FF0000"/>
            </a:solidFill>
            <a:prstDash val="solid"/>
            <a:miter/>
            <a:headEnd type="arrow"/>
          </a:ln>
        </p:spPr>
      </p:cxnSp>
      <p:sp>
        <p:nvSpPr>
          <p:cNvPr id="33" name="ZoneTexte 72">
            <a:extLst>
              <a:ext uri="{FF2B5EF4-FFF2-40B4-BE49-F238E27FC236}">
                <a16:creationId xmlns:a16="http://schemas.microsoft.com/office/drawing/2014/main" id="{C7C29A6A-027E-7BF1-B12C-B711C9F97D64}"/>
              </a:ext>
            </a:extLst>
          </p:cNvPr>
          <p:cNvSpPr txBox="1"/>
          <p:nvPr/>
        </p:nvSpPr>
        <p:spPr>
          <a:xfrm>
            <a:off x="7467347" y="2562093"/>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e</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cxnSp>
        <p:nvCxnSpPr>
          <p:cNvPr id="34" name="Connecteur droit 40">
            <a:extLst>
              <a:ext uri="{FF2B5EF4-FFF2-40B4-BE49-F238E27FC236}">
                <a16:creationId xmlns:a16="http://schemas.microsoft.com/office/drawing/2014/main" id="{D0B5FB0C-48D0-2159-82BD-E0E4DCC209F1}"/>
              </a:ext>
            </a:extLst>
          </p:cNvPr>
          <p:cNvCxnSpPr/>
          <p:nvPr/>
        </p:nvCxnSpPr>
        <p:spPr>
          <a:xfrm flipH="1" flipV="1">
            <a:off x="6001655" y="3025649"/>
            <a:ext cx="1369917" cy="175007"/>
          </a:xfrm>
          <a:prstGeom prst="straightConnector1">
            <a:avLst/>
          </a:prstGeom>
          <a:noFill/>
          <a:ln w="22229" cap="flat">
            <a:solidFill>
              <a:srgbClr val="70AD47"/>
            </a:solidFill>
            <a:prstDash val="solid"/>
            <a:miter/>
            <a:headEnd type="arrow"/>
          </a:ln>
        </p:spPr>
      </p:cxnSp>
      <p:sp>
        <p:nvSpPr>
          <p:cNvPr id="35" name="ZoneTexte 74">
            <a:extLst>
              <a:ext uri="{FF2B5EF4-FFF2-40B4-BE49-F238E27FC236}">
                <a16:creationId xmlns:a16="http://schemas.microsoft.com/office/drawing/2014/main" id="{E37A8507-4D73-6E87-7B1D-6D2A6A5E5D70}"/>
              </a:ext>
            </a:extLst>
          </p:cNvPr>
          <p:cNvSpPr txBox="1"/>
          <p:nvPr/>
        </p:nvSpPr>
        <p:spPr>
          <a:xfrm>
            <a:off x="7464951" y="3158429"/>
            <a:ext cx="2239237"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0" cap="none" spc="0" baseline="0">
                <a:solidFill>
                  <a:srgbClr val="70AD47"/>
                </a:solidFill>
                <a:uFillTx/>
                <a:latin typeface="Calibri"/>
                <a:ea typeface="Noto Sans CJK SC" pitchFamily="2"/>
                <a:cs typeface="Calibri" pitchFamily="34"/>
              </a:rPr>
              <a:t>m</a:t>
            </a:r>
            <a:r>
              <a:rPr lang="fr-FR" sz="1600" b="1" i="0" u="none" strike="noStrike" kern="1200" cap="none" spc="0" baseline="0">
                <a:solidFill>
                  <a:srgbClr val="70AD47"/>
                </a:solidFill>
                <a:uFillTx/>
                <a:latin typeface="Calibri"/>
                <a:ea typeface="Noto Sans CJK SC" pitchFamily="2"/>
                <a:cs typeface="Calibri" pitchFamily="34"/>
              </a:rPr>
              <a:t>issing nucleon </a:t>
            </a:r>
            <a:endParaRPr lang="fr-FR" sz="1600" b="1" i="0" u="none" strike="noStrike" kern="1200" cap="none" spc="0" baseline="0">
              <a:solidFill>
                <a:srgbClr val="000000"/>
              </a:solidFill>
              <a:uFillTx/>
              <a:latin typeface="Calibri"/>
            </a:endParaRPr>
          </a:p>
        </p:txBody>
      </p:sp>
      <p:sp>
        <p:nvSpPr>
          <p:cNvPr id="36" name="ZoneTexte 75">
            <a:extLst>
              <a:ext uri="{FF2B5EF4-FFF2-40B4-BE49-F238E27FC236}">
                <a16:creationId xmlns:a16="http://schemas.microsoft.com/office/drawing/2014/main" id="{301D7198-B6D8-ECCE-9599-FF8CABE92588}"/>
              </a:ext>
            </a:extLst>
          </p:cNvPr>
          <p:cNvSpPr txBox="1"/>
          <p:nvPr/>
        </p:nvSpPr>
        <p:spPr>
          <a:xfrm>
            <a:off x="1670846" y="4287859"/>
            <a:ext cx="1669109"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Not a good event </a:t>
            </a:r>
          </a:p>
        </p:txBody>
      </p:sp>
      <p:sp>
        <p:nvSpPr>
          <p:cNvPr id="37" name="ZoneTexte 76">
            <a:extLst>
              <a:ext uri="{FF2B5EF4-FFF2-40B4-BE49-F238E27FC236}">
                <a16:creationId xmlns:a16="http://schemas.microsoft.com/office/drawing/2014/main" id="{81DD4040-A41B-E31E-1393-822F76FF9C1F}"/>
              </a:ext>
            </a:extLst>
          </p:cNvPr>
          <p:cNvSpPr txBox="1"/>
          <p:nvPr/>
        </p:nvSpPr>
        <p:spPr>
          <a:xfrm>
            <a:off x="6686614" y="4287859"/>
            <a:ext cx="1277206"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Good event</a:t>
            </a:r>
          </a:p>
        </p:txBody>
      </p:sp>
      <p:sp>
        <p:nvSpPr>
          <p:cNvPr id="38" name="ZoneTexte 39">
            <a:extLst>
              <a:ext uri="{FF2B5EF4-FFF2-40B4-BE49-F238E27FC236}">
                <a16:creationId xmlns:a16="http://schemas.microsoft.com/office/drawing/2014/main" id="{B16A10D5-EE54-80DE-9DCD-CB6BA0D142DC}"/>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39" name="ZoneTexte 41">
            <a:extLst>
              <a:ext uri="{FF2B5EF4-FFF2-40B4-BE49-F238E27FC236}">
                <a16:creationId xmlns:a16="http://schemas.microsoft.com/office/drawing/2014/main" id="{45DD6911-AAFF-D3D5-FDB5-0B43D2D29AAD}"/>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61">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74657365-F31B-F156-F993-D2F965882CD8}"/>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C1C6FAE0-D86B-530B-97E8-5B1AB144F95E}"/>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330AB1C1-7882-F099-0BA3-1F6EAAC0CD46}"/>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541F6D15-0BA0-4FF1-277E-056E74BD289A}"/>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EEB2885A-5D6E-CAAE-221E-CF8981802B92}"/>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7</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0F90571D-AA96-FEBE-9A96-5E14E683BD52}"/>
              </a:ext>
            </a:extLst>
          </p:cNvPr>
          <p:cNvSpPr txBox="1"/>
          <p:nvPr/>
        </p:nvSpPr>
        <p:spPr>
          <a:xfrm>
            <a:off x="170636" y="199083"/>
            <a:ext cx="9047256" cy="466554"/>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Calibri" pitchFamily="34"/>
                <a:ea typeface="Noto Sans CJK SC" pitchFamily="2"/>
                <a:cs typeface="Calibri" pitchFamily="34"/>
              </a:rPr>
              <a:t>Cut on the angle between missing nucleon and detected neutron </a:t>
            </a:r>
            <a:endParaRPr lang="fr-FR" sz="2400" b="0" i="0" u="none" strike="noStrike" kern="0" cap="none" spc="0" baseline="0">
              <a:solidFill>
                <a:srgbClr val="FFFFFF"/>
              </a:solidFill>
              <a:uFillTx/>
              <a:latin typeface="Liberation Sans" pitchFamily="18"/>
              <a:ea typeface="Noto Sans CJK SC" pitchFamily="2"/>
              <a:cs typeface="Noto Sans" pitchFamily="2"/>
            </a:endParaRPr>
          </a:p>
        </p:txBody>
      </p:sp>
      <p:sp>
        <p:nvSpPr>
          <p:cNvPr id="8" name="ZoneTexte 9">
            <a:extLst>
              <a:ext uri="{FF2B5EF4-FFF2-40B4-BE49-F238E27FC236}">
                <a16:creationId xmlns:a16="http://schemas.microsoft.com/office/drawing/2014/main" id="{79B2F25F-6303-7125-3530-E1A6CF0AA805}"/>
              </a:ext>
            </a:extLst>
          </p:cNvPr>
          <p:cNvSpPr txBox="1"/>
          <p:nvPr/>
        </p:nvSpPr>
        <p:spPr>
          <a:xfrm>
            <a:off x="1406118" y="4917121"/>
            <a:ext cx="2053769"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Without the angle cut </a:t>
            </a:r>
          </a:p>
        </p:txBody>
      </p:sp>
      <p:sp>
        <p:nvSpPr>
          <p:cNvPr id="9" name="ZoneTexte 10">
            <a:extLst>
              <a:ext uri="{FF2B5EF4-FFF2-40B4-BE49-F238E27FC236}">
                <a16:creationId xmlns:a16="http://schemas.microsoft.com/office/drawing/2014/main" id="{0FFAF9C3-36A2-B704-FA43-DFA7FBFCD76D}"/>
              </a:ext>
            </a:extLst>
          </p:cNvPr>
          <p:cNvSpPr txBox="1"/>
          <p:nvPr/>
        </p:nvSpPr>
        <p:spPr>
          <a:xfrm>
            <a:off x="6916521" y="4917121"/>
            <a:ext cx="1768431"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the angle cut </a:t>
            </a:r>
          </a:p>
        </p:txBody>
      </p:sp>
      <p:cxnSp>
        <p:nvCxnSpPr>
          <p:cNvPr id="10" name="Connecteur droit 40">
            <a:extLst>
              <a:ext uri="{FF2B5EF4-FFF2-40B4-BE49-F238E27FC236}">
                <a16:creationId xmlns:a16="http://schemas.microsoft.com/office/drawing/2014/main" id="{787EB831-6F2F-FC90-70C3-44297659E563}"/>
              </a:ext>
            </a:extLst>
          </p:cNvPr>
          <p:cNvCxnSpPr/>
          <p:nvPr/>
        </p:nvCxnSpPr>
        <p:spPr>
          <a:xfrm flipH="1">
            <a:off x="4678070" y="2944816"/>
            <a:ext cx="362239" cy="0"/>
          </a:xfrm>
          <a:prstGeom prst="straightConnector1">
            <a:avLst/>
          </a:prstGeom>
          <a:noFill/>
          <a:ln w="44448" cap="flat">
            <a:solidFill>
              <a:srgbClr val="FF0000"/>
            </a:solidFill>
            <a:prstDash val="solid"/>
            <a:miter/>
            <a:headEnd type="arrow"/>
          </a:ln>
        </p:spPr>
      </p:cxnSp>
      <p:pic>
        <p:nvPicPr>
          <p:cNvPr id="11" name="Image 15">
            <a:extLst>
              <a:ext uri="{FF2B5EF4-FFF2-40B4-BE49-F238E27FC236}">
                <a16:creationId xmlns:a16="http://schemas.microsoft.com/office/drawing/2014/main" id="{753C8D94-4595-2FE0-7610-98CD4F1EF670}"/>
              </a:ext>
            </a:extLst>
          </p:cNvPr>
          <p:cNvPicPr>
            <a:picLocks noChangeAspect="1"/>
          </p:cNvPicPr>
          <p:nvPr/>
        </p:nvPicPr>
        <p:blipFill>
          <a:blip r:embed="rId3"/>
          <a:stretch>
            <a:fillRect/>
          </a:stretch>
        </p:blipFill>
        <p:spPr>
          <a:xfrm>
            <a:off x="5213451" y="1218758"/>
            <a:ext cx="4585496" cy="3457922"/>
          </a:xfrm>
          <a:prstGeom prst="rect">
            <a:avLst/>
          </a:prstGeom>
          <a:noFill/>
          <a:ln cap="flat">
            <a:noFill/>
          </a:ln>
        </p:spPr>
      </p:pic>
      <p:pic>
        <p:nvPicPr>
          <p:cNvPr id="12" name="Image 17">
            <a:extLst>
              <a:ext uri="{FF2B5EF4-FFF2-40B4-BE49-F238E27FC236}">
                <a16:creationId xmlns:a16="http://schemas.microsoft.com/office/drawing/2014/main" id="{FB6268F1-82BC-FE12-504C-36D618CD6C6F}"/>
              </a:ext>
            </a:extLst>
          </p:cNvPr>
          <p:cNvPicPr>
            <a:picLocks noChangeAspect="1"/>
          </p:cNvPicPr>
          <p:nvPr/>
        </p:nvPicPr>
        <p:blipFill>
          <a:blip r:embed="rId4"/>
          <a:stretch>
            <a:fillRect/>
          </a:stretch>
        </p:blipFill>
        <p:spPr>
          <a:xfrm>
            <a:off x="70692" y="1218758"/>
            <a:ext cx="4585505" cy="3457913"/>
          </a:xfrm>
          <a:prstGeom prst="rect">
            <a:avLst/>
          </a:prstGeom>
          <a:noFill/>
          <a:ln cap="flat">
            <a:noFill/>
          </a:ln>
        </p:spPr>
      </p:pic>
      <p:sp>
        <p:nvSpPr>
          <p:cNvPr id="13" name="ZoneTexte 14">
            <a:extLst>
              <a:ext uri="{FF2B5EF4-FFF2-40B4-BE49-F238E27FC236}">
                <a16:creationId xmlns:a16="http://schemas.microsoft.com/office/drawing/2014/main" id="{185BCE05-B300-B649-9814-7C3A722CC8B7}"/>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4" name="ZoneTexte 15">
            <a:extLst>
              <a:ext uri="{FF2B5EF4-FFF2-40B4-BE49-F238E27FC236}">
                <a16:creationId xmlns:a16="http://schemas.microsoft.com/office/drawing/2014/main" id="{9C89DC04-7568-46D3-4D46-317DAB90A1E7}"/>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62">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E9530B8A-A8A2-B7F6-5013-5D712235155F}"/>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5352A29B-1E41-5DBF-B7D0-440727A50602}"/>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F05DFA99-F6C7-62D6-20BA-9191F96FEFF4}"/>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3D3E9010-2621-AD29-78B5-B49EA5561C17}"/>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A0F631BE-73E0-D7C7-E0F0-B66DCBAA8112}"/>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8</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B68336A1-A74F-12B7-20EC-80A913F9A154}"/>
              </a:ext>
            </a:extLst>
          </p:cNvPr>
          <p:cNvSpPr txBox="1"/>
          <p:nvPr/>
        </p:nvSpPr>
        <p:spPr>
          <a:xfrm>
            <a:off x="170636" y="199083"/>
            <a:ext cx="9335502" cy="466554"/>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Calibri" pitchFamily="34"/>
                <a:ea typeface="Noto Sans CJK SC" pitchFamily="2"/>
                <a:cs typeface="Calibri" pitchFamily="34"/>
              </a:rPr>
              <a:t>Cut on the angle between missing nucleon and detected neutron </a:t>
            </a:r>
            <a:endParaRPr lang="fr-FR" sz="2400" b="0" i="0" u="none" strike="noStrike" kern="0" cap="none" spc="0" baseline="0">
              <a:solidFill>
                <a:srgbClr val="FFFFFF"/>
              </a:solidFill>
              <a:uFillTx/>
              <a:latin typeface="Liberation Sans" pitchFamily="18"/>
              <a:ea typeface="Noto Sans CJK SC" pitchFamily="2"/>
              <a:cs typeface="Noto Sans" pitchFamily="2"/>
            </a:endParaRPr>
          </a:p>
        </p:txBody>
      </p:sp>
      <p:sp>
        <p:nvSpPr>
          <p:cNvPr id="8" name="ZoneTexte 9">
            <a:extLst>
              <a:ext uri="{FF2B5EF4-FFF2-40B4-BE49-F238E27FC236}">
                <a16:creationId xmlns:a16="http://schemas.microsoft.com/office/drawing/2014/main" id="{6743B755-1577-D4BB-CA51-D29A3FA7B40A}"/>
              </a:ext>
            </a:extLst>
          </p:cNvPr>
          <p:cNvSpPr txBox="1"/>
          <p:nvPr/>
        </p:nvSpPr>
        <p:spPr>
          <a:xfrm>
            <a:off x="1012926" y="4744455"/>
            <a:ext cx="2053769"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Without the angle cut </a:t>
            </a:r>
          </a:p>
        </p:txBody>
      </p:sp>
      <p:sp>
        <p:nvSpPr>
          <p:cNvPr id="9" name="ZoneTexte 10">
            <a:extLst>
              <a:ext uri="{FF2B5EF4-FFF2-40B4-BE49-F238E27FC236}">
                <a16:creationId xmlns:a16="http://schemas.microsoft.com/office/drawing/2014/main" id="{63CB8A7D-4ABF-617B-3B05-825557658C8E}"/>
              </a:ext>
            </a:extLst>
          </p:cNvPr>
          <p:cNvSpPr txBox="1"/>
          <p:nvPr/>
        </p:nvSpPr>
        <p:spPr>
          <a:xfrm>
            <a:off x="7013932" y="4744455"/>
            <a:ext cx="1768431"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the angle cut </a:t>
            </a:r>
          </a:p>
        </p:txBody>
      </p:sp>
      <p:cxnSp>
        <p:nvCxnSpPr>
          <p:cNvPr id="10" name="Connecteur droit 40">
            <a:extLst>
              <a:ext uri="{FF2B5EF4-FFF2-40B4-BE49-F238E27FC236}">
                <a16:creationId xmlns:a16="http://schemas.microsoft.com/office/drawing/2014/main" id="{E194CFC1-3589-292B-085C-67F1CEE6806A}"/>
              </a:ext>
            </a:extLst>
          </p:cNvPr>
          <p:cNvCxnSpPr/>
          <p:nvPr/>
        </p:nvCxnSpPr>
        <p:spPr>
          <a:xfrm flipH="1">
            <a:off x="4813282" y="3127696"/>
            <a:ext cx="362240" cy="0"/>
          </a:xfrm>
          <a:prstGeom prst="straightConnector1">
            <a:avLst/>
          </a:prstGeom>
          <a:noFill/>
          <a:ln w="44448" cap="flat">
            <a:solidFill>
              <a:srgbClr val="FF0000"/>
            </a:solidFill>
            <a:prstDash val="solid"/>
            <a:miter/>
            <a:headEnd type="arrow"/>
          </a:ln>
        </p:spPr>
      </p:cxnSp>
      <p:pic>
        <p:nvPicPr>
          <p:cNvPr id="11" name="Image 15">
            <a:extLst>
              <a:ext uri="{FF2B5EF4-FFF2-40B4-BE49-F238E27FC236}">
                <a16:creationId xmlns:a16="http://schemas.microsoft.com/office/drawing/2014/main" id="{C4B99BD8-C12D-3DE6-981D-BE5D36B78D74}"/>
              </a:ext>
            </a:extLst>
          </p:cNvPr>
          <p:cNvPicPr>
            <a:picLocks noChangeAspect="1"/>
          </p:cNvPicPr>
          <p:nvPr/>
        </p:nvPicPr>
        <p:blipFill>
          <a:blip r:embed="rId3"/>
          <a:stretch>
            <a:fillRect/>
          </a:stretch>
        </p:blipFill>
        <p:spPr>
          <a:xfrm>
            <a:off x="138010" y="1197242"/>
            <a:ext cx="4611511" cy="3477536"/>
          </a:xfrm>
          <a:prstGeom prst="rect">
            <a:avLst/>
          </a:prstGeom>
          <a:noFill/>
          <a:ln cap="flat">
            <a:noFill/>
          </a:ln>
        </p:spPr>
      </p:pic>
      <p:pic>
        <p:nvPicPr>
          <p:cNvPr id="12" name="Image 17">
            <a:extLst>
              <a:ext uri="{FF2B5EF4-FFF2-40B4-BE49-F238E27FC236}">
                <a16:creationId xmlns:a16="http://schemas.microsoft.com/office/drawing/2014/main" id="{D37E34BF-352E-947E-FE9C-80637E61B79E}"/>
              </a:ext>
            </a:extLst>
          </p:cNvPr>
          <p:cNvPicPr>
            <a:picLocks noChangeAspect="1"/>
          </p:cNvPicPr>
          <p:nvPr/>
        </p:nvPicPr>
        <p:blipFill>
          <a:blip r:embed="rId4"/>
          <a:stretch>
            <a:fillRect/>
          </a:stretch>
        </p:blipFill>
        <p:spPr>
          <a:xfrm>
            <a:off x="5239274" y="1189597"/>
            <a:ext cx="4703335" cy="3601885"/>
          </a:xfrm>
          <a:prstGeom prst="rect">
            <a:avLst/>
          </a:prstGeom>
          <a:noFill/>
          <a:ln cap="flat">
            <a:noFill/>
          </a:ln>
        </p:spPr>
      </p:pic>
      <p:sp>
        <p:nvSpPr>
          <p:cNvPr id="13" name="ZoneTexte 14">
            <a:extLst>
              <a:ext uri="{FF2B5EF4-FFF2-40B4-BE49-F238E27FC236}">
                <a16:creationId xmlns:a16="http://schemas.microsoft.com/office/drawing/2014/main" id="{78EFC825-5AFC-E51C-4547-8041A9D6E6DE}"/>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4" name="ZoneTexte 15">
            <a:extLst>
              <a:ext uri="{FF2B5EF4-FFF2-40B4-BE49-F238E27FC236}">
                <a16:creationId xmlns:a16="http://schemas.microsoft.com/office/drawing/2014/main" id="{DF3A3CD5-DFBA-D67E-84E9-5DE705B27542}"/>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63">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2EE48A1B-051A-A8CA-9676-A1BB3EC67B91}"/>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D0B739FA-9CEB-68FD-0CF7-07A82A890D10}"/>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6B4E802A-F047-49F5-E8B7-8AAAC38F6B3E}"/>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84EADAB8-64B8-3751-49DA-6DC209C5A9BB}"/>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92BF46E5-C70E-FAB4-A73D-611A958BC61E}"/>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9</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F0BE3A1D-4EF3-382E-B5A4-9540F2D593DB}"/>
              </a:ext>
            </a:extLst>
          </p:cNvPr>
          <p:cNvSpPr txBox="1"/>
          <p:nvPr/>
        </p:nvSpPr>
        <p:spPr>
          <a:xfrm>
            <a:off x="170636" y="199083"/>
            <a:ext cx="9823106" cy="466554"/>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Calibri" pitchFamily="34"/>
                <a:ea typeface="Noto Sans CJK SC" pitchFamily="2"/>
                <a:cs typeface="Calibri" pitchFamily="34"/>
              </a:rPr>
              <a:t>Cut on the angle between missing nucleon and detected neutron </a:t>
            </a:r>
            <a:endParaRPr lang="fr-FR" sz="2400" b="0" i="0" u="none" strike="noStrike" kern="0" cap="none" spc="0" baseline="0">
              <a:solidFill>
                <a:srgbClr val="FFFFFF"/>
              </a:solidFill>
              <a:uFillTx/>
              <a:latin typeface="Liberation Sans" pitchFamily="18"/>
              <a:ea typeface="Noto Sans CJK SC" pitchFamily="2"/>
              <a:cs typeface="Noto Sans" pitchFamily="2"/>
            </a:endParaRPr>
          </a:p>
        </p:txBody>
      </p:sp>
      <p:sp>
        <p:nvSpPr>
          <p:cNvPr id="8" name="ZoneTexte 9">
            <a:extLst>
              <a:ext uri="{FF2B5EF4-FFF2-40B4-BE49-F238E27FC236}">
                <a16:creationId xmlns:a16="http://schemas.microsoft.com/office/drawing/2014/main" id="{E018A5FC-4D88-E95D-065B-6282BFC5304D}"/>
              </a:ext>
            </a:extLst>
          </p:cNvPr>
          <p:cNvSpPr txBox="1"/>
          <p:nvPr/>
        </p:nvSpPr>
        <p:spPr>
          <a:xfrm>
            <a:off x="1133124" y="4760805"/>
            <a:ext cx="2053769"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Without the angle cut </a:t>
            </a:r>
          </a:p>
        </p:txBody>
      </p:sp>
      <p:sp>
        <p:nvSpPr>
          <p:cNvPr id="9" name="ZoneTexte 10">
            <a:extLst>
              <a:ext uri="{FF2B5EF4-FFF2-40B4-BE49-F238E27FC236}">
                <a16:creationId xmlns:a16="http://schemas.microsoft.com/office/drawing/2014/main" id="{0CC82ECA-32C3-3F7E-9D4E-3E0AE8A4B9D8}"/>
              </a:ext>
            </a:extLst>
          </p:cNvPr>
          <p:cNvSpPr txBox="1"/>
          <p:nvPr/>
        </p:nvSpPr>
        <p:spPr>
          <a:xfrm>
            <a:off x="7035786" y="4798716"/>
            <a:ext cx="1768431"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the angle cut </a:t>
            </a:r>
          </a:p>
        </p:txBody>
      </p:sp>
      <p:cxnSp>
        <p:nvCxnSpPr>
          <p:cNvPr id="10" name="Connecteur droit 40">
            <a:extLst>
              <a:ext uri="{FF2B5EF4-FFF2-40B4-BE49-F238E27FC236}">
                <a16:creationId xmlns:a16="http://schemas.microsoft.com/office/drawing/2014/main" id="{09CF757E-1F1F-DB5E-369F-003BFF44E52D}"/>
              </a:ext>
            </a:extLst>
          </p:cNvPr>
          <p:cNvCxnSpPr/>
          <p:nvPr/>
        </p:nvCxnSpPr>
        <p:spPr>
          <a:xfrm flipH="1">
            <a:off x="4813282" y="3127696"/>
            <a:ext cx="362240" cy="0"/>
          </a:xfrm>
          <a:prstGeom prst="straightConnector1">
            <a:avLst/>
          </a:prstGeom>
          <a:noFill/>
          <a:ln w="44448" cap="flat">
            <a:solidFill>
              <a:srgbClr val="FF0000"/>
            </a:solidFill>
            <a:prstDash val="solid"/>
            <a:miter/>
            <a:headEnd type="arrow"/>
          </a:ln>
        </p:spPr>
      </p:cxnSp>
      <p:pic>
        <p:nvPicPr>
          <p:cNvPr id="11" name="Image 15">
            <a:extLst>
              <a:ext uri="{FF2B5EF4-FFF2-40B4-BE49-F238E27FC236}">
                <a16:creationId xmlns:a16="http://schemas.microsoft.com/office/drawing/2014/main" id="{D99E72B8-D939-2E07-315E-1BA667F32181}"/>
              </a:ext>
            </a:extLst>
          </p:cNvPr>
          <p:cNvPicPr>
            <a:picLocks noChangeAspect="1"/>
          </p:cNvPicPr>
          <p:nvPr/>
        </p:nvPicPr>
        <p:blipFill>
          <a:blip r:embed="rId3"/>
          <a:stretch>
            <a:fillRect/>
          </a:stretch>
        </p:blipFill>
        <p:spPr>
          <a:xfrm>
            <a:off x="5217996" y="1200634"/>
            <a:ext cx="4823743" cy="3598081"/>
          </a:xfrm>
          <a:prstGeom prst="rect">
            <a:avLst/>
          </a:prstGeom>
          <a:noFill/>
          <a:ln cap="flat">
            <a:noFill/>
          </a:ln>
        </p:spPr>
      </p:pic>
      <p:pic>
        <p:nvPicPr>
          <p:cNvPr id="12" name="Image 17">
            <a:extLst>
              <a:ext uri="{FF2B5EF4-FFF2-40B4-BE49-F238E27FC236}">
                <a16:creationId xmlns:a16="http://schemas.microsoft.com/office/drawing/2014/main" id="{C623818D-B7AC-0308-1C55-7558570B31DE}"/>
              </a:ext>
            </a:extLst>
          </p:cNvPr>
          <p:cNvPicPr>
            <a:picLocks noChangeAspect="1"/>
          </p:cNvPicPr>
          <p:nvPr/>
        </p:nvPicPr>
        <p:blipFill>
          <a:blip r:embed="rId4"/>
          <a:stretch>
            <a:fillRect/>
          </a:stretch>
        </p:blipFill>
        <p:spPr>
          <a:xfrm>
            <a:off x="43525" y="1217258"/>
            <a:ext cx="4727283" cy="3564834"/>
          </a:xfrm>
          <a:prstGeom prst="rect">
            <a:avLst/>
          </a:prstGeom>
          <a:noFill/>
          <a:ln cap="flat">
            <a:noFill/>
          </a:ln>
        </p:spPr>
      </p:pic>
      <p:sp>
        <p:nvSpPr>
          <p:cNvPr id="13" name="ZoneTexte 14">
            <a:extLst>
              <a:ext uri="{FF2B5EF4-FFF2-40B4-BE49-F238E27FC236}">
                <a16:creationId xmlns:a16="http://schemas.microsoft.com/office/drawing/2014/main" id="{8C13F08D-E593-CC74-2CA3-F3BA3F87A667}"/>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4" name="ZoneTexte 15">
            <a:extLst>
              <a:ext uri="{FF2B5EF4-FFF2-40B4-BE49-F238E27FC236}">
                <a16:creationId xmlns:a16="http://schemas.microsoft.com/office/drawing/2014/main" id="{01F8661A-C0B9-F388-DFAE-6F3F10F94F46}"/>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71">
    <p:spTree>
      <p:nvGrpSpPr>
        <p:cNvPr id="1" name=""/>
        <p:cNvGrpSpPr/>
        <p:nvPr/>
      </p:nvGrpSpPr>
      <p:grpSpPr>
        <a:xfrm>
          <a:off x="0" y="0"/>
          <a:ext cx="0" cy="0"/>
          <a:chOff x="0" y="0"/>
          <a:chExt cx="0" cy="0"/>
        </a:xfrm>
      </p:grpSpPr>
      <p:pic>
        <p:nvPicPr>
          <p:cNvPr id="2" name="Image 22">
            <a:extLst>
              <a:ext uri="{FF2B5EF4-FFF2-40B4-BE49-F238E27FC236}">
                <a16:creationId xmlns:a16="http://schemas.microsoft.com/office/drawing/2014/main" id="{4146538E-FC4E-F34B-7D18-60930A715D9A}"/>
              </a:ext>
            </a:extLst>
          </p:cNvPr>
          <p:cNvPicPr>
            <a:picLocks noChangeAspect="1"/>
          </p:cNvPicPr>
          <p:nvPr/>
        </p:nvPicPr>
        <p:blipFill>
          <a:blip r:embed="rId3"/>
          <a:stretch>
            <a:fillRect/>
          </a:stretch>
        </p:blipFill>
        <p:spPr>
          <a:xfrm>
            <a:off x="4277398" y="853647"/>
            <a:ext cx="5568567" cy="4136297"/>
          </a:xfrm>
          <a:prstGeom prst="rect">
            <a:avLst/>
          </a:prstGeom>
          <a:noFill/>
          <a:ln cap="flat">
            <a:noFill/>
          </a:ln>
        </p:spPr>
      </p:pic>
      <p:sp>
        <p:nvSpPr>
          <p:cNvPr id="3" name="Forme libre 1">
            <a:extLst>
              <a:ext uri="{FF2B5EF4-FFF2-40B4-BE49-F238E27FC236}">
                <a16:creationId xmlns:a16="http://schemas.microsoft.com/office/drawing/2014/main" id="{6ABA7283-9FD2-2CEA-4DDC-A75BC518C489}"/>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Forme libre 2">
            <a:extLst>
              <a:ext uri="{FF2B5EF4-FFF2-40B4-BE49-F238E27FC236}">
                <a16:creationId xmlns:a16="http://schemas.microsoft.com/office/drawing/2014/main" id="{A296A2C1-52E4-20E2-2306-E27D5535A021}"/>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5" name="ZoneTexte 3">
            <a:extLst>
              <a:ext uri="{FF2B5EF4-FFF2-40B4-BE49-F238E27FC236}">
                <a16:creationId xmlns:a16="http://schemas.microsoft.com/office/drawing/2014/main" id="{EFF6E47C-9C5A-2CD8-9E6F-70B002FB7849}"/>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5">
            <a:extLst>
              <a:ext uri="{FF2B5EF4-FFF2-40B4-BE49-F238E27FC236}">
                <a16:creationId xmlns:a16="http://schemas.microsoft.com/office/drawing/2014/main" id="{ADFF29B4-C4E8-D1E4-CD37-D79C32580535}"/>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7" name="ZoneTexte 7">
            <a:extLst>
              <a:ext uri="{FF2B5EF4-FFF2-40B4-BE49-F238E27FC236}">
                <a16:creationId xmlns:a16="http://schemas.microsoft.com/office/drawing/2014/main" id="{6365FFE5-47F0-ED8A-B43D-D0BFD5DB4FAF}"/>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8" name="ZoneTexte 14">
            <a:extLst>
              <a:ext uri="{FF2B5EF4-FFF2-40B4-BE49-F238E27FC236}">
                <a16:creationId xmlns:a16="http://schemas.microsoft.com/office/drawing/2014/main" id="{33CA08A1-D5EF-E3A8-8D84-384620E8AA93}"/>
              </a:ext>
            </a:extLst>
          </p:cNvPr>
          <p:cNvSpPr txBox="1"/>
          <p:nvPr/>
        </p:nvSpPr>
        <p:spPr>
          <a:xfrm>
            <a:off x="5039999" y="4942834"/>
            <a:ext cx="5042641"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Calibri" pitchFamily="34"/>
                <a:ea typeface="Noto Sans CJK SC" pitchFamily="2"/>
                <a:cs typeface="Calibri" pitchFamily="34"/>
              </a:rPr>
              <a:t>angle between the </a:t>
            </a:r>
            <a:r>
              <a:rPr lang="fr-FR" sz="1400" b="1" i="0" u="none" strike="noStrike" kern="1200" cap="none" spc="0" baseline="0">
                <a:solidFill>
                  <a:srgbClr val="70AD47"/>
                </a:solidFill>
                <a:uFillTx/>
                <a:latin typeface="Calibri" pitchFamily="34"/>
                <a:ea typeface="Noto Sans CJK SC" pitchFamily="2"/>
                <a:cs typeface="Calibri" pitchFamily="34"/>
              </a:rPr>
              <a:t>missing_nucleon </a:t>
            </a:r>
            <a:r>
              <a:rPr lang="fr-FR" sz="1400" b="0" i="0" u="none" strike="noStrike" kern="1200" cap="none" spc="0" baseline="0">
                <a:solidFill>
                  <a:srgbClr val="000000"/>
                </a:solidFill>
                <a:uFillTx/>
                <a:latin typeface="Calibri" pitchFamily="34"/>
                <a:ea typeface="Noto Sans CJK SC" pitchFamily="2"/>
                <a:cs typeface="Calibri" pitchFamily="34"/>
              </a:rPr>
              <a:t>and the </a:t>
            </a:r>
            <a:r>
              <a:rPr lang="fr-FR" sz="1400" b="1" i="0" u="none" strike="noStrike" kern="1200" cap="none" spc="0" baseline="0">
                <a:solidFill>
                  <a:srgbClr val="000000"/>
                </a:solidFill>
                <a:uFillTx/>
                <a:latin typeface="Calibri" pitchFamily="34"/>
                <a:ea typeface="Noto Sans CJK SC" pitchFamily="2"/>
                <a:cs typeface="Calibri" pitchFamily="34"/>
              </a:rPr>
              <a:t>neutron detected</a:t>
            </a:r>
            <a:endParaRPr lang="fr-FR" sz="1400" b="1" i="0" u="none" strike="noStrike" kern="1200" cap="none" spc="0" baseline="0">
              <a:solidFill>
                <a:srgbClr val="000000"/>
              </a:solidFill>
              <a:uFillTx/>
              <a:latin typeface="Calibri"/>
            </a:endParaRPr>
          </a:p>
        </p:txBody>
      </p:sp>
      <p:sp>
        <p:nvSpPr>
          <p:cNvPr id="9" name="ZoneTexte 16">
            <a:extLst>
              <a:ext uri="{FF2B5EF4-FFF2-40B4-BE49-F238E27FC236}">
                <a16:creationId xmlns:a16="http://schemas.microsoft.com/office/drawing/2014/main" id="{4D632DE8-EB43-E58B-5F61-7B77A92A48DC}"/>
              </a:ext>
            </a:extLst>
          </p:cNvPr>
          <p:cNvSpPr txBox="1"/>
          <p:nvPr/>
        </p:nvSpPr>
        <p:spPr>
          <a:xfrm>
            <a:off x="5142421" y="1310051"/>
            <a:ext cx="1900836"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70AD47"/>
                </a:solidFill>
                <a:uFillTx/>
                <a:latin typeface="Calibri" pitchFamily="34"/>
                <a:ea typeface="Noto Sans CJK SC" pitchFamily="2"/>
                <a:cs typeface="Calibri" pitchFamily="34"/>
              </a:rPr>
              <a:t>&lt;-- Cut at 5 ° </a:t>
            </a:r>
            <a:endParaRPr lang="fr-FR" sz="1800" b="0" i="0" u="none" strike="noStrike" kern="1200" cap="none" spc="0" baseline="0">
              <a:solidFill>
                <a:srgbClr val="70AD47"/>
              </a:solidFill>
              <a:uFillTx/>
              <a:latin typeface="Calibri"/>
            </a:endParaRPr>
          </a:p>
        </p:txBody>
      </p:sp>
      <p:sp>
        <p:nvSpPr>
          <p:cNvPr id="10" name="ZoneTexte 20">
            <a:extLst>
              <a:ext uri="{FF2B5EF4-FFF2-40B4-BE49-F238E27FC236}">
                <a16:creationId xmlns:a16="http://schemas.microsoft.com/office/drawing/2014/main" id="{A547FEC7-F675-F21C-D60E-0E58A5EC8682}"/>
              </a:ext>
            </a:extLst>
          </p:cNvPr>
          <p:cNvSpPr txBox="1"/>
          <p:nvPr/>
        </p:nvSpPr>
        <p:spPr>
          <a:xfrm>
            <a:off x="170636" y="199083"/>
            <a:ext cx="9675330" cy="466554"/>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Calibri" pitchFamily="34"/>
                <a:ea typeface="Noto Sans CJK SC" pitchFamily="2"/>
                <a:cs typeface="Calibri" pitchFamily="34"/>
              </a:rPr>
              <a:t>Cut on the angle between missing nucleon and detected neutron </a:t>
            </a:r>
            <a:endParaRPr lang="fr-FR" sz="2400" b="0" i="0" u="none" strike="noStrike" kern="0" cap="none" spc="0" baseline="0">
              <a:solidFill>
                <a:srgbClr val="FFFFFF"/>
              </a:solidFill>
              <a:uFillTx/>
              <a:latin typeface="Liberation Sans" pitchFamily="18"/>
              <a:ea typeface="Noto Sans CJK SC" pitchFamily="2"/>
              <a:cs typeface="Noto Sans" pitchFamily="2"/>
            </a:endParaRPr>
          </a:p>
        </p:txBody>
      </p:sp>
      <p:cxnSp>
        <p:nvCxnSpPr>
          <p:cNvPr id="11" name="Connecteur droit 40">
            <a:extLst>
              <a:ext uri="{FF2B5EF4-FFF2-40B4-BE49-F238E27FC236}">
                <a16:creationId xmlns:a16="http://schemas.microsoft.com/office/drawing/2014/main" id="{CCD30F43-EBDF-CD8A-225B-95271213BC8D}"/>
              </a:ext>
            </a:extLst>
          </p:cNvPr>
          <p:cNvCxnSpPr/>
          <p:nvPr/>
        </p:nvCxnSpPr>
        <p:spPr>
          <a:xfrm flipH="1" flipV="1">
            <a:off x="1225460" y="1871731"/>
            <a:ext cx="501622" cy="491800"/>
          </a:xfrm>
          <a:prstGeom prst="straightConnector1">
            <a:avLst/>
          </a:prstGeom>
          <a:noFill/>
          <a:ln w="22229" cap="flat">
            <a:solidFill>
              <a:srgbClr val="000000"/>
            </a:solidFill>
            <a:prstDash val="solid"/>
            <a:miter/>
          </a:ln>
        </p:spPr>
      </p:cxnSp>
      <p:cxnSp>
        <p:nvCxnSpPr>
          <p:cNvPr id="12" name="Connecteur droit 40">
            <a:extLst>
              <a:ext uri="{FF2B5EF4-FFF2-40B4-BE49-F238E27FC236}">
                <a16:creationId xmlns:a16="http://schemas.microsoft.com/office/drawing/2014/main" id="{F26E0180-6368-82D7-B617-EDA42CA4D4DB}"/>
              </a:ext>
            </a:extLst>
          </p:cNvPr>
          <p:cNvCxnSpPr/>
          <p:nvPr/>
        </p:nvCxnSpPr>
        <p:spPr>
          <a:xfrm flipV="1">
            <a:off x="1775719" y="2493623"/>
            <a:ext cx="0" cy="709840"/>
          </a:xfrm>
          <a:prstGeom prst="straightConnector1">
            <a:avLst/>
          </a:prstGeom>
          <a:noFill/>
          <a:ln w="22229" cap="flat">
            <a:solidFill>
              <a:srgbClr val="000000"/>
            </a:solidFill>
            <a:prstDash val="solid"/>
            <a:miter/>
          </a:ln>
        </p:spPr>
      </p:cxnSp>
      <p:cxnSp>
        <p:nvCxnSpPr>
          <p:cNvPr id="13" name="Connecteur droit 40">
            <a:extLst>
              <a:ext uri="{FF2B5EF4-FFF2-40B4-BE49-F238E27FC236}">
                <a16:creationId xmlns:a16="http://schemas.microsoft.com/office/drawing/2014/main" id="{ED8680A0-178F-80A1-1CF7-DEFA370523B8}"/>
              </a:ext>
            </a:extLst>
          </p:cNvPr>
          <p:cNvCxnSpPr/>
          <p:nvPr/>
        </p:nvCxnSpPr>
        <p:spPr>
          <a:xfrm flipV="1">
            <a:off x="1346600" y="3387787"/>
            <a:ext cx="369683" cy="489140"/>
          </a:xfrm>
          <a:prstGeom prst="straightConnector1">
            <a:avLst/>
          </a:prstGeom>
          <a:noFill/>
          <a:ln w="22229" cap="flat">
            <a:solidFill>
              <a:srgbClr val="000000"/>
            </a:solidFill>
            <a:prstDash val="solid"/>
            <a:miter/>
          </a:ln>
        </p:spPr>
      </p:cxnSp>
      <p:cxnSp>
        <p:nvCxnSpPr>
          <p:cNvPr id="14" name="Connecteur droit 40">
            <a:extLst>
              <a:ext uri="{FF2B5EF4-FFF2-40B4-BE49-F238E27FC236}">
                <a16:creationId xmlns:a16="http://schemas.microsoft.com/office/drawing/2014/main" id="{87BC098D-38EA-BE60-F1D4-DEAED3C8D484}"/>
              </a:ext>
            </a:extLst>
          </p:cNvPr>
          <p:cNvCxnSpPr/>
          <p:nvPr/>
        </p:nvCxnSpPr>
        <p:spPr>
          <a:xfrm flipH="1">
            <a:off x="366537" y="2021509"/>
            <a:ext cx="914089" cy="935669"/>
          </a:xfrm>
          <a:prstGeom prst="straightConnector1">
            <a:avLst/>
          </a:prstGeom>
          <a:noFill/>
          <a:ln w="22229" cap="sq">
            <a:solidFill>
              <a:srgbClr val="FF0000"/>
            </a:solidFill>
            <a:prstDash val="solid"/>
            <a:miter/>
            <a:headEnd type="arrow"/>
          </a:ln>
        </p:spPr>
      </p:cxnSp>
      <p:cxnSp>
        <p:nvCxnSpPr>
          <p:cNvPr id="15" name="Connecteur droit 40">
            <a:extLst>
              <a:ext uri="{FF2B5EF4-FFF2-40B4-BE49-F238E27FC236}">
                <a16:creationId xmlns:a16="http://schemas.microsoft.com/office/drawing/2014/main" id="{64787CC1-C35D-5009-B64A-223B9CF9D1AD}"/>
              </a:ext>
            </a:extLst>
          </p:cNvPr>
          <p:cNvCxnSpPr/>
          <p:nvPr/>
        </p:nvCxnSpPr>
        <p:spPr>
          <a:xfrm flipH="1">
            <a:off x="358728" y="2312517"/>
            <a:ext cx="1238683" cy="658194"/>
          </a:xfrm>
          <a:prstGeom prst="straightConnector1">
            <a:avLst/>
          </a:prstGeom>
          <a:noFill/>
          <a:ln w="22229" cap="flat">
            <a:solidFill>
              <a:srgbClr val="FF0000"/>
            </a:solidFill>
            <a:prstDash val="solid"/>
            <a:miter/>
            <a:headEnd type="arrow"/>
          </a:ln>
        </p:spPr>
      </p:cxnSp>
      <p:sp>
        <p:nvSpPr>
          <p:cNvPr id="16" name="ZoneTexte 67">
            <a:extLst>
              <a:ext uri="{FF2B5EF4-FFF2-40B4-BE49-F238E27FC236}">
                <a16:creationId xmlns:a16="http://schemas.microsoft.com/office/drawing/2014/main" id="{6A1519C6-CA63-BAB6-F88B-13F95520DBED}"/>
              </a:ext>
            </a:extLst>
          </p:cNvPr>
          <p:cNvSpPr txBox="1"/>
          <p:nvPr/>
        </p:nvSpPr>
        <p:spPr>
          <a:xfrm>
            <a:off x="1820442" y="2909748"/>
            <a:ext cx="2078568"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0" cap="none" spc="0" baseline="0">
                <a:solidFill>
                  <a:srgbClr val="000000"/>
                </a:solidFill>
                <a:uFillTx/>
                <a:latin typeface="Calibri"/>
              </a:rPr>
              <a:t>f</a:t>
            </a:r>
            <a:r>
              <a:rPr lang="fr-FR" sz="1600" b="1" i="0" u="none" strike="noStrike" kern="1200" cap="none" spc="0" baseline="0">
                <a:solidFill>
                  <a:srgbClr val="000000"/>
                </a:solidFill>
                <a:uFillTx/>
                <a:latin typeface="Calibri"/>
              </a:rPr>
              <a:t>ake neutron</a:t>
            </a:r>
          </a:p>
        </p:txBody>
      </p:sp>
      <p:cxnSp>
        <p:nvCxnSpPr>
          <p:cNvPr id="17" name="Connecteur droit 40">
            <a:extLst>
              <a:ext uri="{FF2B5EF4-FFF2-40B4-BE49-F238E27FC236}">
                <a16:creationId xmlns:a16="http://schemas.microsoft.com/office/drawing/2014/main" id="{AD5CD31D-48E1-5C65-FAC8-B2824EA2E074}"/>
              </a:ext>
            </a:extLst>
          </p:cNvPr>
          <p:cNvCxnSpPr/>
          <p:nvPr/>
        </p:nvCxnSpPr>
        <p:spPr>
          <a:xfrm flipH="1" flipV="1">
            <a:off x="346365" y="2957544"/>
            <a:ext cx="1393015" cy="178271"/>
          </a:xfrm>
          <a:prstGeom prst="straightConnector1">
            <a:avLst/>
          </a:prstGeom>
          <a:noFill/>
          <a:ln w="22229" cap="flat">
            <a:solidFill>
              <a:srgbClr val="000000"/>
            </a:solidFill>
            <a:prstDash val="solid"/>
            <a:miter/>
            <a:headEnd type="arrow"/>
          </a:ln>
        </p:spPr>
      </p:cxnSp>
      <p:sp>
        <p:nvSpPr>
          <p:cNvPr id="18" name="ZoneTexte 70">
            <a:extLst>
              <a:ext uri="{FF2B5EF4-FFF2-40B4-BE49-F238E27FC236}">
                <a16:creationId xmlns:a16="http://schemas.microsoft.com/office/drawing/2014/main" id="{CC6B6DB0-3716-1E12-7B99-21C6C50E183D}"/>
              </a:ext>
            </a:extLst>
          </p:cNvPr>
          <p:cNvSpPr txBox="1"/>
          <p:nvPr/>
        </p:nvSpPr>
        <p:spPr>
          <a:xfrm>
            <a:off x="1663385" y="2017998"/>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K</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cxnSp>
        <p:nvCxnSpPr>
          <p:cNvPr id="19" name="Connecteur droit 40">
            <a:extLst>
              <a:ext uri="{FF2B5EF4-FFF2-40B4-BE49-F238E27FC236}">
                <a16:creationId xmlns:a16="http://schemas.microsoft.com/office/drawing/2014/main" id="{C822C919-6769-A04C-723E-C543045D74EF}"/>
              </a:ext>
            </a:extLst>
          </p:cNvPr>
          <p:cNvCxnSpPr/>
          <p:nvPr/>
        </p:nvCxnSpPr>
        <p:spPr>
          <a:xfrm flipH="1">
            <a:off x="358728" y="2719132"/>
            <a:ext cx="1357555" cy="243185"/>
          </a:xfrm>
          <a:prstGeom prst="straightConnector1">
            <a:avLst/>
          </a:prstGeom>
          <a:noFill/>
          <a:ln w="22229" cap="flat">
            <a:solidFill>
              <a:srgbClr val="FF0000"/>
            </a:solidFill>
            <a:prstDash val="solid"/>
            <a:miter/>
            <a:headEnd type="arrow"/>
          </a:ln>
        </p:spPr>
      </p:cxnSp>
      <p:sp>
        <p:nvSpPr>
          <p:cNvPr id="20" name="ZoneTexte 72">
            <a:extLst>
              <a:ext uri="{FF2B5EF4-FFF2-40B4-BE49-F238E27FC236}">
                <a16:creationId xmlns:a16="http://schemas.microsoft.com/office/drawing/2014/main" id="{32A4DB50-AC03-BA66-0A1D-8E38A3C0276C}"/>
              </a:ext>
            </a:extLst>
          </p:cNvPr>
          <p:cNvSpPr txBox="1"/>
          <p:nvPr/>
        </p:nvSpPr>
        <p:spPr>
          <a:xfrm>
            <a:off x="1812057" y="2493623"/>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e</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cxnSp>
        <p:nvCxnSpPr>
          <p:cNvPr id="21" name="Connecteur droit 40">
            <a:extLst>
              <a:ext uri="{FF2B5EF4-FFF2-40B4-BE49-F238E27FC236}">
                <a16:creationId xmlns:a16="http://schemas.microsoft.com/office/drawing/2014/main" id="{94E7DA53-795E-2481-19BB-D1E215A195C2}"/>
              </a:ext>
            </a:extLst>
          </p:cNvPr>
          <p:cNvCxnSpPr/>
          <p:nvPr/>
        </p:nvCxnSpPr>
        <p:spPr>
          <a:xfrm flipH="1" flipV="1">
            <a:off x="341702" y="2969523"/>
            <a:ext cx="1397678" cy="292196"/>
          </a:xfrm>
          <a:prstGeom prst="straightConnector1">
            <a:avLst/>
          </a:prstGeom>
          <a:noFill/>
          <a:ln w="22229" cap="flat">
            <a:solidFill>
              <a:srgbClr val="4472C4"/>
            </a:solidFill>
            <a:prstDash val="solid"/>
            <a:miter/>
            <a:headEnd type="arrow"/>
          </a:ln>
        </p:spPr>
      </p:cxnSp>
      <p:sp>
        <p:nvSpPr>
          <p:cNvPr id="22" name="ZoneTexte 44">
            <a:extLst>
              <a:ext uri="{FF2B5EF4-FFF2-40B4-BE49-F238E27FC236}">
                <a16:creationId xmlns:a16="http://schemas.microsoft.com/office/drawing/2014/main" id="{EF55D593-4CB8-D301-C487-84AA14468D20}"/>
              </a:ext>
            </a:extLst>
          </p:cNvPr>
          <p:cNvSpPr txBox="1"/>
          <p:nvPr/>
        </p:nvSpPr>
        <p:spPr>
          <a:xfrm>
            <a:off x="1797344" y="3119118"/>
            <a:ext cx="2339547"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0" cap="none" spc="0" baseline="0">
                <a:solidFill>
                  <a:srgbClr val="4472C4"/>
                </a:solidFill>
                <a:uFillTx/>
                <a:latin typeface="Calibri" pitchFamily="34"/>
                <a:ea typeface="Noto Sans CJK SC" pitchFamily="2"/>
                <a:cs typeface="Calibri" pitchFamily="34"/>
              </a:rPr>
              <a:t>non detected proton </a:t>
            </a:r>
            <a:endParaRPr lang="fr-FR" sz="1600" b="0" i="0" u="none" strike="noStrike" kern="1200" cap="none" spc="0" baseline="0">
              <a:solidFill>
                <a:srgbClr val="000000"/>
              </a:solidFill>
              <a:uFillTx/>
              <a:latin typeface="Calibri"/>
            </a:endParaRPr>
          </a:p>
        </p:txBody>
      </p:sp>
      <p:sp>
        <p:nvSpPr>
          <p:cNvPr id="23" name="ZoneTexte 24">
            <a:extLst>
              <a:ext uri="{FF2B5EF4-FFF2-40B4-BE49-F238E27FC236}">
                <a16:creationId xmlns:a16="http://schemas.microsoft.com/office/drawing/2014/main" id="{E0E57689-9E13-E71B-E42B-9EC572FC4606}"/>
              </a:ext>
            </a:extLst>
          </p:cNvPr>
          <p:cNvSpPr txBox="1"/>
          <p:nvPr/>
        </p:nvSpPr>
        <p:spPr>
          <a:xfrm>
            <a:off x="17721" y="3993504"/>
            <a:ext cx="4023003" cy="73866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Calibri"/>
              </a:rPr>
              <a:t>Contamination when the</a:t>
            </a:r>
            <a:r>
              <a:rPr lang="fr-FR" sz="1400" b="1" i="0" u="none" strike="noStrike" kern="1200" cap="none" spc="0" baseline="0">
                <a:solidFill>
                  <a:srgbClr val="70AD47"/>
                </a:solidFill>
                <a:uFillTx/>
                <a:latin typeface="Calibri" pitchFamily="34"/>
                <a:ea typeface="Noto Sans CJK SC" pitchFamily="2"/>
                <a:cs typeface="Calibri" pitchFamily="34"/>
              </a:rPr>
              <a:t> missing_nucleon </a:t>
            </a:r>
            <a:r>
              <a:rPr lang="fr-FR" sz="1400" b="0" i="0" u="none" strike="noStrike" kern="1200" cap="none" spc="0" baseline="0">
                <a:solidFill>
                  <a:srgbClr val="000000"/>
                </a:solidFill>
                <a:uFillTx/>
                <a:latin typeface="Calibri"/>
              </a:rPr>
              <a:t>is a </a:t>
            </a:r>
            <a:endParaRPr lang="fr-FR" sz="1400" b="1" i="0" u="none" strike="noStrike" kern="1200" cap="none" spc="0" baseline="0">
              <a:solidFill>
                <a:srgbClr val="70AD47"/>
              </a:solidFill>
              <a:uFillTx/>
              <a:latin typeface="Calibri" pitchFamily="34"/>
              <a:ea typeface="Noto Sans CJK SC" pitchFamily="2"/>
              <a:cs typeface="Calibri" pitchFamily="34"/>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Calibri"/>
              </a:rPr>
              <a:t> </a:t>
            </a:r>
            <a:r>
              <a:rPr lang="fr-FR" sz="1400" b="1" i="0" u="none" strike="noStrike" kern="1200" cap="none" spc="0" baseline="0">
                <a:solidFill>
                  <a:srgbClr val="4472C4"/>
                </a:solidFill>
                <a:uFillTx/>
                <a:latin typeface="Calibri"/>
              </a:rPr>
              <a:t>non detected proton </a:t>
            </a:r>
            <a:r>
              <a:rPr lang="fr-FR" sz="1400" b="0" i="0" u="none" strike="noStrike" kern="1200" cap="none" spc="0" baseline="0">
                <a:solidFill>
                  <a:srgbClr val="000000"/>
                </a:solidFill>
                <a:uFillTx/>
                <a:latin typeface="Calibri"/>
              </a:rPr>
              <a:t>there is a fake neutron signal who pass the cut on the angle</a:t>
            </a:r>
            <a:endParaRPr lang="fr-FR" sz="1400" b="1" i="0" u="none" strike="noStrike" kern="1200" cap="none" spc="0" baseline="0">
              <a:solidFill>
                <a:srgbClr val="0D0D0D"/>
              </a:solidFill>
              <a:uFillTx/>
              <a:latin typeface="Calibri"/>
            </a:endParaRPr>
          </a:p>
        </p:txBody>
      </p:sp>
      <p:sp>
        <p:nvSpPr>
          <p:cNvPr id="24" name="ZoneTexte 69">
            <a:extLst>
              <a:ext uri="{FF2B5EF4-FFF2-40B4-BE49-F238E27FC236}">
                <a16:creationId xmlns:a16="http://schemas.microsoft.com/office/drawing/2014/main" id="{1F792C48-A11F-4D3F-5956-D8EA98A5C90E}"/>
              </a:ext>
            </a:extLst>
          </p:cNvPr>
          <p:cNvSpPr txBox="1"/>
          <p:nvPr/>
        </p:nvSpPr>
        <p:spPr>
          <a:xfrm>
            <a:off x="1323237" y="1648288"/>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K</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sp>
        <p:nvSpPr>
          <p:cNvPr id="25" name="ZoneTexte 26">
            <a:extLst>
              <a:ext uri="{FF2B5EF4-FFF2-40B4-BE49-F238E27FC236}">
                <a16:creationId xmlns:a16="http://schemas.microsoft.com/office/drawing/2014/main" id="{B167706E-0166-659B-B09F-24B4517351FA}"/>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26" name="ZoneTexte 27">
            <a:extLst>
              <a:ext uri="{FF2B5EF4-FFF2-40B4-BE49-F238E27FC236}">
                <a16:creationId xmlns:a16="http://schemas.microsoft.com/office/drawing/2014/main" id="{20C21527-8E97-BB5B-73C7-121EA69A76B0}"/>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64">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46058A35-A950-9044-A145-73C249BC1C7B}"/>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1AC7AF94-E6AF-E29E-8AA7-83018DBB86DF}"/>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0D182AD2-B5D8-65D2-AD33-9BFCBAC05EFF}"/>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293C847B-8D7A-1626-D696-19C96239F0AB}"/>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496A7A14-3BA6-0873-6301-FBE4D62DAA86}"/>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2C4840B4-01A1-39C5-B48C-3E1E05AB532A}"/>
              </a:ext>
            </a:extLst>
          </p:cNvPr>
          <p:cNvSpPr txBox="1"/>
          <p:nvPr/>
        </p:nvSpPr>
        <p:spPr>
          <a:xfrm>
            <a:off x="257513" y="200354"/>
            <a:ext cx="9823106" cy="466554"/>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Calibri" pitchFamily="34"/>
                <a:ea typeface="Noto Sans CJK SC" pitchFamily="2"/>
                <a:cs typeface="Calibri" pitchFamily="34"/>
              </a:rPr>
              <a:t>Cut on the status of K</a:t>
            </a:r>
            <a:r>
              <a:rPr lang="fr-FR" sz="2400" b="0" i="0" u="none" strike="noStrike" kern="0" cap="none" spc="0" baseline="30000">
                <a:solidFill>
                  <a:srgbClr val="FFFFFF"/>
                </a:solidFill>
                <a:uFillTx/>
                <a:latin typeface="Calibri" pitchFamily="34"/>
                <a:ea typeface="Noto Sans CJK SC" pitchFamily="2"/>
                <a:cs typeface="Calibri" pitchFamily="34"/>
              </a:rPr>
              <a:t>+</a:t>
            </a:r>
            <a:r>
              <a:rPr lang="fr-FR" sz="2400" b="0" i="0" u="none" strike="noStrike" kern="0" cap="none" spc="0" baseline="0">
                <a:solidFill>
                  <a:srgbClr val="FFFFFF"/>
                </a:solidFill>
                <a:uFillTx/>
                <a:latin typeface="Calibri" pitchFamily="34"/>
                <a:ea typeface="Noto Sans CJK SC" pitchFamily="2"/>
                <a:cs typeface="Calibri" pitchFamily="34"/>
              </a:rPr>
              <a:t>K</a:t>
            </a:r>
            <a:r>
              <a:rPr lang="fr-FR" sz="2400" b="0" i="0" u="none" strike="noStrike" kern="0" cap="none" spc="0" baseline="30000">
                <a:solidFill>
                  <a:srgbClr val="FFFFFF"/>
                </a:solidFill>
                <a:uFillTx/>
                <a:latin typeface="Calibri" pitchFamily="34"/>
                <a:ea typeface="Noto Sans CJK SC" pitchFamily="2"/>
                <a:cs typeface="Calibri" pitchFamily="34"/>
              </a:rPr>
              <a:t>-</a:t>
            </a:r>
            <a:endParaRPr lang="fr-FR" sz="2400" b="0" i="0" u="none" strike="noStrike" kern="0" cap="none" spc="0" baseline="0">
              <a:solidFill>
                <a:srgbClr val="FFFFFF"/>
              </a:solidFill>
              <a:uFillTx/>
              <a:latin typeface="Liberation Sans" pitchFamily="18"/>
              <a:ea typeface="Noto Sans CJK SC" pitchFamily="2"/>
              <a:cs typeface="Noto Sans" pitchFamily="2"/>
            </a:endParaRPr>
          </a:p>
        </p:txBody>
      </p:sp>
      <p:sp>
        <p:nvSpPr>
          <p:cNvPr id="8" name="ZoneTexte 11">
            <a:extLst>
              <a:ext uri="{FF2B5EF4-FFF2-40B4-BE49-F238E27FC236}">
                <a16:creationId xmlns:a16="http://schemas.microsoft.com/office/drawing/2014/main" id="{CF8C3B3B-DC00-9FF0-47FC-228C3D3CF967}"/>
              </a:ext>
            </a:extLst>
          </p:cNvPr>
          <p:cNvSpPr txBox="1"/>
          <p:nvPr/>
        </p:nvSpPr>
        <p:spPr>
          <a:xfrm>
            <a:off x="322079" y="2475344"/>
            <a:ext cx="4158124" cy="138499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Two argument </a:t>
            </a:r>
            <a:r>
              <a:rPr lang="fr-FR" sz="1800" b="0" i="0" u="none" strike="noStrike" kern="1200" cap="none" spc="0" baseline="0">
                <a:solidFill>
                  <a:srgbClr val="4472C4"/>
                </a:solidFill>
                <a:uFillTx/>
                <a:latin typeface="Calibri"/>
              </a:rPr>
              <a:t>to cut K+ K- in CD </a:t>
            </a:r>
            <a:r>
              <a:rPr lang="fr-FR" sz="1800" b="0" i="0" u="none" strike="noStrike" kern="1200" cap="none" spc="0" baseline="0">
                <a:solidFill>
                  <a:srgbClr val="000000"/>
                </a:solidFill>
                <a:uFillTx/>
                <a:latin typeface="Calibri"/>
              </a:rPr>
              <a:t>: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Calibri"/>
            </a:endParaRPr>
          </a:p>
          <a:p>
            <a:pPr marL="285750" marR="0" lvl="0" indent="-285750" algn="l" defTabSz="9144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r>
              <a:rPr lang="fr-FR" sz="1600" b="0" i="0" u="none" strike="noStrike" kern="0" cap="none" spc="0" baseline="0">
                <a:solidFill>
                  <a:srgbClr val="000000"/>
                </a:solidFill>
                <a:uFillTx/>
                <a:latin typeface="Calibri"/>
              </a:rPr>
              <a:t>R</a:t>
            </a:r>
            <a:r>
              <a:rPr lang="fr-FR" sz="1600" b="0" i="0" u="none" strike="noStrike" kern="1200" cap="none" spc="0" baseline="0">
                <a:solidFill>
                  <a:srgbClr val="000000"/>
                </a:solidFill>
                <a:uFillTx/>
                <a:latin typeface="Calibri"/>
              </a:rPr>
              <a:t>econstruction of kaons in the CD is less good than in the FD</a:t>
            </a:r>
          </a:p>
          <a:p>
            <a:pPr marL="285750" marR="0" lvl="0" indent="-285750" algn="l" defTabSz="9144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The generator predict few events in the CD</a:t>
            </a:r>
          </a:p>
        </p:txBody>
      </p:sp>
      <p:pic>
        <p:nvPicPr>
          <p:cNvPr id="9" name="Image 19">
            <a:extLst>
              <a:ext uri="{FF2B5EF4-FFF2-40B4-BE49-F238E27FC236}">
                <a16:creationId xmlns:a16="http://schemas.microsoft.com/office/drawing/2014/main" id="{7820E55A-3F15-0EDB-B0AF-07C668F5DB42}"/>
              </a:ext>
            </a:extLst>
          </p:cNvPr>
          <p:cNvPicPr>
            <a:picLocks noChangeAspect="1"/>
          </p:cNvPicPr>
          <p:nvPr/>
        </p:nvPicPr>
        <p:blipFill>
          <a:blip r:embed="rId3"/>
          <a:stretch>
            <a:fillRect/>
          </a:stretch>
        </p:blipFill>
        <p:spPr>
          <a:xfrm>
            <a:off x="4759077" y="1932620"/>
            <a:ext cx="4893649" cy="3233016"/>
          </a:xfrm>
          <a:prstGeom prst="rect">
            <a:avLst/>
          </a:prstGeom>
          <a:noFill/>
          <a:ln cap="flat">
            <a:noFill/>
          </a:ln>
        </p:spPr>
      </p:pic>
      <p:sp>
        <p:nvSpPr>
          <p:cNvPr id="10" name="ZoneTexte 20">
            <a:extLst>
              <a:ext uri="{FF2B5EF4-FFF2-40B4-BE49-F238E27FC236}">
                <a16:creationId xmlns:a16="http://schemas.microsoft.com/office/drawing/2014/main" id="{25303FB1-8A5B-8C03-8192-D19E07F6D29D}"/>
              </a:ext>
            </a:extLst>
          </p:cNvPr>
          <p:cNvSpPr txBox="1"/>
          <p:nvPr/>
        </p:nvSpPr>
        <p:spPr>
          <a:xfrm>
            <a:off x="5478078" y="1513588"/>
            <a:ext cx="3455627"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Generated event : p vs theta for K</a:t>
            </a:r>
            <a:r>
              <a:rPr lang="fr-FR" sz="1800" b="0" i="0" u="none" strike="noStrike" kern="1200" cap="none" spc="0" baseline="30000">
                <a:solidFill>
                  <a:srgbClr val="000000"/>
                </a:solidFill>
                <a:uFillTx/>
                <a:latin typeface="Calibri"/>
              </a:rPr>
              <a:t>+-</a:t>
            </a:r>
            <a:endParaRPr lang="fr-FR" sz="1800" b="0" i="0" u="none" strike="noStrike" kern="1200" cap="none" spc="0" baseline="0">
              <a:solidFill>
                <a:srgbClr val="000000"/>
              </a:solidFill>
              <a:uFillTx/>
              <a:latin typeface="Calibri"/>
            </a:endParaRPr>
          </a:p>
        </p:txBody>
      </p:sp>
      <p:sp>
        <p:nvSpPr>
          <p:cNvPr id="11" name="ZoneTexte 12">
            <a:extLst>
              <a:ext uri="{FF2B5EF4-FFF2-40B4-BE49-F238E27FC236}">
                <a16:creationId xmlns:a16="http://schemas.microsoft.com/office/drawing/2014/main" id="{28C8AC96-FEC2-1485-4F9E-ED1257AFBF3C}"/>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2" name="ZoneTexte 13">
            <a:extLst>
              <a:ext uri="{FF2B5EF4-FFF2-40B4-BE49-F238E27FC236}">
                <a16:creationId xmlns:a16="http://schemas.microsoft.com/office/drawing/2014/main" id="{710D495B-8319-F865-5124-7F1219092E70}"/>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65">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6087A8D9-A646-7BA7-FF71-004028C642EB}"/>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BC7C5C2C-1D4C-112F-6DA4-66673B38D8F5}"/>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23785D3D-AE2C-A53C-52CF-351A127DC50A}"/>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573BC8D3-AD6F-E7D9-4DD1-C257F3EEF47E}"/>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35FE811E-4A4E-D5E8-686D-A8745E1BCF5B}"/>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12</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5C3F3FB9-3D5B-5BDD-7D68-49F43E80F6EE}"/>
              </a:ext>
            </a:extLst>
          </p:cNvPr>
          <p:cNvSpPr txBox="1"/>
          <p:nvPr/>
        </p:nvSpPr>
        <p:spPr>
          <a:xfrm>
            <a:off x="170636" y="199083"/>
            <a:ext cx="9823106"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Cut on total missing mass</a:t>
            </a:r>
          </a:p>
        </p:txBody>
      </p:sp>
      <p:sp>
        <p:nvSpPr>
          <p:cNvPr id="8" name="ZoneTexte 11">
            <a:extLst>
              <a:ext uri="{FF2B5EF4-FFF2-40B4-BE49-F238E27FC236}">
                <a16:creationId xmlns:a16="http://schemas.microsoft.com/office/drawing/2014/main" id="{3DE6F7A0-A343-0C1D-3789-DC1AEE64A773}"/>
              </a:ext>
            </a:extLst>
          </p:cNvPr>
          <p:cNvSpPr txBox="1"/>
          <p:nvPr/>
        </p:nvSpPr>
        <p:spPr>
          <a:xfrm>
            <a:off x="181316" y="2557622"/>
            <a:ext cx="3957376" cy="1354217"/>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Total missing mass e n </a:t>
            </a:r>
            <a:r>
              <a:rPr lang="fr-FR" sz="1600" b="1" i="0" u="none" strike="noStrike" kern="0" cap="none" spc="0" baseline="0">
                <a:solidFill>
                  <a:srgbClr val="000000"/>
                </a:solidFill>
                <a:uFillTx/>
                <a:latin typeface="Liberation Sans" pitchFamily="34"/>
                <a:ea typeface="Liberation Sans" pitchFamily="34"/>
                <a:cs typeface="Liberation Sans" pitchFamily="34"/>
              </a:rPr>
              <a:t>→ </a:t>
            </a:r>
            <a:r>
              <a:rPr lang="fr-FR" sz="1600" b="0" i="0" u="none" strike="noStrike" kern="1200" cap="none" spc="0" baseline="0">
                <a:solidFill>
                  <a:srgbClr val="000000"/>
                </a:solidFill>
                <a:uFillTx/>
                <a:latin typeface="Calibri"/>
              </a:rPr>
              <a:t>e’ n’ K</a:t>
            </a:r>
            <a:r>
              <a:rPr lang="fr-FR" sz="1600" b="0" i="0" u="none" strike="noStrike" kern="1200" cap="none" spc="0" baseline="30000">
                <a:solidFill>
                  <a:srgbClr val="000000"/>
                </a:solidFill>
                <a:uFillTx/>
                <a:latin typeface="Calibri"/>
              </a:rPr>
              <a:t>+</a:t>
            </a:r>
            <a:r>
              <a:rPr lang="fr-FR" sz="1600" b="0" i="0" u="none" strike="noStrike" kern="1200" cap="none" spc="0" baseline="0">
                <a:solidFill>
                  <a:srgbClr val="000000"/>
                </a:solidFill>
                <a:uFillTx/>
                <a:latin typeface="Calibri"/>
              </a:rPr>
              <a:t> K</a:t>
            </a:r>
            <a:r>
              <a:rPr lang="fr-FR" sz="1600" b="0" i="0" u="none" strike="noStrike" kern="1200" cap="none" spc="0" baseline="30000">
                <a:solidFill>
                  <a:srgbClr val="000000"/>
                </a:solidFill>
                <a:uFillTx/>
                <a:latin typeface="Calibri"/>
              </a:rPr>
              <a:t>-</a:t>
            </a:r>
            <a:r>
              <a:rPr lang="fr-FR" sz="1600" b="0" i="0" u="none" strike="noStrike" kern="1200" cap="none" spc="0" baseline="0">
                <a:solidFill>
                  <a:srgbClr val="000000"/>
                </a:solidFill>
                <a:uFillTx/>
                <a:latin typeface="Calibri"/>
              </a:rPr>
              <a:t>  X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(after all the previous cut)</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6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0" cap="none" spc="0" baseline="0">
                <a:solidFill>
                  <a:srgbClr val="000000"/>
                </a:solidFill>
                <a:uFillTx/>
                <a:latin typeface="Calibri" pitchFamily="34"/>
                <a:ea typeface="Liberation Sans" pitchFamily="34"/>
                <a:cs typeface="Calibri" pitchFamily="34"/>
              </a:rPr>
              <a:t>–0.5  &lt; </a:t>
            </a:r>
            <a:r>
              <a:rPr lang="fr-FR" sz="1600" b="0" i="0" u="none" strike="noStrike" kern="1200" cap="none" spc="0" baseline="0">
                <a:solidFill>
                  <a:srgbClr val="4472C4"/>
                </a:solidFill>
                <a:uFillTx/>
                <a:latin typeface="Calibri" pitchFamily="34"/>
                <a:ea typeface="Liberation Serif" pitchFamily="18"/>
                <a:cs typeface="Calibri" pitchFamily="34"/>
              </a:rPr>
              <a:t>MissingMass</a:t>
            </a:r>
            <a:r>
              <a:rPr lang="fr-FR" sz="1600" b="0" i="0" u="none" strike="noStrike" kern="1200" cap="none" spc="0" baseline="-25000">
                <a:solidFill>
                  <a:srgbClr val="4472C4"/>
                </a:solidFill>
                <a:uFillTx/>
                <a:latin typeface="Calibri" pitchFamily="34"/>
                <a:ea typeface="Liberation Serif" pitchFamily="18"/>
                <a:cs typeface="Calibri" pitchFamily="34"/>
              </a:rPr>
              <a:t>tot </a:t>
            </a:r>
            <a:r>
              <a:rPr lang="fr-FR" sz="1600" b="0" i="0" u="none" strike="noStrike" kern="1200" cap="none" spc="0" baseline="30000">
                <a:solidFill>
                  <a:srgbClr val="4472C4"/>
                </a:solidFill>
                <a:uFillTx/>
                <a:latin typeface="Calibri" pitchFamily="34"/>
                <a:ea typeface="Liberation Serif" pitchFamily="18"/>
                <a:cs typeface="Calibri" pitchFamily="34"/>
              </a:rPr>
              <a:t>2</a:t>
            </a:r>
            <a:r>
              <a:rPr lang="fr-FR" sz="1600" b="0" i="0" u="none" strike="noStrike" kern="1200" cap="none" spc="0" baseline="-25000">
                <a:solidFill>
                  <a:srgbClr val="4472C4"/>
                </a:solidFill>
                <a:uFillTx/>
                <a:latin typeface="Calibri" pitchFamily="34"/>
                <a:ea typeface="Liberation Serif" pitchFamily="18"/>
                <a:cs typeface="Calibri" pitchFamily="34"/>
              </a:rPr>
              <a:t>  </a:t>
            </a:r>
            <a:r>
              <a:rPr lang="fr-FR" sz="1600" b="0" i="0" u="none" strike="noStrike" kern="1200" cap="none" spc="0" baseline="0">
                <a:solidFill>
                  <a:srgbClr val="000000"/>
                </a:solidFill>
                <a:uFillTx/>
                <a:latin typeface="Calibri" pitchFamily="34"/>
                <a:ea typeface="Liberation Serif" pitchFamily="18"/>
                <a:cs typeface="Calibri" pitchFamily="34"/>
              </a:rPr>
              <a:t>&lt; 0.5 GeV </a:t>
            </a:r>
            <a:r>
              <a:rPr lang="fr-FR" sz="1600" b="0" i="0" u="none" strike="noStrike" kern="1200" cap="none" spc="0" baseline="30000">
                <a:solidFill>
                  <a:srgbClr val="000000"/>
                </a:solidFill>
                <a:uFillTx/>
                <a:latin typeface="Calibri" pitchFamily="34"/>
                <a:ea typeface="Liberation Serif" pitchFamily="18"/>
                <a:cs typeface="Calibri" pitchFamily="34"/>
              </a:rPr>
              <a:t>2</a:t>
            </a:r>
            <a:endParaRPr lang="fr-FR"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 </a:t>
            </a:r>
          </a:p>
        </p:txBody>
      </p:sp>
      <p:pic>
        <p:nvPicPr>
          <p:cNvPr id="9" name="Image 12">
            <a:extLst>
              <a:ext uri="{FF2B5EF4-FFF2-40B4-BE49-F238E27FC236}">
                <a16:creationId xmlns:a16="http://schemas.microsoft.com/office/drawing/2014/main" id="{89859628-E0C1-FE50-16D6-0C499B3435D9}"/>
              </a:ext>
            </a:extLst>
          </p:cNvPr>
          <p:cNvPicPr>
            <a:picLocks noChangeAspect="1"/>
          </p:cNvPicPr>
          <p:nvPr/>
        </p:nvPicPr>
        <p:blipFill>
          <a:blip r:embed="rId3"/>
          <a:stretch>
            <a:fillRect/>
          </a:stretch>
        </p:blipFill>
        <p:spPr>
          <a:xfrm>
            <a:off x="4480203" y="1106981"/>
            <a:ext cx="5288596" cy="4066803"/>
          </a:xfrm>
          <a:prstGeom prst="rect">
            <a:avLst/>
          </a:prstGeom>
          <a:noFill/>
          <a:ln cap="flat">
            <a:noFill/>
          </a:ln>
        </p:spPr>
      </p:pic>
      <p:sp>
        <p:nvSpPr>
          <p:cNvPr id="10" name="ZoneTexte 11">
            <a:extLst>
              <a:ext uri="{FF2B5EF4-FFF2-40B4-BE49-F238E27FC236}">
                <a16:creationId xmlns:a16="http://schemas.microsoft.com/office/drawing/2014/main" id="{AD506B98-2059-5313-6ECA-F8A59E6B23D5}"/>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1" name="ZoneTexte 12">
            <a:extLst>
              <a:ext uri="{FF2B5EF4-FFF2-40B4-BE49-F238E27FC236}">
                <a16:creationId xmlns:a16="http://schemas.microsoft.com/office/drawing/2014/main" id="{D1C5B1F1-242D-265D-9554-93B3F9CD80AF}"/>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67">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F963AFC7-0991-53DD-6B94-CEB0B825C5E7}"/>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BAD072F5-6D8C-0623-A15A-6045E444A080}"/>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49FF17A4-3CF9-9AB8-EC2E-B4D37C0DBD7B}"/>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DAF6FEB0-8112-9104-CF64-3DC732C59A5E}"/>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F35F6EBA-C7EB-A9D3-C919-04DA3E6E63B5}"/>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13</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76E92982-79DC-0D67-B92E-CEE8A9A70C2B}"/>
              </a:ext>
            </a:extLst>
          </p:cNvPr>
          <p:cNvSpPr txBox="1"/>
          <p:nvPr/>
        </p:nvSpPr>
        <p:spPr>
          <a:xfrm>
            <a:off x="170636" y="199083"/>
            <a:ext cx="9823106"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Yield extraction</a:t>
            </a:r>
          </a:p>
        </p:txBody>
      </p:sp>
      <p:sp>
        <p:nvSpPr>
          <p:cNvPr id="8" name="ZoneTexte 10">
            <a:extLst>
              <a:ext uri="{FF2B5EF4-FFF2-40B4-BE49-F238E27FC236}">
                <a16:creationId xmlns:a16="http://schemas.microsoft.com/office/drawing/2014/main" id="{A8DB4339-8444-E6C4-EF4E-AEB7D8FFCF44}"/>
              </a:ext>
            </a:extLst>
          </p:cNvPr>
          <p:cNvSpPr txBox="1"/>
          <p:nvPr/>
        </p:nvSpPr>
        <p:spPr>
          <a:xfrm>
            <a:off x="221860" y="4827081"/>
            <a:ext cx="5161897"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angle cut, K+ K- in FD, and cut on </a:t>
            </a:r>
            <a:r>
              <a:rPr lang="fr-FR" sz="1600" b="0" i="0" u="none" strike="noStrike" kern="0" cap="none" spc="0" baseline="0">
                <a:solidFill>
                  <a:srgbClr val="000000"/>
                </a:solidFill>
                <a:uFillTx/>
                <a:latin typeface="Calibri"/>
              </a:rPr>
              <a:t>MissingMass</a:t>
            </a:r>
            <a:r>
              <a:rPr lang="fr-FR" sz="1600" b="0" i="0" u="none" strike="noStrike" kern="1200" cap="none" spc="0" baseline="0">
                <a:solidFill>
                  <a:srgbClr val="000000"/>
                </a:solidFill>
                <a:uFillTx/>
                <a:latin typeface="Calibri"/>
              </a:rPr>
              <a:t>   </a:t>
            </a:r>
          </a:p>
        </p:txBody>
      </p:sp>
      <p:sp>
        <p:nvSpPr>
          <p:cNvPr id="9" name="ZoneTexte 10">
            <a:extLst>
              <a:ext uri="{FF2B5EF4-FFF2-40B4-BE49-F238E27FC236}">
                <a16:creationId xmlns:a16="http://schemas.microsoft.com/office/drawing/2014/main" id="{7FAE9E38-E387-9199-29F1-EF982DBA126C}"/>
              </a:ext>
            </a:extLst>
          </p:cNvPr>
          <p:cNvSpPr txBox="1"/>
          <p:nvPr/>
        </p:nvSpPr>
        <p:spPr>
          <a:xfrm>
            <a:off x="6250463" y="4827081"/>
            <a:ext cx="5161897"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Fit all fall2019 outbending data</a:t>
            </a:r>
          </a:p>
        </p:txBody>
      </p:sp>
      <p:pic>
        <p:nvPicPr>
          <p:cNvPr id="10" name="Image 18">
            <a:extLst>
              <a:ext uri="{FF2B5EF4-FFF2-40B4-BE49-F238E27FC236}">
                <a16:creationId xmlns:a16="http://schemas.microsoft.com/office/drawing/2014/main" id="{DF1300B7-007A-75B4-7BB3-4B6EAEEDD2BE}"/>
              </a:ext>
            </a:extLst>
          </p:cNvPr>
          <p:cNvPicPr>
            <a:picLocks noChangeAspect="1"/>
          </p:cNvPicPr>
          <p:nvPr/>
        </p:nvPicPr>
        <p:blipFill>
          <a:blip r:embed="rId3"/>
          <a:stretch>
            <a:fillRect/>
          </a:stretch>
        </p:blipFill>
        <p:spPr>
          <a:xfrm>
            <a:off x="5201207" y="1198540"/>
            <a:ext cx="4818138" cy="3628540"/>
          </a:xfrm>
          <a:prstGeom prst="rect">
            <a:avLst/>
          </a:prstGeom>
          <a:noFill/>
          <a:ln cap="flat">
            <a:noFill/>
          </a:ln>
        </p:spPr>
      </p:pic>
      <p:pic>
        <p:nvPicPr>
          <p:cNvPr id="11" name="Image 16">
            <a:extLst>
              <a:ext uri="{FF2B5EF4-FFF2-40B4-BE49-F238E27FC236}">
                <a16:creationId xmlns:a16="http://schemas.microsoft.com/office/drawing/2014/main" id="{5ADDA841-D196-4DC4-012F-4F6D2CE159F3}"/>
              </a:ext>
            </a:extLst>
          </p:cNvPr>
          <p:cNvPicPr>
            <a:picLocks noChangeAspect="1"/>
          </p:cNvPicPr>
          <p:nvPr/>
        </p:nvPicPr>
        <p:blipFill>
          <a:blip r:embed="rId4"/>
          <a:stretch>
            <a:fillRect/>
          </a:stretch>
        </p:blipFill>
        <p:spPr>
          <a:xfrm>
            <a:off x="197711" y="1134358"/>
            <a:ext cx="4807302" cy="3628540"/>
          </a:xfrm>
          <a:prstGeom prst="rect">
            <a:avLst/>
          </a:prstGeom>
          <a:noFill/>
          <a:ln cap="flat">
            <a:noFill/>
          </a:ln>
        </p:spPr>
      </p:pic>
      <p:sp>
        <p:nvSpPr>
          <p:cNvPr id="12" name="ZoneTexte 13">
            <a:extLst>
              <a:ext uri="{FF2B5EF4-FFF2-40B4-BE49-F238E27FC236}">
                <a16:creationId xmlns:a16="http://schemas.microsoft.com/office/drawing/2014/main" id="{1AEEE2C9-B5BB-C8D8-ED2F-6D87AC68B464}"/>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3" name="ZoneTexte 14">
            <a:extLst>
              <a:ext uri="{FF2B5EF4-FFF2-40B4-BE49-F238E27FC236}">
                <a16:creationId xmlns:a16="http://schemas.microsoft.com/office/drawing/2014/main" id="{E1193AE4-4D0E-D053-F802-27F2586081FD}"/>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69">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972CE0BE-CBB7-EC04-663A-D8BEB5B589E5}"/>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6C578593-34D5-F3B9-AA69-0434DB510408}"/>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65751C85-4D84-2A21-A9DF-568066ED905A}"/>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575F59E7-9C1A-4AC2-D3C7-A85E34ABFE29}"/>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70E1E001-F06C-8319-F5FF-16FAAE1AEC56}"/>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14</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161D158F-7A4B-2F7C-CD3F-1A4404F10159}"/>
              </a:ext>
            </a:extLst>
          </p:cNvPr>
          <p:cNvSpPr txBox="1"/>
          <p:nvPr/>
        </p:nvSpPr>
        <p:spPr>
          <a:xfrm>
            <a:off x="179871" y="199083"/>
            <a:ext cx="9823106"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Yield extraction</a:t>
            </a:r>
          </a:p>
        </p:txBody>
      </p:sp>
      <p:pic>
        <p:nvPicPr>
          <p:cNvPr id="8" name="Image 14">
            <a:extLst>
              <a:ext uri="{FF2B5EF4-FFF2-40B4-BE49-F238E27FC236}">
                <a16:creationId xmlns:a16="http://schemas.microsoft.com/office/drawing/2014/main" id="{E8522DC7-C27D-2D52-51AC-74574B4AAE1B}"/>
              </a:ext>
            </a:extLst>
          </p:cNvPr>
          <p:cNvPicPr>
            <a:picLocks noChangeAspect="1"/>
          </p:cNvPicPr>
          <p:nvPr/>
        </p:nvPicPr>
        <p:blipFill>
          <a:blip r:embed="rId3"/>
          <a:stretch>
            <a:fillRect/>
          </a:stretch>
        </p:blipFill>
        <p:spPr>
          <a:xfrm>
            <a:off x="1565224" y="917088"/>
            <a:ext cx="3020327" cy="2249597"/>
          </a:xfrm>
          <a:prstGeom prst="rect">
            <a:avLst/>
          </a:prstGeom>
          <a:noFill/>
          <a:ln cap="flat">
            <a:noFill/>
          </a:ln>
        </p:spPr>
      </p:pic>
      <p:pic>
        <p:nvPicPr>
          <p:cNvPr id="9" name="Image 16">
            <a:extLst>
              <a:ext uri="{FF2B5EF4-FFF2-40B4-BE49-F238E27FC236}">
                <a16:creationId xmlns:a16="http://schemas.microsoft.com/office/drawing/2014/main" id="{EB551728-1E46-42FA-9539-B07531D448F9}"/>
              </a:ext>
            </a:extLst>
          </p:cNvPr>
          <p:cNvPicPr>
            <a:picLocks noChangeAspect="1"/>
          </p:cNvPicPr>
          <p:nvPr/>
        </p:nvPicPr>
        <p:blipFill>
          <a:blip r:embed="rId4"/>
          <a:stretch>
            <a:fillRect/>
          </a:stretch>
        </p:blipFill>
        <p:spPr>
          <a:xfrm>
            <a:off x="1565224" y="3183776"/>
            <a:ext cx="3020327" cy="2167256"/>
          </a:xfrm>
          <a:prstGeom prst="rect">
            <a:avLst/>
          </a:prstGeom>
          <a:noFill/>
          <a:ln cap="flat">
            <a:noFill/>
          </a:ln>
        </p:spPr>
      </p:pic>
      <p:pic>
        <p:nvPicPr>
          <p:cNvPr id="10" name="Image 18">
            <a:extLst>
              <a:ext uri="{FF2B5EF4-FFF2-40B4-BE49-F238E27FC236}">
                <a16:creationId xmlns:a16="http://schemas.microsoft.com/office/drawing/2014/main" id="{58F01EA1-1626-6DF3-07C3-E7092FFD377F}"/>
              </a:ext>
            </a:extLst>
          </p:cNvPr>
          <p:cNvPicPr>
            <a:picLocks noChangeAspect="1"/>
          </p:cNvPicPr>
          <p:nvPr/>
        </p:nvPicPr>
        <p:blipFill>
          <a:blip r:embed="rId5"/>
          <a:srcRect t="2387" b="-1"/>
          <a:stretch>
            <a:fillRect/>
          </a:stretch>
        </p:blipFill>
        <p:spPr>
          <a:xfrm>
            <a:off x="5091424" y="948964"/>
            <a:ext cx="3120865" cy="2245217"/>
          </a:xfrm>
          <a:prstGeom prst="rect">
            <a:avLst/>
          </a:prstGeom>
          <a:noFill/>
          <a:ln cap="flat">
            <a:noFill/>
          </a:ln>
        </p:spPr>
      </p:pic>
      <p:pic>
        <p:nvPicPr>
          <p:cNvPr id="11" name="Image 20">
            <a:extLst>
              <a:ext uri="{FF2B5EF4-FFF2-40B4-BE49-F238E27FC236}">
                <a16:creationId xmlns:a16="http://schemas.microsoft.com/office/drawing/2014/main" id="{79BF1E65-B06C-315A-6671-D93FF77929A7}"/>
              </a:ext>
            </a:extLst>
          </p:cNvPr>
          <p:cNvPicPr>
            <a:picLocks noChangeAspect="1"/>
          </p:cNvPicPr>
          <p:nvPr/>
        </p:nvPicPr>
        <p:blipFill>
          <a:blip r:embed="rId6"/>
          <a:stretch>
            <a:fillRect/>
          </a:stretch>
        </p:blipFill>
        <p:spPr>
          <a:xfrm>
            <a:off x="5091424" y="3182971"/>
            <a:ext cx="3120865" cy="2226024"/>
          </a:xfrm>
          <a:prstGeom prst="rect">
            <a:avLst/>
          </a:prstGeom>
          <a:noFill/>
          <a:ln cap="flat">
            <a:noFill/>
          </a:ln>
        </p:spPr>
      </p:pic>
      <p:sp>
        <p:nvSpPr>
          <p:cNvPr id="12" name="ZoneTexte 21">
            <a:extLst>
              <a:ext uri="{FF2B5EF4-FFF2-40B4-BE49-F238E27FC236}">
                <a16:creationId xmlns:a16="http://schemas.microsoft.com/office/drawing/2014/main" id="{F596C764-680D-036C-90D3-31CB040F969F}"/>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3" name="ZoneTexte 22">
            <a:extLst>
              <a:ext uri="{FF2B5EF4-FFF2-40B4-BE49-F238E27FC236}">
                <a16:creationId xmlns:a16="http://schemas.microsoft.com/office/drawing/2014/main" id="{F164529B-B843-84E6-07E8-799D45FEE08D}"/>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75">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C06DEE57-B626-3956-7B65-F1DABABA347A}"/>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AE4A0DA0-A4EF-6486-3482-802D0834A3DC}"/>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2E244D62-34DF-C3A0-87EE-BE8227D67FBC}"/>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9524393E-C8B1-10EA-A89B-B4F8D187EFE3}"/>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D03850F0-9C09-B427-AC12-47CB643AA2E5}"/>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15</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B295657A-2DF3-1E0C-1F4C-AF3FA7DE4745}"/>
              </a:ext>
            </a:extLst>
          </p:cNvPr>
          <p:cNvSpPr txBox="1"/>
          <p:nvPr/>
        </p:nvSpPr>
        <p:spPr>
          <a:xfrm>
            <a:off x="179871" y="199083"/>
            <a:ext cx="9823106"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Efficiency correction</a:t>
            </a:r>
          </a:p>
        </p:txBody>
      </p:sp>
      <p:pic>
        <p:nvPicPr>
          <p:cNvPr id="8" name="Image 14">
            <a:extLst>
              <a:ext uri="{FF2B5EF4-FFF2-40B4-BE49-F238E27FC236}">
                <a16:creationId xmlns:a16="http://schemas.microsoft.com/office/drawing/2014/main" id="{B7B2E455-869B-A5DD-C893-0E2F83057E75}"/>
              </a:ext>
            </a:extLst>
          </p:cNvPr>
          <p:cNvPicPr>
            <a:picLocks noChangeAspect="1"/>
          </p:cNvPicPr>
          <p:nvPr/>
        </p:nvPicPr>
        <p:blipFill>
          <a:blip r:embed="rId3"/>
          <a:stretch>
            <a:fillRect/>
          </a:stretch>
        </p:blipFill>
        <p:spPr>
          <a:xfrm>
            <a:off x="371017" y="994409"/>
            <a:ext cx="4109185" cy="3240020"/>
          </a:xfrm>
          <a:prstGeom prst="rect">
            <a:avLst/>
          </a:prstGeom>
          <a:noFill/>
          <a:ln cap="flat">
            <a:noFill/>
          </a:ln>
        </p:spPr>
      </p:pic>
      <p:pic>
        <p:nvPicPr>
          <p:cNvPr id="9" name="Image 16">
            <a:extLst>
              <a:ext uri="{FF2B5EF4-FFF2-40B4-BE49-F238E27FC236}">
                <a16:creationId xmlns:a16="http://schemas.microsoft.com/office/drawing/2014/main" id="{1AB9E61E-C7A4-25A0-3D8E-2DD6C9E937DC}"/>
              </a:ext>
            </a:extLst>
          </p:cNvPr>
          <p:cNvPicPr>
            <a:picLocks noChangeAspect="1"/>
          </p:cNvPicPr>
          <p:nvPr/>
        </p:nvPicPr>
        <p:blipFill>
          <a:blip r:embed="rId4"/>
          <a:stretch>
            <a:fillRect/>
          </a:stretch>
        </p:blipFill>
        <p:spPr>
          <a:xfrm>
            <a:off x="5250219" y="1101605"/>
            <a:ext cx="4310829" cy="3231142"/>
          </a:xfrm>
          <a:prstGeom prst="rect">
            <a:avLst/>
          </a:prstGeom>
          <a:noFill/>
          <a:ln cap="flat">
            <a:noFill/>
          </a:ln>
        </p:spPr>
      </p:pic>
      <p:sp>
        <p:nvSpPr>
          <p:cNvPr id="10" name="ZoneTexte 18">
            <a:extLst>
              <a:ext uri="{FF2B5EF4-FFF2-40B4-BE49-F238E27FC236}">
                <a16:creationId xmlns:a16="http://schemas.microsoft.com/office/drawing/2014/main" id="{1CA24BE6-0EBA-B28C-D4CE-BC999DF89D4D}"/>
              </a:ext>
            </a:extLst>
          </p:cNvPr>
          <p:cNvSpPr txBox="1"/>
          <p:nvPr/>
        </p:nvSpPr>
        <p:spPr>
          <a:xfrm>
            <a:off x="5091424" y="4491669"/>
            <a:ext cx="5042916" cy="73866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Helvetica" pitchFamily="2"/>
              </a:rPr>
              <a:t>Neutron efficiency (FD) in data from</a:t>
            </a:r>
            <a:r>
              <a:rPr lang="fr-FR" sz="1400" b="1" i="0" u="none" strike="noStrike" kern="1200" cap="none" spc="0" baseline="0">
                <a:solidFill>
                  <a:srgbClr val="000000"/>
                </a:solidFill>
                <a:uFillTx/>
                <a:latin typeface="Helvetica" pitchFamily="2"/>
              </a:rPr>
              <a:t> Lamya Baashen </a:t>
            </a:r>
            <a:r>
              <a:rPr lang="fr-FR" sz="1400" b="0" i="0" u="none" strike="noStrike" kern="1200" cap="none" spc="0" baseline="0">
                <a:solidFill>
                  <a:srgbClr val="000000"/>
                </a:solidFill>
                <a:uFillTx/>
                <a:latin typeface="Helvetica" pitchFamily="2"/>
              </a:rPr>
              <a:t>thesis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400" b="0" i="0" u="none" strike="noStrike" kern="1200" cap="none" spc="0" baseline="0">
              <a:solidFill>
                <a:srgbClr val="000000"/>
              </a:solidFill>
              <a:uFillTx/>
              <a:latin typeface="Helvetica" pitchFamily="2"/>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Helvetica" pitchFamily="2"/>
              </a:rPr>
              <a:t>(with P</a:t>
            </a:r>
            <a:r>
              <a:rPr lang="fr-FR" sz="1400" b="0" i="0" u="none" strike="noStrike" kern="1200" cap="none" spc="0" baseline="-25000">
                <a:solidFill>
                  <a:srgbClr val="000000"/>
                </a:solidFill>
                <a:uFillTx/>
                <a:latin typeface="Helvetica" pitchFamily="2"/>
              </a:rPr>
              <a:t>mm </a:t>
            </a:r>
            <a:r>
              <a:rPr lang="fr-FR" sz="1400" b="0" i="0" u="none" strike="noStrike" kern="1200" cap="none" spc="0" baseline="0">
                <a:solidFill>
                  <a:srgbClr val="000000"/>
                </a:solidFill>
                <a:uFillTx/>
                <a:latin typeface="Helvetica" pitchFamily="2"/>
              </a:rPr>
              <a:t>the missing momentum)</a:t>
            </a:r>
          </a:p>
        </p:txBody>
      </p:sp>
      <p:sp>
        <p:nvSpPr>
          <p:cNvPr id="11" name="ZoneTexte 20">
            <a:extLst>
              <a:ext uri="{FF2B5EF4-FFF2-40B4-BE49-F238E27FC236}">
                <a16:creationId xmlns:a16="http://schemas.microsoft.com/office/drawing/2014/main" id="{D28142D9-1F0A-A06B-E84D-79D90B6222B5}"/>
              </a:ext>
            </a:extLst>
          </p:cNvPr>
          <p:cNvSpPr txBox="1"/>
          <p:nvPr/>
        </p:nvSpPr>
        <p:spPr>
          <a:xfrm>
            <a:off x="179871" y="4491304"/>
            <a:ext cx="5070348"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Helvetica" pitchFamily="2"/>
              </a:rPr>
              <a:t>Neutron efficiency in MC : </a:t>
            </a:r>
          </a:p>
        </p:txBody>
      </p:sp>
      <p:sp>
        <p:nvSpPr>
          <p:cNvPr id="12" name="ZoneTexte 22">
            <a:extLst>
              <a:ext uri="{FF2B5EF4-FFF2-40B4-BE49-F238E27FC236}">
                <a16:creationId xmlns:a16="http://schemas.microsoft.com/office/drawing/2014/main" id="{5ED9AA1D-7DAF-3277-012F-EE2366D4C2AD}"/>
              </a:ext>
            </a:extLst>
          </p:cNvPr>
          <p:cNvSpPr txBox="1"/>
          <p:nvPr/>
        </p:nvSpPr>
        <p:spPr>
          <a:xfrm>
            <a:off x="144868" y="4997808"/>
            <a:ext cx="4335334"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Helvetica" pitchFamily="2"/>
              </a:rPr>
              <a:t>(Fiducial cut for Nrec and accpetance cut for Ngen)</a:t>
            </a:r>
          </a:p>
        </p:txBody>
      </p:sp>
      <p:sp>
        <p:nvSpPr>
          <p:cNvPr id="13" name="ZoneTexte 14">
            <a:extLst>
              <a:ext uri="{FF2B5EF4-FFF2-40B4-BE49-F238E27FC236}">
                <a16:creationId xmlns:a16="http://schemas.microsoft.com/office/drawing/2014/main" id="{1A8230A6-8997-786B-90D0-31A47214CBC4}"/>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4" name="ZoneTexte 15">
            <a:extLst>
              <a:ext uri="{FF2B5EF4-FFF2-40B4-BE49-F238E27FC236}">
                <a16:creationId xmlns:a16="http://schemas.microsoft.com/office/drawing/2014/main" id="{0BFA6CEA-D26C-19EF-DB84-88F4DFD918C4}"/>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76">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7BCE6582-5074-F71D-3AF6-F1A0B2405F0E}"/>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088C32D1-71EB-44C0-C7E5-D074025D20D9}"/>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490FE745-ABB5-B839-05AF-31D08D32FB5E}"/>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98ED0223-41EB-11C6-B839-34ADDB7D92BC}"/>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1D30AC36-F447-01B6-2806-E9FD1BE4F56E}"/>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16</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CB173CF2-A9CF-EEFE-8E3D-245A2588D3DB}"/>
              </a:ext>
            </a:extLst>
          </p:cNvPr>
          <p:cNvSpPr txBox="1"/>
          <p:nvPr/>
        </p:nvSpPr>
        <p:spPr>
          <a:xfrm>
            <a:off x="179871" y="199083"/>
            <a:ext cx="9823106"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Efficiency correction</a:t>
            </a:r>
          </a:p>
        </p:txBody>
      </p:sp>
      <p:cxnSp>
        <p:nvCxnSpPr>
          <p:cNvPr id="8" name="Connecteur droit 40">
            <a:extLst>
              <a:ext uri="{FF2B5EF4-FFF2-40B4-BE49-F238E27FC236}">
                <a16:creationId xmlns:a16="http://schemas.microsoft.com/office/drawing/2014/main" id="{612B60B3-3174-9C73-C775-AAD7F02B1B32}"/>
              </a:ext>
            </a:extLst>
          </p:cNvPr>
          <p:cNvCxnSpPr/>
          <p:nvPr/>
        </p:nvCxnSpPr>
        <p:spPr>
          <a:xfrm flipH="1">
            <a:off x="4729185" y="3105787"/>
            <a:ext cx="362239" cy="0"/>
          </a:xfrm>
          <a:prstGeom prst="straightConnector1">
            <a:avLst/>
          </a:prstGeom>
          <a:noFill/>
          <a:ln w="44448" cap="flat">
            <a:solidFill>
              <a:srgbClr val="FF0000"/>
            </a:solidFill>
            <a:prstDash val="solid"/>
            <a:miter/>
            <a:headEnd type="arrow"/>
          </a:ln>
        </p:spPr>
      </p:cxnSp>
      <p:sp>
        <p:nvSpPr>
          <p:cNvPr id="9" name="ZoneTexte 12">
            <a:extLst>
              <a:ext uri="{FF2B5EF4-FFF2-40B4-BE49-F238E27FC236}">
                <a16:creationId xmlns:a16="http://schemas.microsoft.com/office/drawing/2014/main" id="{E2B1EF88-3440-104A-B61F-F7E01AE1CDD2}"/>
              </a:ext>
            </a:extLst>
          </p:cNvPr>
          <p:cNvSpPr txBox="1"/>
          <p:nvPr/>
        </p:nvSpPr>
        <p:spPr>
          <a:xfrm>
            <a:off x="6236208" y="4880235"/>
            <a:ext cx="3200400"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Helvetica" pitchFamily="2"/>
              </a:rPr>
              <a:t>MC with neutron efficiency correction</a:t>
            </a:r>
          </a:p>
        </p:txBody>
      </p:sp>
      <p:pic>
        <p:nvPicPr>
          <p:cNvPr id="10" name="Image 13">
            <a:extLst>
              <a:ext uri="{FF2B5EF4-FFF2-40B4-BE49-F238E27FC236}">
                <a16:creationId xmlns:a16="http://schemas.microsoft.com/office/drawing/2014/main" id="{B4D323B6-E6B9-3C2D-8ECB-BBAC21E1F630}"/>
              </a:ext>
            </a:extLst>
          </p:cNvPr>
          <p:cNvPicPr>
            <a:picLocks noChangeAspect="1"/>
          </p:cNvPicPr>
          <p:nvPr/>
        </p:nvPicPr>
        <p:blipFill>
          <a:blip r:embed="rId3"/>
          <a:stretch>
            <a:fillRect/>
          </a:stretch>
        </p:blipFill>
        <p:spPr>
          <a:xfrm>
            <a:off x="5142530" y="1125662"/>
            <a:ext cx="4860438" cy="3668645"/>
          </a:xfrm>
          <a:prstGeom prst="rect">
            <a:avLst/>
          </a:prstGeom>
          <a:noFill/>
          <a:ln cap="flat">
            <a:noFill/>
          </a:ln>
        </p:spPr>
      </p:pic>
      <p:pic>
        <p:nvPicPr>
          <p:cNvPr id="11" name="Image 15">
            <a:extLst>
              <a:ext uri="{FF2B5EF4-FFF2-40B4-BE49-F238E27FC236}">
                <a16:creationId xmlns:a16="http://schemas.microsoft.com/office/drawing/2014/main" id="{E07D3B6D-03B4-E24F-CF73-99331B1191F9}"/>
              </a:ext>
            </a:extLst>
          </p:cNvPr>
          <p:cNvPicPr>
            <a:picLocks noChangeAspect="1"/>
          </p:cNvPicPr>
          <p:nvPr/>
        </p:nvPicPr>
        <p:blipFill>
          <a:blip r:embed="rId4"/>
          <a:stretch>
            <a:fillRect/>
          </a:stretch>
        </p:blipFill>
        <p:spPr>
          <a:xfrm>
            <a:off x="84280" y="1099081"/>
            <a:ext cx="4644895" cy="3668645"/>
          </a:xfrm>
          <a:prstGeom prst="rect">
            <a:avLst/>
          </a:prstGeom>
          <a:noFill/>
          <a:ln cap="flat">
            <a:noFill/>
          </a:ln>
        </p:spPr>
      </p:pic>
      <p:sp>
        <p:nvSpPr>
          <p:cNvPr id="12" name="ZoneTexte 13">
            <a:extLst>
              <a:ext uri="{FF2B5EF4-FFF2-40B4-BE49-F238E27FC236}">
                <a16:creationId xmlns:a16="http://schemas.microsoft.com/office/drawing/2014/main" id="{F6AC67A4-2539-FC2D-26B2-46BC2AB95160}"/>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3" name="ZoneTexte 14">
            <a:extLst>
              <a:ext uri="{FF2B5EF4-FFF2-40B4-BE49-F238E27FC236}">
                <a16:creationId xmlns:a16="http://schemas.microsoft.com/office/drawing/2014/main" id="{C37591DF-68F2-02C8-55FD-821FA5E23576}"/>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77">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9906864D-E074-124C-F712-4155D6B78F23}"/>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17EE4D66-CAAC-DF0C-05FB-BE144BF8FB21}"/>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FE67393D-B0E1-3B59-2B89-751D02BE6F85}"/>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999CE719-7288-170B-3F5C-9B25A2AF3FD9}"/>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0115A957-FE23-F6F7-CF39-4E0B077E1E74}"/>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17</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ECC0FD60-6BF9-E995-5A9B-0FAEA76BACA5}"/>
              </a:ext>
            </a:extLst>
          </p:cNvPr>
          <p:cNvSpPr txBox="1"/>
          <p:nvPr/>
        </p:nvSpPr>
        <p:spPr>
          <a:xfrm>
            <a:off x="179871" y="199083"/>
            <a:ext cx="9823106"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Acceptance correction</a:t>
            </a:r>
          </a:p>
        </p:txBody>
      </p:sp>
      <p:pic>
        <p:nvPicPr>
          <p:cNvPr id="8" name="Image 14">
            <a:extLst>
              <a:ext uri="{FF2B5EF4-FFF2-40B4-BE49-F238E27FC236}">
                <a16:creationId xmlns:a16="http://schemas.microsoft.com/office/drawing/2014/main" id="{8A8D1036-09AA-0341-2B31-73061B75B82F}"/>
              </a:ext>
            </a:extLst>
          </p:cNvPr>
          <p:cNvPicPr>
            <a:picLocks noChangeAspect="1"/>
          </p:cNvPicPr>
          <p:nvPr/>
        </p:nvPicPr>
        <p:blipFill>
          <a:blip r:embed="rId3"/>
          <a:stretch>
            <a:fillRect/>
          </a:stretch>
        </p:blipFill>
        <p:spPr>
          <a:xfrm>
            <a:off x="5586142" y="1344168"/>
            <a:ext cx="4494486" cy="3392424"/>
          </a:xfrm>
          <a:prstGeom prst="rect">
            <a:avLst/>
          </a:prstGeom>
          <a:noFill/>
          <a:ln cap="flat">
            <a:noFill/>
          </a:ln>
        </p:spPr>
      </p:pic>
      <p:sp>
        <p:nvSpPr>
          <p:cNvPr id="9" name="ZoneTexte 15">
            <a:extLst>
              <a:ext uri="{FF2B5EF4-FFF2-40B4-BE49-F238E27FC236}">
                <a16:creationId xmlns:a16="http://schemas.microsoft.com/office/drawing/2014/main" id="{992FA96A-F275-779B-6D62-FB42B15583F6}"/>
              </a:ext>
            </a:extLst>
          </p:cNvPr>
          <p:cNvSpPr txBox="1"/>
          <p:nvPr/>
        </p:nvSpPr>
        <p:spPr>
          <a:xfrm>
            <a:off x="430737" y="1773936"/>
            <a:ext cx="538929"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A = </a:t>
            </a:r>
          </a:p>
        </p:txBody>
      </p:sp>
      <p:pic>
        <p:nvPicPr>
          <p:cNvPr id="10" name="Image 17">
            <a:extLst>
              <a:ext uri="{FF2B5EF4-FFF2-40B4-BE49-F238E27FC236}">
                <a16:creationId xmlns:a16="http://schemas.microsoft.com/office/drawing/2014/main" id="{28EA72D0-276E-BC6F-5E93-98EDCA1AC38B}"/>
              </a:ext>
            </a:extLst>
          </p:cNvPr>
          <p:cNvPicPr>
            <a:picLocks noChangeAspect="1"/>
          </p:cNvPicPr>
          <p:nvPr/>
        </p:nvPicPr>
        <p:blipFill>
          <a:blip r:embed="rId4"/>
          <a:stretch>
            <a:fillRect/>
          </a:stretch>
        </p:blipFill>
        <p:spPr>
          <a:xfrm>
            <a:off x="0" y="3097603"/>
            <a:ext cx="2712732" cy="1971583"/>
          </a:xfrm>
          <a:prstGeom prst="rect">
            <a:avLst/>
          </a:prstGeom>
          <a:noFill/>
          <a:ln cap="flat">
            <a:noFill/>
          </a:ln>
        </p:spPr>
      </p:pic>
      <p:pic>
        <p:nvPicPr>
          <p:cNvPr id="11" name="Image 19">
            <a:extLst>
              <a:ext uri="{FF2B5EF4-FFF2-40B4-BE49-F238E27FC236}">
                <a16:creationId xmlns:a16="http://schemas.microsoft.com/office/drawing/2014/main" id="{EB700CC4-B8F8-1002-C756-4A03EF589511}"/>
              </a:ext>
            </a:extLst>
          </p:cNvPr>
          <p:cNvPicPr>
            <a:picLocks noChangeAspect="1"/>
          </p:cNvPicPr>
          <p:nvPr/>
        </p:nvPicPr>
        <p:blipFill>
          <a:blip r:embed="rId5"/>
          <a:stretch>
            <a:fillRect/>
          </a:stretch>
        </p:blipFill>
        <p:spPr>
          <a:xfrm>
            <a:off x="2782354" y="3101288"/>
            <a:ext cx="2712732" cy="1967889"/>
          </a:xfrm>
          <a:prstGeom prst="rect">
            <a:avLst/>
          </a:prstGeom>
          <a:noFill/>
          <a:ln cap="flat">
            <a:noFill/>
          </a:ln>
        </p:spPr>
      </p:pic>
      <p:sp>
        <p:nvSpPr>
          <p:cNvPr id="12" name="ZoneTexte 13">
            <a:extLst>
              <a:ext uri="{FF2B5EF4-FFF2-40B4-BE49-F238E27FC236}">
                <a16:creationId xmlns:a16="http://schemas.microsoft.com/office/drawing/2014/main" id="{1C84F642-ADAB-C141-8788-7D0BA7A72F44}"/>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3" name="ZoneTexte 14">
            <a:extLst>
              <a:ext uri="{FF2B5EF4-FFF2-40B4-BE49-F238E27FC236}">
                <a16:creationId xmlns:a16="http://schemas.microsoft.com/office/drawing/2014/main" id="{7F63B402-156A-0DA6-576E-FA0A2D64553B}"/>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78">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6ED1D96A-435D-9EC8-AD2E-665D0306C290}"/>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6CF1F0BA-6861-E167-9D93-396ADD90446D}"/>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4714ACD0-D357-9B3A-19A0-86B517A02CAF}"/>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5AFF3908-C838-C0B2-A0BC-B5C87CAC53F6}"/>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D5C6D72D-7832-B10D-A083-0721C18F423D}"/>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18</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0F29E5A4-FB3D-115B-61DC-01026FDA6ABD}"/>
              </a:ext>
            </a:extLst>
          </p:cNvPr>
          <p:cNvSpPr txBox="1"/>
          <p:nvPr/>
        </p:nvSpPr>
        <p:spPr>
          <a:xfrm>
            <a:off x="179871" y="199083"/>
            <a:ext cx="9823106"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Binning correction</a:t>
            </a:r>
          </a:p>
        </p:txBody>
      </p:sp>
      <p:pic>
        <p:nvPicPr>
          <p:cNvPr id="8" name="Image 10">
            <a:extLst>
              <a:ext uri="{FF2B5EF4-FFF2-40B4-BE49-F238E27FC236}">
                <a16:creationId xmlns:a16="http://schemas.microsoft.com/office/drawing/2014/main" id="{EAF8E6D7-F746-C36A-7E92-14DC9FA3FCFE}"/>
              </a:ext>
            </a:extLst>
          </p:cNvPr>
          <p:cNvPicPr>
            <a:picLocks noChangeAspect="1"/>
          </p:cNvPicPr>
          <p:nvPr/>
        </p:nvPicPr>
        <p:blipFill>
          <a:blip r:embed="rId3"/>
          <a:stretch>
            <a:fillRect/>
          </a:stretch>
        </p:blipFill>
        <p:spPr>
          <a:xfrm>
            <a:off x="104177" y="1066162"/>
            <a:ext cx="5162766" cy="4077675"/>
          </a:xfrm>
          <a:prstGeom prst="rect">
            <a:avLst/>
          </a:prstGeom>
          <a:noFill/>
          <a:ln cap="flat">
            <a:noFill/>
          </a:ln>
        </p:spPr>
      </p:pic>
      <p:cxnSp>
        <p:nvCxnSpPr>
          <p:cNvPr id="9" name="Connecteur droit 12">
            <a:extLst>
              <a:ext uri="{FF2B5EF4-FFF2-40B4-BE49-F238E27FC236}">
                <a16:creationId xmlns:a16="http://schemas.microsoft.com/office/drawing/2014/main" id="{E7588A6C-FD26-818D-12CC-EB0D415D54B2}"/>
              </a:ext>
            </a:extLst>
          </p:cNvPr>
          <p:cNvCxnSpPr/>
          <p:nvPr/>
        </p:nvCxnSpPr>
        <p:spPr>
          <a:xfrm>
            <a:off x="908630" y="4276164"/>
            <a:ext cx="0" cy="186556"/>
          </a:xfrm>
          <a:prstGeom prst="straightConnector1">
            <a:avLst/>
          </a:prstGeom>
          <a:noFill/>
          <a:ln w="25402" cap="flat">
            <a:solidFill>
              <a:srgbClr val="000000"/>
            </a:solidFill>
            <a:prstDash val="solid"/>
            <a:miter/>
          </a:ln>
        </p:spPr>
      </p:cxnSp>
      <p:cxnSp>
        <p:nvCxnSpPr>
          <p:cNvPr id="10" name="Connecteur droit 18">
            <a:extLst>
              <a:ext uri="{FF2B5EF4-FFF2-40B4-BE49-F238E27FC236}">
                <a16:creationId xmlns:a16="http://schemas.microsoft.com/office/drawing/2014/main" id="{3AF62FB2-8A58-62C9-2258-593D076F7B3E}"/>
              </a:ext>
            </a:extLst>
          </p:cNvPr>
          <p:cNvCxnSpPr/>
          <p:nvPr/>
        </p:nvCxnSpPr>
        <p:spPr>
          <a:xfrm>
            <a:off x="908630" y="4282519"/>
            <a:ext cx="1201274" cy="0"/>
          </a:xfrm>
          <a:prstGeom prst="straightConnector1">
            <a:avLst/>
          </a:prstGeom>
          <a:noFill/>
          <a:ln w="19046" cap="flat">
            <a:solidFill>
              <a:srgbClr val="000000"/>
            </a:solidFill>
            <a:prstDash val="solid"/>
            <a:miter/>
          </a:ln>
        </p:spPr>
      </p:cxnSp>
      <p:cxnSp>
        <p:nvCxnSpPr>
          <p:cNvPr id="11" name="Connecteur droit 27">
            <a:extLst>
              <a:ext uri="{FF2B5EF4-FFF2-40B4-BE49-F238E27FC236}">
                <a16:creationId xmlns:a16="http://schemas.microsoft.com/office/drawing/2014/main" id="{AF20E6B8-E8AB-3B42-E4FC-8A8951AD813E}"/>
              </a:ext>
            </a:extLst>
          </p:cNvPr>
          <p:cNvCxnSpPr/>
          <p:nvPr/>
        </p:nvCxnSpPr>
        <p:spPr>
          <a:xfrm>
            <a:off x="908630" y="4462720"/>
            <a:ext cx="1201274" cy="3182"/>
          </a:xfrm>
          <a:prstGeom prst="straightConnector1">
            <a:avLst/>
          </a:prstGeom>
          <a:noFill/>
          <a:ln w="19046" cap="flat">
            <a:solidFill>
              <a:srgbClr val="000000"/>
            </a:solidFill>
            <a:prstDash val="solid"/>
            <a:miter/>
          </a:ln>
        </p:spPr>
      </p:cxnSp>
      <p:cxnSp>
        <p:nvCxnSpPr>
          <p:cNvPr id="12" name="Connecteur droit 28">
            <a:extLst>
              <a:ext uri="{FF2B5EF4-FFF2-40B4-BE49-F238E27FC236}">
                <a16:creationId xmlns:a16="http://schemas.microsoft.com/office/drawing/2014/main" id="{F912BA52-C481-4409-06A0-EB35030E5064}"/>
              </a:ext>
            </a:extLst>
          </p:cNvPr>
          <p:cNvCxnSpPr/>
          <p:nvPr/>
        </p:nvCxnSpPr>
        <p:spPr>
          <a:xfrm>
            <a:off x="2109904" y="4282519"/>
            <a:ext cx="0" cy="186556"/>
          </a:xfrm>
          <a:prstGeom prst="straightConnector1">
            <a:avLst/>
          </a:prstGeom>
          <a:noFill/>
          <a:ln w="25402" cap="flat">
            <a:solidFill>
              <a:srgbClr val="000000"/>
            </a:solidFill>
            <a:prstDash val="solid"/>
            <a:miter/>
          </a:ln>
        </p:spPr>
      </p:cxnSp>
      <p:cxnSp>
        <p:nvCxnSpPr>
          <p:cNvPr id="13" name="Connecteur droit 33">
            <a:extLst>
              <a:ext uri="{FF2B5EF4-FFF2-40B4-BE49-F238E27FC236}">
                <a16:creationId xmlns:a16="http://schemas.microsoft.com/office/drawing/2014/main" id="{F0298CFA-2FA1-050B-1008-B2752338E967}"/>
              </a:ext>
            </a:extLst>
          </p:cNvPr>
          <p:cNvCxnSpPr/>
          <p:nvPr/>
        </p:nvCxnSpPr>
        <p:spPr>
          <a:xfrm flipV="1">
            <a:off x="992508" y="2560475"/>
            <a:ext cx="5312" cy="1715689"/>
          </a:xfrm>
          <a:prstGeom prst="straightConnector1">
            <a:avLst/>
          </a:prstGeom>
          <a:noFill/>
          <a:ln w="19046" cap="flat">
            <a:solidFill>
              <a:srgbClr val="000000"/>
            </a:solidFill>
            <a:prstDash val="solid"/>
            <a:miter/>
          </a:ln>
        </p:spPr>
      </p:cxnSp>
      <p:cxnSp>
        <p:nvCxnSpPr>
          <p:cNvPr id="14" name="Connecteur droit 36">
            <a:extLst>
              <a:ext uri="{FF2B5EF4-FFF2-40B4-BE49-F238E27FC236}">
                <a16:creationId xmlns:a16="http://schemas.microsoft.com/office/drawing/2014/main" id="{A02F1A74-2DE6-78A7-3978-E089563162E3}"/>
              </a:ext>
            </a:extLst>
          </p:cNvPr>
          <p:cNvCxnSpPr/>
          <p:nvPr/>
        </p:nvCxnSpPr>
        <p:spPr>
          <a:xfrm flipV="1">
            <a:off x="3389817" y="2568961"/>
            <a:ext cx="0" cy="1722043"/>
          </a:xfrm>
          <a:prstGeom prst="straightConnector1">
            <a:avLst/>
          </a:prstGeom>
          <a:noFill/>
          <a:ln w="19046" cap="flat">
            <a:solidFill>
              <a:srgbClr val="000000"/>
            </a:solidFill>
            <a:prstDash val="solid"/>
            <a:miter/>
          </a:ln>
        </p:spPr>
      </p:cxnSp>
      <p:cxnSp>
        <p:nvCxnSpPr>
          <p:cNvPr id="15" name="Connecteur droit 37">
            <a:extLst>
              <a:ext uri="{FF2B5EF4-FFF2-40B4-BE49-F238E27FC236}">
                <a16:creationId xmlns:a16="http://schemas.microsoft.com/office/drawing/2014/main" id="{9276999E-3854-EA1E-391A-85DB17A6523A}"/>
              </a:ext>
            </a:extLst>
          </p:cNvPr>
          <p:cNvCxnSpPr/>
          <p:nvPr/>
        </p:nvCxnSpPr>
        <p:spPr>
          <a:xfrm>
            <a:off x="997820" y="4280937"/>
            <a:ext cx="2391997" cy="7937"/>
          </a:xfrm>
          <a:prstGeom prst="straightConnector1">
            <a:avLst/>
          </a:prstGeom>
          <a:noFill/>
          <a:ln w="19046" cap="flat">
            <a:solidFill>
              <a:srgbClr val="000000"/>
            </a:solidFill>
            <a:prstDash val="solid"/>
            <a:miter/>
          </a:ln>
        </p:spPr>
      </p:cxnSp>
      <p:cxnSp>
        <p:nvCxnSpPr>
          <p:cNvPr id="16" name="Connecteur droit 41">
            <a:extLst>
              <a:ext uri="{FF2B5EF4-FFF2-40B4-BE49-F238E27FC236}">
                <a16:creationId xmlns:a16="http://schemas.microsoft.com/office/drawing/2014/main" id="{415BF422-ACEA-375D-1B9E-98872543AF76}"/>
              </a:ext>
            </a:extLst>
          </p:cNvPr>
          <p:cNvCxnSpPr/>
          <p:nvPr/>
        </p:nvCxnSpPr>
        <p:spPr>
          <a:xfrm>
            <a:off x="997820" y="2568961"/>
            <a:ext cx="2391997" cy="0"/>
          </a:xfrm>
          <a:prstGeom prst="straightConnector1">
            <a:avLst/>
          </a:prstGeom>
          <a:noFill/>
          <a:ln w="19046" cap="flat">
            <a:solidFill>
              <a:srgbClr val="000000"/>
            </a:solidFill>
            <a:prstDash val="solid"/>
            <a:miter/>
          </a:ln>
        </p:spPr>
      </p:cxnSp>
      <p:sp>
        <p:nvSpPr>
          <p:cNvPr id="17" name="ZoneTexte 42">
            <a:extLst>
              <a:ext uri="{FF2B5EF4-FFF2-40B4-BE49-F238E27FC236}">
                <a16:creationId xmlns:a16="http://schemas.microsoft.com/office/drawing/2014/main" id="{2C3693C4-2A89-C081-08E0-84BD4988E1B2}"/>
              </a:ext>
            </a:extLst>
          </p:cNvPr>
          <p:cNvSpPr txBox="1"/>
          <p:nvPr/>
        </p:nvSpPr>
        <p:spPr>
          <a:xfrm>
            <a:off x="6091687" y="2191140"/>
            <a:ext cx="1231980"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f = </a:t>
            </a:r>
          </a:p>
        </p:txBody>
      </p:sp>
      <p:graphicFrame>
        <p:nvGraphicFramePr>
          <p:cNvPr id="18" name="Tableau 22">
            <a:extLst>
              <a:ext uri="{FF2B5EF4-FFF2-40B4-BE49-F238E27FC236}">
                <a16:creationId xmlns:a16="http://schemas.microsoft.com/office/drawing/2014/main" id="{0DBD78C4-61BC-F92E-F137-1FF169055958}"/>
              </a:ext>
            </a:extLst>
          </p:cNvPr>
          <p:cNvGraphicFramePr>
            <a:graphicFrameLocks noGrp="1"/>
          </p:cNvGraphicFramePr>
          <p:nvPr/>
        </p:nvGraphicFramePr>
        <p:xfrm>
          <a:off x="5644929" y="3484650"/>
          <a:ext cx="4148139" cy="804223"/>
        </p:xfrm>
        <a:graphic>
          <a:graphicData uri="http://schemas.openxmlformats.org/drawingml/2006/table">
            <a:tbl>
              <a:tblPr firstRow="1" bandRow="1">
                <a:effectLst/>
                <a:tableStyleId>{5940675A-B579-460E-94D1-54222C63F5DA}</a:tableStyleId>
              </a:tblPr>
              <a:tblGrid>
                <a:gridCol w="1382709">
                  <a:extLst>
                    <a:ext uri="{9D8B030D-6E8A-4147-A177-3AD203B41FA5}">
                      <a16:colId xmlns:a16="http://schemas.microsoft.com/office/drawing/2014/main" val="1154011860"/>
                    </a:ext>
                  </a:extLst>
                </a:gridCol>
                <a:gridCol w="1382709">
                  <a:extLst>
                    <a:ext uri="{9D8B030D-6E8A-4147-A177-3AD203B41FA5}">
                      <a16:colId xmlns:a16="http://schemas.microsoft.com/office/drawing/2014/main" val="2576769318"/>
                    </a:ext>
                  </a:extLst>
                </a:gridCol>
                <a:gridCol w="1382709">
                  <a:extLst>
                    <a:ext uri="{9D8B030D-6E8A-4147-A177-3AD203B41FA5}">
                      <a16:colId xmlns:a16="http://schemas.microsoft.com/office/drawing/2014/main" val="3351762244"/>
                    </a:ext>
                  </a:extLst>
                </a:gridCol>
              </a:tblGrid>
              <a:tr h="371721">
                <a:tc>
                  <a:txBody>
                    <a:bodyPr/>
                    <a:lstStyle/>
                    <a:p>
                      <a:pPr lvl="0"/>
                      <a:r>
                        <a:rPr lang="fr-FR" sz="1200" b="1">
                          <a:solidFill>
                            <a:srgbClr val="4472C4"/>
                          </a:solidFill>
                        </a:rPr>
                        <a:t>bin</a:t>
                      </a:r>
                    </a:p>
                  </a:txBody>
                  <a:tcPr/>
                </a:tc>
                <a:tc>
                  <a:txBody>
                    <a:bodyPr/>
                    <a:lstStyle/>
                    <a:p>
                      <a:pPr lvl="0"/>
                      <a:r>
                        <a:rPr lang="fr-FR" sz="1200"/>
                        <a:t>1.0 &lt; </a:t>
                      </a:r>
                      <a:r>
                        <a:rPr lang="fr-FR" sz="1200" b="1"/>
                        <a:t>Q</a:t>
                      </a:r>
                      <a:r>
                        <a:rPr lang="fr-FR" sz="1200" b="1" baseline="30000"/>
                        <a:t>2</a:t>
                      </a:r>
                      <a:r>
                        <a:rPr lang="fr-FR" sz="1200" baseline="30000"/>
                        <a:t> </a:t>
                      </a:r>
                      <a:r>
                        <a:rPr lang="fr-FR" sz="1200" baseline="0"/>
                        <a:t>&lt; 1.5 GeV</a:t>
                      </a:r>
                      <a:r>
                        <a:rPr lang="fr-FR" sz="1200" baseline="30000"/>
                        <a:t>2</a:t>
                      </a:r>
                    </a:p>
                    <a:p>
                      <a:pPr lvl="0"/>
                      <a:r>
                        <a:rPr lang="fr-FR" sz="1200" baseline="0"/>
                        <a:t>0.05 &lt; </a:t>
                      </a:r>
                      <a:r>
                        <a:rPr lang="fr-FR" sz="1200" b="1" baseline="0"/>
                        <a:t>xb</a:t>
                      </a:r>
                      <a:r>
                        <a:rPr lang="fr-FR" sz="1200" baseline="0"/>
                        <a:t> &lt; 1.34</a:t>
                      </a:r>
                    </a:p>
                  </a:txBody>
                  <a:tcPr/>
                </a:tc>
                <a:tc>
                  <a:txBody>
                    <a:bodyPr/>
                    <a:lstStyle/>
                    <a:p>
                      <a:pPr lvl="0"/>
                      <a:r>
                        <a:rPr lang="fr-FR" sz="1200"/>
                        <a:t>1.5 &lt;</a:t>
                      </a:r>
                      <a:r>
                        <a:rPr lang="fr-FR" sz="1200" b="1"/>
                        <a:t> Q</a:t>
                      </a:r>
                      <a:r>
                        <a:rPr lang="fr-FR" sz="1200" b="1" baseline="30000"/>
                        <a:t>2 </a:t>
                      </a:r>
                      <a:r>
                        <a:rPr lang="fr-FR" sz="1200" baseline="0"/>
                        <a:t>&lt; 6.5 GeV</a:t>
                      </a:r>
                      <a:r>
                        <a:rPr lang="fr-FR" sz="1200" baseline="30000"/>
                        <a:t>2</a:t>
                      </a:r>
                    </a:p>
                    <a:p>
                      <a:pPr lvl="0"/>
                      <a:r>
                        <a:rPr lang="fr-FR" sz="1200" baseline="0"/>
                        <a:t>0.08 &lt; </a:t>
                      </a:r>
                      <a:r>
                        <a:rPr lang="fr-FR" sz="1200" b="1" baseline="0"/>
                        <a:t>xb</a:t>
                      </a:r>
                      <a:r>
                        <a:rPr lang="fr-FR" sz="1200" baseline="0"/>
                        <a:t> &lt; 0.7</a:t>
                      </a:r>
                    </a:p>
                  </a:txBody>
                  <a:tcPr/>
                </a:tc>
                <a:extLst>
                  <a:ext uri="{0D108BD9-81ED-4DB2-BD59-A6C34878D82A}">
                    <a16:rowId xmlns:a16="http://schemas.microsoft.com/office/drawing/2014/main" val="2537707226"/>
                  </a:ext>
                </a:extLst>
              </a:tr>
              <a:tr h="347023">
                <a:tc>
                  <a:txBody>
                    <a:bodyPr/>
                    <a:lstStyle/>
                    <a:p>
                      <a:pPr lvl="0"/>
                      <a:r>
                        <a:rPr lang="fr-FR" sz="1200" b="1">
                          <a:solidFill>
                            <a:srgbClr val="4472C4"/>
                          </a:solidFill>
                        </a:rPr>
                        <a:t>f</a:t>
                      </a:r>
                    </a:p>
                  </a:txBody>
                  <a:tcPr/>
                </a:tc>
                <a:tc>
                  <a:txBody>
                    <a:bodyPr/>
                    <a:lstStyle/>
                    <a:p>
                      <a:pPr lvl="0"/>
                      <a:r>
                        <a:rPr lang="fr-FR" sz="1200" b="1"/>
                        <a:t>0.81</a:t>
                      </a:r>
                    </a:p>
                  </a:txBody>
                  <a:tcPr/>
                </a:tc>
                <a:tc>
                  <a:txBody>
                    <a:bodyPr/>
                    <a:lstStyle/>
                    <a:p>
                      <a:pPr lvl="0"/>
                      <a:r>
                        <a:rPr lang="fr-FR" sz="1200" b="1"/>
                        <a:t>0.49</a:t>
                      </a:r>
                    </a:p>
                  </a:txBody>
                  <a:tcPr/>
                </a:tc>
                <a:extLst>
                  <a:ext uri="{0D108BD9-81ED-4DB2-BD59-A6C34878D82A}">
                    <a16:rowId xmlns:a16="http://schemas.microsoft.com/office/drawing/2014/main" val="783248207"/>
                  </a:ext>
                </a:extLst>
              </a:tr>
            </a:tbl>
          </a:graphicData>
        </a:graphic>
      </p:graphicFrame>
      <p:sp>
        <p:nvSpPr>
          <p:cNvPr id="19" name="ZoneTexte 25">
            <a:extLst>
              <a:ext uri="{FF2B5EF4-FFF2-40B4-BE49-F238E27FC236}">
                <a16:creationId xmlns:a16="http://schemas.microsoft.com/office/drawing/2014/main" id="{5D31747A-CD61-433E-E493-C95D521CBD03}"/>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20" name="ZoneTexte 26">
            <a:extLst>
              <a:ext uri="{FF2B5EF4-FFF2-40B4-BE49-F238E27FC236}">
                <a16:creationId xmlns:a16="http://schemas.microsoft.com/office/drawing/2014/main" id="{07E0531A-9D39-DB32-12F8-897E6E0D14F1}"/>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79">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5A85988A-1220-0942-3410-098BDF2A7228}"/>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4B40480F-5B43-C089-4B08-2D072EC3A976}"/>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62AD5BEA-0D37-AFA8-6484-93300E804C19}"/>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DD1AF4AD-AF35-5F07-3F8E-A8CB08DBB580}"/>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4F1101C4-6769-E886-20EC-BE36D1CFE299}"/>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19</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DD48FA65-457A-E6E5-DBAF-3056C66247B4}"/>
              </a:ext>
            </a:extLst>
          </p:cNvPr>
          <p:cNvSpPr txBox="1"/>
          <p:nvPr/>
        </p:nvSpPr>
        <p:spPr>
          <a:xfrm>
            <a:off x="179871" y="199083"/>
            <a:ext cx="9823106"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Preliminary plot of the differential reduced cross section </a:t>
            </a:r>
          </a:p>
        </p:txBody>
      </p:sp>
      <p:pic>
        <p:nvPicPr>
          <p:cNvPr id="8" name="Image 11">
            <a:extLst>
              <a:ext uri="{FF2B5EF4-FFF2-40B4-BE49-F238E27FC236}">
                <a16:creationId xmlns:a16="http://schemas.microsoft.com/office/drawing/2014/main" id="{5844E944-05D3-9091-C62B-8986BECBA6D5}"/>
              </a:ext>
            </a:extLst>
          </p:cNvPr>
          <p:cNvPicPr>
            <a:picLocks noChangeAspect="1"/>
          </p:cNvPicPr>
          <p:nvPr/>
        </p:nvPicPr>
        <p:blipFill>
          <a:blip r:embed="rId3"/>
          <a:stretch>
            <a:fillRect/>
          </a:stretch>
        </p:blipFill>
        <p:spPr>
          <a:xfrm>
            <a:off x="5944020" y="1919389"/>
            <a:ext cx="4058957" cy="552489"/>
          </a:xfrm>
          <a:prstGeom prst="rect">
            <a:avLst/>
          </a:prstGeom>
          <a:noFill/>
          <a:ln cap="flat">
            <a:noFill/>
          </a:ln>
        </p:spPr>
      </p:pic>
      <p:pic>
        <p:nvPicPr>
          <p:cNvPr id="9" name="Image 13">
            <a:extLst>
              <a:ext uri="{FF2B5EF4-FFF2-40B4-BE49-F238E27FC236}">
                <a16:creationId xmlns:a16="http://schemas.microsoft.com/office/drawing/2014/main" id="{AE5329A7-E56C-CED7-01D4-AE6DC450F4DB}"/>
              </a:ext>
            </a:extLst>
          </p:cNvPr>
          <p:cNvPicPr>
            <a:picLocks noChangeAspect="1"/>
          </p:cNvPicPr>
          <p:nvPr/>
        </p:nvPicPr>
        <p:blipFill>
          <a:blip r:embed="rId4"/>
          <a:stretch>
            <a:fillRect/>
          </a:stretch>
        </p:blipFill>
        <p:spPr>
          <a:xfrm>
            <a:off x="5944020" y="2604229"/>
            <a:ext cx="2073914" cy="545768"/>
          </a:xfrm>
          <a:prstGeom prst="rect">
            <a:avLst/>
          </a:prstGeom>
          <a:noFill/>
          <a:ln cap="flat">
            <a:noFill/>
          </a:ln>
        </p:spPr>
      </p:pic>
      <p:pic>
        <p:nvPicPr>
          <p:cNvPr id="10" name="Image 15">
            <a:extLst>
              <a:ext uri="{FF2B5EF4-FFF2-40B4-BE49-F238E27FC236}">
                <a16:creationId xmlns:a16="http://schemas.microsoft.com/office/drawing/2014/main" id="{BEA81315-E296-69D8-D3C1-33990E51398D}"/>
              </a:ext>
            </a:extLst>
          </p:cNvPr>
          <p:cNvPicPr>
            <a:picLocks noChangeAspect="1"/>
          </p:cNvPicPr>
          <p:nvPr/>
        </p:nvPicPr>
        <p:blipFill>
          <a:blip r:embed="rId5"/>
          <a:stretch>
            <a:fillRect/>
          </a:stretch>
        </p:blipFill>
        <p:spPr>
          <a:xfrm>
            <a:off x="5944020" y="3729234"/>
            <a:ext cx="2830698" cy="545768"/>
          </a:xfrm>
          <a:prstGeom prst="rect">
            <a:avLst/>
          </a:prstGeom>
          <a:noFill/>
          <a:ln cap="flat">
            <a:noFill/>
          </a:ln>
        </p:spPr>
      </p:pic>
      <p:pic>
        <p:nvPicPr>
          <p:cNvPr id="11" name="Image 17">
            <a:extLst>
              <a:ext uri="{FF2B5EF4-FFF2-40B4-BE49-F238E27FC236}">
                <a16:creationId xmlns:a16="http://schemas.microsoft.com/office/drawing/2014/main" id="{70B0ABDE-84E6-2D61-08A1-0B1A0AE4AF6F}"/>
              </a:ext>
            </a:extLst>
          </p:cNvPr>
          <p:cNvPicPr>
            <a:picLocks noChangeAspect="1"/>
          </p:cNvPicPr>
          <p:nvPr/>
        </p:nvPicPr>
        <p:blipFill>
          <a:blip r:embed="rId6"/>
          <a:stretch>
            <a:fillRect/>
          </a:stretch>
        </p:blipFill>
        <p:spPr>
          <a:xfrm>
            <a:off x="179871" y="1219196"/>
            <a:ext cx="5448626" cy="4051541"/>
          </a:xfrm>
          <a:prstGeom prst="rect">
            <a:avLst/>
          </a:prstGeom>
          <a:noFill/>
          <a:ln cap="flat">
            <a:noFill/>
          </a:ln>
        </p:spPr>
      </p:pic>
      <p:sp>
        <p:nvSpPr>
          <p:cNvPr id="12" name="ZoneTexte 18">
            <a:extLst>
              <a:ext uri="{FF2B5EF4-FFF2-40B4-BE49-F238E27FC236}">
                <a16:creationId xmlns:a16="http://schemas.microsoft.com/office/drawing/2014/main" id="{7EF478BE-E468-85D0-1249-351A5C257DBC}"/>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3" name="ZoneTexte 19">
            <a:extLst>
              <a:ext uri="{FF2B5EF4-FFF2-40B4-BE49-F238E27FC236}">
                <a16:creationId xmlns:a16="http://schemas.microsoft.com/office/drawing/2014/main" id="{94768BE1-9822-5D5F-302F-A699152699C2}"/>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56">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AD66D864-9FD6-67A3-80C9-106C20515C92}"/>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605FA472-35E9-19B1-A926-B2901903BEE0}"/>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15AC8B0B-959B-A2E0-E9DC-E17891B8044D}"/>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C9522202-F1AD-ABB6-EAC3-951E8E8D50B7}"/>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D34909D5-C7F0-C401-6C22-B4B1E3B060D1}"/>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E56FBF19-E96C-FE17-14BF-F5026E7F3442}"/>
              </a:ext>
            </a:extLst>
          </p:cNvPr>
          <p:cNvSpPr txBox="1"/>
          <p:nvPr/>
        </p:nvSpPr>
        <p:spPr>
          <a:xfrm>
            <a:off x="170636" y="244345"/>
            <a:ext cx="5229362"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Conclusion </a:t>
            </a:r>
          </a:p>
        </p:txBody>
      </p:sp>
      <p:sp>
        <p:nvSpPr>
          <p:cNvPr id="8" name="ZoneTexte 10">
            <a:extLst>
              <a:ext uri="{FF2B5EF4-FFF2-40B4-BE49-F238E27FC236}">
                <a16:creationId xmlns:a16="http://schemas.microsoft.com/office/drawing/2014/main" id="{61221DD7-0760-E2F1-7A34-06CE8CC14B2D}"/>
              </a:ext>
            </a:extLst>
          </p:cNvPr>
          <p:cNvSpPr txBox="1"/>
          <p:nvPr/>
        </p:nvSpPr>
        <p:spPr>
          <a:xfrm>
            <a:off x="4468224" y="4542382"/>
            <a:ext cx="918331"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Thanks!</a:t>
            </a:r>
          </a:p>
        </p:txBody>
      </p:sp>
      <p:sp>
        <p:nvSpPr>
          <p:cNvPr id="9" name="ZoneTexte 11">
            <a:extLst>
              <a:ext uri="{FF2B5EF4-FFF2-40B4-BE49-F238E27FC236}">
                <a16:creationId xmlns:a16="http://schemas.microsoft.com/office/drawing/2014/main" id="{2C8B1DFE-3E8F-1282-394B-CE1989AFA2CA}"/>
              </a:ext>
            </a:extLst>
          </p:cNvPr>
          <p:cNvSpPr txBox="1"/>
          <p:nvPr/>
        </p:nvSpPr>
        <p:spPr>
          <a:xfrm>
            <a:off x="700201" y="1567025"/>
            <a:ext cx="4570399" cy="230832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0" cap="none" spc="0" baseline="0">
                <a:solidFill>
                  <a:srgbClr val="000000"/>
                </a:solidFill>
                <a:uFillTx/>
                <a:latin typeface="Calibri"/>
              </a:rPr>
              <a:t>Next steps :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0" cap="none" spc="0" baseline="0">
                <a:solidFill>
                  <a:srgbClr val="000000"/>
                </a:solidFill>
                <a:uFillTx/>
                <a:latin typeface="Calibri"/>
              </a:rPr>
              <a:t>-    Improve fits for signal and background</a:t>
            </a:r>
            <a:endParaRPr lang="fr-FR" sz="1800" b="0" i="0" u="none" strike="noStrike" kern="1200" cap="none" spc="0" baseline="0">
              <a:solidFill>
                <a:srgbClr val="000000"/>
              </a:solidFill>
              <a:uFillTx/>
              <a:latin typeface="Calibri"/>
            </a:endParaRPr>
          </a:p>
          <a:p>
            <a:pPr marL="285750" marR="0" lvl="0" indent="-285750" algn="l" defTabSz="9144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r>
              <a:rPr lang="fr-FR" sz="1800" b="0" i="0" u="none" strike="noStrike" kern="0" cap="none" spc="0" baseline="0">
                <a:solidFill>
                  <a:srgbClr val="000000"/>
                </a:solidFill>
                <a:uFillTx/>
                <a:latin typeface="Calibri"/>
              </a:rPr>
              <a:t>Run the code with the other data set</a:t>
            </a:r>
          </a:p>
          <a:p>
            <a:pPr marL="285750" marR="0" lvl="0" indent="-285750" algn="l" defTabSz="9144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r>
              <a:rPr lang="fr-FR" sz="1800" b="0" i="0" u="none" strike="noStrike" kern="0" cap="none" spc="0" baseline="0">
                <a:solidFill>
                  <a:srgbClr val="000000"/>
                </a:solidFill>
                <a:uFillTx/>
                <a:latin typeface="Calibri"/>
              </a:rPr>
              <a:t>More MC simulations </a:t>
            </a:r>
          </a:p>
          <a:p>
            <a:pPr marL="285750" marR="0" lvl="0" indent="-285750" algn="l" defTabSz="9144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r>
              <a:rPr lang="fr-FR" sz="1800" b="0" i="0" u="none" strike="noStrike" kern="0" cap="none" spc="0" baseline="0">
                <a:solidFill>
                  <a:srgbClr val="000000"/>
                </a:solidFill>
                <a:uFillTx/>
                <a:latin typeface="Calibri"/>
              </a:rPr>
              <a:t>Events in CD</a:t>
            </a:r>
          </a:p>
          <a:p>
            <a:pPr marL="285750" marR="0" lvl="0" indent="-285750" algn="l" defTabSz="9144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r>
              <a:rPr lang="fr-FR" sz="1800" b="0" i="0" u="none" strike="noStrike" kern="0" cap="none" spc="0" baseline="0">
                <a:solidFill>
                  <a:srgbClr val="000000"/>
                </a:solidFill>
                <a:uFillTx/>
                <a:latin typeface="Calibri"/>
              </a:rPr>
              <a:t>Momentum corrections</a:t>
            </a:r>
          </a:p>
          <a:p>
            <a:pPr marL="285750" marR="0" lvl="0" indent="-285750" algn="l" defTabSz="9144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Calibri"/>
            </a:endParaRPr>
          </a:p>
        </p:txBody>
      </p:sp>
      <p:sp>
        <p:nvSpPr>
          <p:cNvPr id="10" name="ZoneTexte 13">
            <a:extLst>
              <a:ext uri="{FF2B5EF4-FFF2-40B4-BE49-F238E27FC236}">
                <a16:creationId xmlns:a16="http://schemas.microsoft.com/office/drawing/2014/main" id="{C435AFAA-5A1A-A894-67E0-ACA0E48B49CB}"/>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1" name="ZoneTexte 14">
            <a:extLst>
              <a:ext uri="{FF2B5EF4-FFF2-40B4-BE49-F238E27FC236}">
                <a16:creationId xmlns:a16="http://schemas.microsoft.com/office/drawing/2014/main" id="{98560A85-8E09-B4C6-CC16-8AA7C57DE46C}"/>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80">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27B5C3F0-1903-57A6-DA93-176A078D43FC}"/>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CB63BBEA-424C-2446-0AF9-96374EA5169F}"/>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0336F3B7-9801-E4D6-F869-21C73716F364}"/>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DCC20992-4733-3518-4D2D-F118AB3F2DF6}"/>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952B0DED-980D-6645-2C2F-AA23A8AFB2D8}"/>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835DDDDA-511F-964F-0523-A0E057615969}"/>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Backup</a:t>
            </a:r>
          </a:p>
        </p:txBody>
      </p:sp>
      <p:sp>
        <p:nvSpPr>
          <p:cNvPr id="8" name="ZoneTexte 40">
            <a:extLst>
              <a:ext uri="{FF2B5EF4-FFF2-40B4-BE49-F238E27FC236}">
                <a16:creationId xmlns:a16="http://schemas.microsoft.com/office/drawing/2014/main" id="{AE7509A9-27EA-AABF-C2A0-907FFC5D56D2}"/>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5D575C7B-6064-C1BF-F462-8DA901011720}"/>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
        <p:nvSpPr>
          <p:cNvPr id="10" name="ZoneTexte 4">
            <a:extLst>
              <a:ext uri="{FF2B5EF4-FFF2-40B4-BE49-F238E27FC236}">
                <a16:creationId xmlns:a16="http://schemas.microsoft.com/office/drawing/2014/main" id="{DBB1A67D-889B-2463-231A-DCAC11DCBB33}"/>
              </a:ext>
            </a:extLst>
          </p:cNvPr>
          <p:cNvSpPr txBox="1"/>
          <p:nvPr/>
        </p:nvSpPr>
        <p:spPr>
          <a:xfrm>
            <a:off x="4155902" y="2835270"/>
            <a:ext cx="1491368"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Backup slides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99">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B5F6AA17-ED03-7877-96D8-D2C0780B5BA3}"/>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02750B7E-B765-4392-169C-EF2FC9506923}"/>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6D2190BF-1E0A-41C3-9BAD-B26EFBECAF5F}"/>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4">
            <a:extLst>
              <a:ext uri="{FF2B5EF4-FFF2-40B4-BE49-F238E27FC236}">
                <a16:creationId xmlns:a16="http://schemas.microsoft.com/office/drawing/2014/main" id="{EBBB2187-A670-3EF2-74AB-773E7E7A3086}"/>
              </a:ext>
            </a:extLst>
          </p:cNvPr>
          <p:cNvSpPr txBox="1"/>
          <p:nvPr/>
        </p:nvSpPr>
        <p:spPr>
          <a:xfrm>
            <a:off x="4480203" y="5408996"/>
            <a:ext cx="1324444"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 rgB - meeting</a:t>
            </a:r>
          </a:p>
        </p:txBody>
      </p:sp>
      <p:sp>
        <p:nvSpPr>
          <p:cNvPr id="6" name="ZoneTexte 5">
            <a:extLst>
              <a:ext uri="{FF2B5EF4-FFF2-40B4-BE49-F238E27FC236}">
                <a16:creationId xmlns:a16="http://schemas.microsoft.com/office/drawing/2014/main" id="{4C8EA79D-C425-22B4-D3E2-AAC1CBE831A6}"/>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7" name="ZoneTexte 6">
            <a:extLst>
              <a:ext uri="{FF2B5EF4-FFF2-40B4-BE49-F238E27FC236}">
                <a16:creationId xmlns:a16="http://schemas.microsoft.com/office/drawing/2014/main" id="{B531578C-5F1A-6DAD-2AA5-3BE4ACC1F839}"/>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13 Feb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
        <p:nvSpPr>
          <p:cNvPr id="8" name="ZoneTexte 7">
            <a:extLst>
              <a:ext uri="{FF2B5EF4-FFF2-40B4-BE49-F238E27FC236}">
                <a16:creationId xmlns:a16="http://schemas.microsoft.com/office/drawing/2014/main" id="{3C416019-CF39-AD43-20C6-5BFCA755E37B}"/>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9" name="ZoneTexte 8">
            <a:extLst>
              <a:ext uri="{FF2B5EF4-FFF2-40B4-BE49-F238E27FC236}">
                <a16:creationId xmlns:a16="http://schemas.microsoft.com/office/drawing/2014/main" id="{FB800121-3B6C-A300-A6D4-2E38178E4044}"/>
              </a:ext>
            </a:extLst>
          </p:cNvPr>
          <p:cNvSpPr txBox="1"/>
          <p:nvPr/>
        </p:nvSpPr>
        <p:spPr>
          <a:xfrm>
            <a:off x="170636" y="199083"/>
            <a:ext cx="5229362"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34"/>
                <a:ea typeface="Liberation Sans" pitchFamily="34"/>
                <a:cs typeface="Liberation Sans" pitchFamily="34"/>
              </a:rPr>
              <a:t>ɸ</a:t>
            </a:r>
            <a:r>
              <a:rPr lang="fr-FR" sz="2400" b="0" i="0" u="none" strike="noStrike" kern="0" cap="none" spc="0" baseline="0">
                <a:solidFill>
                  <a:srgbClr val="000000"/>
                </a:solidFill>
                <a:uFillTx/>
                <a:latin typeface="Liberation Sans" pitchFamily="34"/>
                <a:ea typeface="Liberation Sans" pitchFamily="34"/>
                <a:cs typeface="Liberation Sans" pitchFamily="34"/>
              </a:rPr>
              <a:t> </a:t>
            </a:r>
            <a:r>
              <a:rPr lang="fr-FR" sz="2400" b="0" i="0" u="none" strike="noStrike" kern="0" cap="none" spc="0" baseline="0">
                <a:solidFill>
                  <a:srgbClr val="FFFFFF"/>
                </a:solidFill>
                <a:uFillTx/>
                <a:latin typeface="Liberation Sans" pitchFamily="18"/>
                <a:ea typeface="Noto Sans CJK SC" pitchFamily="2"/>
                <a:cs typeface="Noto Sans" pitchFamily="2"/>
              </a:rPr>
              <a:t>generator for MC simulation</a:t>
            </a:r>
          </a:p>
        </p:txBody>
      </p:sp>
      <p:pic>
        <p:nvPicPr>
          <p:cNvPr id="10" name="Image 28">
            <a:extLst>
              <a:ext uri="{FF2B5EF4-FFF2-40B4-BE49-F238E27FC236}">
                <a16:creationId xmlns:a16="http://schemas.microsoft.com/office/drawing/2014/main" id="{2429434F-8B43-8530-3683-DD935A004FBC}"/>
              </a:ext>
            </a:extLst>
          </p:cNvPr>
          <p:cNvPicPr>
            <a:picLocks noChangeAspect="1"/>
          </p:cNvPicPr>
          <p:nvPr/>
        </p:nvPicPr>
        <p:blipFill>
          <a:blip r:embed="rId3"/>
          <a:stretch>
            <a:fillRect/>
          </a:stretch>
        </p:blipFill>
        <p:spPr>
          <a:xfrm>
            <a:off x="265541" y="2090629"/>
            <a:ext cx="1522850" cy="766980"/>
          </a:xfrm>
          <a:prstGeom prst="rect">
            <a:avLst/>
          </a:prstGeom>
          <a:noFill/>
          <a:ln cap="flat">
            <a:noFill/>
          </a:ln>
        </p:spPr>
      </p:pic>
      <p:sp>
        <p:nvSpPr>
          <p:cNvPr id="11" name="ZoneTexte 31">
            <a:extLst>
              <a:ext uri="{FF2B5EF4-FFF2-40B4-BE49-F238E27FC236}">
                <a16:creationId xmlns:a16="http://schemas.microsoft.com/office/drawing/2014/main" id="{F34536AE-E5C6-A690-0675-B99EE3D9CE2E}"/>
              </a:ext>
            </a:extLst>
          </p:cNvPr>
          <p:cNvSpPr txBox="1"/>
          <p:nvPr/>
        </p:nvSpPr>
        <p:spPr>
          <a:xfrm>
            <a:off x="1724293" y="2270930"/>
            <a:ext cx="8352614"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1" u="none" strike="noStrike" kern="1200" cap="none" spc="0" baseline="0">
                <a:solidFill>
                  <a:srgbClr val="000000"/>
                </a:solidFill>
                <a:uFillTx/>
                <a:latin typeface="Calibri" pitchFamily="34"/>
                <a:cs typeface="Calibri" pitchFamily="34"/>
              </a:rPr>
              <a:t>From Proposal to Jeﬀerson Lab PAC39 Exclusive Phi Meson Electroproduction with CLAS12</a:t>
            </a:r>
          </a:p>
        </p:txBody>
      </p:sp>
      <p:pic>
        <p:nvPicPr>
          <p:cNvPr id="12" name="Image 17">
            <a:extLst>
              <a:ext uri="{FF2B5EF4-FFF2-40B4-BE49-F238E27FC236}">
                <a16:creationId xmlns:a16="http://schemas.microsoft.com/office/drawing/2014/main" id="{DA7A4B3C-854A-1145-F83C-5F1946A32938}"/>
              </a:ext>
            </a:extLst>
          </p:cNvPr>
          <p:cNvPicPr>
            <a:picLocks noChangeAspect="1"/>
          </p:cNvPicPr>
          <p:nvPr/>
        </p:nvPicPr>
        <p:blipFill>
          <a:blip r:embed="rId4"/>
          <a:stretch>
            <a:fillRect/>
          </a:stretch>
        </p:blipFill>
        <p:spPr>
          <a:xfrm>
            <a:off x="485409" y="1464768"/>
            <a:ext cx="7772400" cy="446263"/>
          </a:xfrm>
          <a:prstGeom prst="rect">
            <a:avLst/>
          </a:prstGeom>
          <a:noFill/>
          <a:ln cap="flat">
            <a:noFill/>
          </a:ln>
        </p:spPr>
      </p:pic>
      <p:pic>
        <p:nvPicPr>
          <p:cNvPr id="13" name="Image 16">
            <a:extLst>
              <a:ext uri="{FF2B5EF4-FFF2-40B4-BE49-F238E27FC236}">
                <a16:creationId xmlns:a16="http://schemas.microsoft.com/office/drawing/2014/main" id="{5284B1BE-301C-2DCF-F0D8-303D311FA903}"/>
              </a:ext>
            </a:extLst>
          </p:cNvPr>
          <p:cNvPicPr>
            <a:picLocks noChangeAspect="1"/>
          </p:cNvPicPr>
          <p:nvPr/>
        </p:nvPicPr>
        <p:blipFill>
          <a:blip r:embed="rId5"/>
          <a:stretch>
            <a:fillRect/>
          </a:stretch>
        </p:blipFill>
        <p:spPr>
          <a:xfrm>
            <a:off x="393694" y="3154734"/>
            <a:ext cx="2661205" cy="477929"/>
          </a:xfrm>
          <a:prstGeom prst="rect">
            <a:avLst/>
          </a:prstGeom>
          <a:noFill/>
          <a:ln cap="flat">
            <a:noFill/>
          </a:ln>
        </p:spPr>
      </p:pic>
      <p:pic>
        <p:nvPicPr>
          <p:cNvPr id="14" name="Image 18">
            <a:extLst>
              <a:ext uri="{FF2B5EF4-FFF2-40B4-BE49-F238E27FC236}">
                <a16:creationId xmlns:a16="http://schemas.microsoft.com/office/drawing/2014/main" id="{9E44C0CC-5AF4-6496-F91E-5C5A740FC6F6}"/>
              </a:ext>
            </a:extLst>
          </p:cNvPr>
          <p:cNvPicPr>
            <a:picLocks noChangeAspect="1"/>
          </p:cNvPicPr>
          <p:nvPr/>
        </p:nvPicPr>
        <p:blipFill>
          <a:blip r:embed="rId6"/>
          <a:stretch>
            <a:fillRect/>
          </a:stretch>
        </p:blipFill>
        <p:spPr>
          <a:xfrm>
            <a:off x="485409" y="3987250"/>
            <a:ext cx="7772400" cy="819201"/>
          </a:xfrm>
          <a:prstGeom prst="rect">
            <a:avLst/>
          </a:prstGeom>
          <a:noFill/>
          <a:ln cap="flat">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86">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11E160DA-52E9-6080-4513-10A22D714C9E}"/>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DD412CDF-9EE1-194C-9D27-973FCE883A7F}"/>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9410D883-65EB-F0D9-3103-8FF218C58410}"/>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9E35043C-1B47-1F2E-1404-6409CB98006F}"/>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1C4E9602-7B56-7059-2699-3DED6EA411C7}"/>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66FB91E4-90B1-8944-A4E1-804DADAF190D}"/>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Generator plots</a:t>
            </a:r>
          </a:p>
        </p:txBody>
      </p:sp>
      <p:sp>
        <p:nvSpPr>
          <p:cNvPr id="8" name="ZoneTexte 40">
            <a:extLst>
              <a:ext uri="{FF2B5EF4-FFF2-40B4-BE49-F238E27FC236}">
                <a16:creationId xmlns:a16="http://schemas.microsoft.com/office/drawing/2014/main" id="{DEA78607-23D0-24BE-FD1C-1B7DEC9ED8C2}"/>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2A8426E4-339E-7C55-9949-6CB0DCF0C49E}"/>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pic>
        <p:nvPicPr>
          <p:cNvPr id="10" name="Image 6">
            <a:extLst>
              <a:ext uri="{FF2B5EF4-FFF2-40B4-BE49-F238E27FC236}">
                <a16:creationId xmlns:a16="http://schemas.microsoft.com/office/drawing/2014/main" id="{E2C111AD-BDED-4DF0-5A2E-8CA92D8EF669}"/>
              </a:ext>
            </a:extLst>
          </p:cNvPr>
          <p:cNvPicPr>
            <a:picLocks noChangeAspect="1"/>
          </p:cNvPicPr>
          <p:nvPr/>
        </p:nvPicPr>
        <p:blipFill>
          <a:blip r:embed="rId3"/>
          <a:stretch>
            <a:fillRect/>
          </a:stretch>
        </p:blipFill>
        <p:spPr>
          <a:xfrm>
            <a:off x="64574" y="2085600"/>
            <a:ext cx="3273012" cy="2347886"/>
          </a:xfrm>
          <a:prstGeom prst="rect">
            <a:avLst/>
          </a:prstGeom>
          <a:noFill/>
          <a:ln cap="flat">
            <a:noFill/>
          </a:ln>
        </p:spPr>
      </p:pic>
      <p:pic>
        <p:nvPicPr>
          <p:cNvPr id="11" name="Image 11">
            <a:extLst>
              <a:ext uri="{FF2B5EF4-FFF2-40B4-BE49-F238E27FC236}">
                <a16:creationId xmlns:a16="http://schemas.microsoft.com/office/drawing/2014/main" id="{85C6498E-DE13-F5CC-E5F6-875F3AD0E816}"/>
              </a:ext>
            </a:extLst>
          </p:cNvPr>
          <p:cNvPicPr>
            <a:picLocks noChangeAspect="1"/>
          </p:cNvPicPr>
          <p:nvPr/>
        </p:nvPicPr>
        <p:blipFill>
          <a:blip r:embed="rId4"/>
          <a:stretch>
            <a:fillRect/>
          </a:stretch>
        </p:blipFill>
        <p:spPr>
          <a:xfrm>
            <a:off x="3420532" y="2007510"/>
            <a:ext cx="3396502" cy="2436473"/>
          </a:xfrm>
          <a:prstGeom prst="rect">
            <a:avLst/>
          </a:prstGeom>
          <a:noFill/>
          <a:ln cap="flat">
            <a:noFill/>
          </a:ln>
        </p:spPr>
      </p:pic>
      <p:pic>
        <p:nvPicPr>
          <p:cNvPr id="12" name="Image 14">
            <a:extLst>
              <a:ext uri="{FF2B5EF4-FFF2-40B4-BE49-F238E27FC236}">
                <a16:creationId xmlns:a16="http://schemas.microsoft.com/office/drawing/2014/main" id="{E0677586-753E-7B24-1053-93A219F4EA5F}"/>
              </a:ext>
            </a:extLst>
          </p:cNvPr>
          <p:cNvPicPr>
            <a:picLocks noChangeAspect="1"/>
          </p:cNvPicPr>
          <p:nvPr/>
        </p:nvPicPr>
        <p:blipFill>
          <a:blip r:embed="rId5"/>
          <a:stretch>
            <a:fillRect/>
          </a:stretch>
        </p:blipFill>
        <p:spPr>
          <a:xfrm>
            <a:off x="6743032" y="2007510"/>
            <a:ext cx="3273012" cy="2347886"/>
          </a:xfrm>
          <a:prstGeom prst="rect">
            <a:avLst/>
          </a:prstGeom>
          <a:noFill/>
          <a:ln cap="flat">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88">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DF57013E-7FAF-DE11-31CA-0D8087836F46}"/>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D4B95C43-2D70-F80C-F092-47466B8C4573}"/>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D1DC81AC-4AA3-65A8-4531-66943C3AC12E}"/>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75E57A37-9DD4-F80D-142D-372CE68585B5}"/>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134A2F14-36FD-0D2B-6347-24FDFDF3865A}"/>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0C95CB53-D469-AEA4-06FE-20A0CC570C04}"/>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Generator plots</a:t>
            </a:r>
          </a:p>
        </p:txBody>
      </p:sp>
      <p:sp>
        <p:nvSpPr>
          <p:cNvPr id="8" name="ZoneTexte 40">
            <a:extLst>
              <a:ext uri="{FF2B5EF4-FFF2-40B4-BE49-F238E27FC236}">
                <a16:creationId xmlns:a16="http://schemas.microsoft.com/office/drawing/2014/main" id="{81E8AE87-6876-DC9E-E18D-0383F0699A33}"/>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08568DB3-FE73-1B1F-F73C-B551BB72D3AF}"/>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pic>
        <p:nvPicPr>
          <p:cNvPr id="10" name="Image 9">
            <a:extLst>
              <a:ext uri="{FF2B5EF4-FFF2-40B4-BE49-F238E27FC236}">
                <a16:creationId xmlns:a16="http://schemas.microsoft.com/office/drawing/2014/main" id="{64CE055A-5048-084E-BB8B-7BD96B918B9D}"/>
              </a:ext>
            </a:extLst>
          </p:cNvPr>
          <p:cNvPicPr>
            <a:picLocks noChangeAspect="1"/>
          </p:cNvPicPr>
          <p:nvPr/>
        </p:nvPicPr>
        <p:blipFill>
          <a:blip r:embed="rId3"/>
          <a:stretch>
            <a:fillRect/>
          </a:stretch>
        </p:blipFill>
        <p:spPr>
          <a:xfrm>
            <a:off x="372535" y="1574797"/>
            <a:ext cx="4309530" cy="3091430"/>
          </a:xfrm>
          <a:prstGeom prst="rect">
            <a:avLst/>
          </a:prstGeom>
          <a:noFill/>
          <a:ln cap="flat">
            <a:noFill/>
          </a:ln>
        </p:spPr>
      </p:pic>
      <p:pic>
        <p:nvPicPr>
          <p:cNvPr id="11" name="Image 12">
            <a:extLst>
              <a:ext uri="{FF2B5EF4-FFF2-40B4-BE49-F238E27FC236}">
                <a16:creationId xmlns:a16="http://schemas.microsoft.com/office/drawing/2014/main" id="{43A90EBC-25E7-AA21-D807-412CE689343F}"/>
              </a:ext>
            </a:extLst>
          </p:cNvPr>
          <p:cNvPicPr>
            <a:picLocks noChangeAspect="1"/>
          </p:cNvPicPr>
          <p:nvPr/>
        </p:nvPicPr>
        <p:blipFill>
          <a:blip r:embed="rId4"/>
          <a:stretch>
            <a:fillRect/>
          </a:stretch>
        </p:blipFill>
        <p:spPr>
          <a:xfrm>
            <a:off x="5193069" y="1501097"/>
            <a:ext cx="4515023" cy="3238841"/>
          </a:xfrm>
          <a:prstGeom prst="rect">
            <a:avLst/>
          </a:prstGeom>
          <a:noFill/>
          <a:ln cap="flat">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91">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4B7C9BBB-C664-068C-E092-76B5F2B4A2FB}"/>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5A0ED33D-EF10-0143-4DB8-DF89FEA492D0}"/>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32AD676D-60CB-CEA3-0879-D66331BE0600}"/>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A8ADC6FD-6B95-F3EC-269E-98A3DFE4145F}"/>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46D58BCA-D49A-04E6-EFB7-3726C9848864}"/>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AFA39B6D-4A0C-C082-3756-B0BB52E363D3}"/>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Generator plots</a:t>
            </a:r>
          </a:p>
        </p:txBody>
      </p:sp>
      <p:sp>
        <p:nvSpPr>
          <p:cNvPr id="8" name="ZoneTexte 40">
            <a:extLst>
              <a:ext uri="{FF2B5EF4-FFF2-40B4-BE49-F238E27FC236}">
                <a16:creationId xmlns:a16="http://schemas.microsoft.com/office/drawing/2014/main" id="{BEDE60CD-092F-DD62-B8A0-1017F808890C}"/>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A1A3EEB4-57D2-F9DD-2C91-13BA0960E9DC}"/>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pic>
        <p:nvPicPr>
          <p:cNvPr id="10" name="Image 6">
            <a:extLst>
              <a:ext uri="{FF2B5EF4-FFF2-40B4-BE49-F238E27FC236}">
                <a16:creationId xmlns:a16="http://schemas.microsoft.com/office/drawing/2014/main" id="{1C95343F-6196-83B7-5592-A06802B22AE8}"/>
              </a:ext>
            </a:extLst>
          </p:cNvPr>
          <p:cNvPicPr>
            <a:picLocks noChangeAspect="1"/>
          </p:cNvPicPr>
          <p:nvPr/>
        </p:nvPicPr>
        <p:blipFill>
          <a:blip r:embed="rId3"/>
          <a:stretch>
            <a:fillRect/>
          </a:stretch>
        </p:blipFill>
        <p:spPr>
          <a:xfrm>
            <a:off x="1862669" y="1068330"/>
            <a:ext cx="5803797" cy="4163336"/>
          </a:xfrm>
          <a:prstGeom prst="rect">
            <a:avLst/>
          </a:prstGeom>
          <a:noFill/>
          <a:ln cap="flat">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90">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19C578F3-A5FD-C59B-FF88-B3C1C884F33F}"/>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C2EB6262-94F0-D415-0BA1-980C384FFB09}"/>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70984645-734F-6E26-BD24-8C8913301C2A}"/>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93850601-BAED-CA80-934C-880161852A30}"/>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5D75F4C0-955C-3CB5-9145-B28D8304F225}"/>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91AE1594-9479-F178-879F-782D73263A55}"/>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Generator plots</a:t>
            </a:r>
          </a:p>
        </p:txBody>
      </p:sp>
      <p:sp>
        <p:nvSpPr>
          <p:cNvPr id="8" name="ZoneTexte 40">
            <a:extLst>
              <a:ext uri="{FF2B5EF4-FFF2-40B4-BE49-F238E27FC236}">
                <a16:creationId xmlns:a16="http://schemas.microsoft.com/office/drawing/2014/main" id="{7A5158DA-720E-5535-8B26-F8C0C0C952CC}"/>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5294B724-0627-3E76-6953-45C822F76758}"/>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pic>
        <p:nvPicPr>
          <p:cNvPr id="10" name="Image 6">
            <a:extLst>
              <a:ext uri="{FF2B5EF4-FFF2-40B4-BE49-F238E27FC236}">
                <a16:creationId xmlns:a16="http://schemas.microsoft.com/office/drawing/2014/main" id="{C9094508-1D24-2B86-E137-16BB98ADE859}"/>
              </a:ext>
            </a:extLst>
          </p:cNvPr>
          <p:cNvPicPr>
            <a:picLocks noChangeAspect="1"/>
          </p:cNvPicPr>
          <p:nvPr/>
        </p:nvPicPr>
        <p:blipFill>
          <a:blip r:embed="rId3"/>
          <a:stretch>
            <a:fillRect/>
          </a:stretch>
        </p:blipFill>
        <p:spPr>
          <a:xfrm>
            <a:off x="94439" y="1250533"/>
            <a:ext cx="5295802" cy="3798920"/>
          </a:xfrm>
          <a:prstGeom prst="rect">
            <a:avLst/>
          </a:prstGeom>
          <a:noFill/>
          <a:ln cap="flat">
            <a:noFill/>
          </a:ln>
        </p:spPr>
      </p:pic>
      <p:pic>
        <p:nvPicPr>
          <p:cNvPr id="11" name="Image 14">
            <a:extLst>
              <a:ext uri="{FF2B5EF4-FFF2-40B4-BE49-F238E27FC236}">
                <a16:creationId xmlns:a16="http://schemas.microsoft.com/office/drawing/2014/main" id="{D3A9B359-6C84-6C36-DEC9-64950AEFC5D7}"/>
              </a:ext>
            </a:extLst>
          </p:cNvPr>
          <p:cNvPicPr>
            <a:picLocks noChangeAspect="1"/>
          </p:cNvPicPr>
          <p:nvPr/>
        </p:nvPicPr>
        <p:blipFill>
          <a:blip r:embed="rId4"/>
          <a:stretch>
            <a:fillRect/>
          </a:stretch>
        </p:blipFill>
        <p:spPr>
          <a:xfrm>
            <a:off x="5791434" y="1695745"/>
            <a:ext cx="4054531" cy="2908505"/>
          </a:xfrm>
          <a:prstGeom prst="rect">
            <a:avLst/>
          </a:prstGeom>
          <a:noFill/>
          <a:ln cap="flat">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92">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B794677F-5295-6926-EEC2-5F28AD8876D3}"/>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1A509903-A3A1-70D2-32C7-2C60F536F982}"/>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DD92F431-E083-8A5D-5852-8A7BBE352489}"/>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A1F01868-65B0-FD22-B2B7-108C4B5960D5}"/>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9F85C628-2EE0-6B5B-12A6-9CDF6B0D9BFD}"/>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BFD0B5C3-050F-C9D2-502E-F1C0C0E64813}"/>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Generator plots</a:t>
            </a:r>
          </a:p>
        </p:txBody>
      </p:sp>
      <p:sp>
        <p:nvSpPr>
          <p:cNvPr id="8" name="ZoneTexte 40">
            <a:extLst>
              <a:ext uri="{FF2B5EF4-FFF2-40B4-BE49-F238E27FC236}">
                <a16:creationId xmlns:a16="http://schemas.microsoft.com/office/drawing/2014/main" id="{CB52593E-E920-4C2E-218F-26052771629F}"/>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D53DE1D6-AA96-4074-7FBB-4EDD03992F7A}"/>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
        <p:nvSpPr>
          <p:cNvPr id="10" name="ZoneTexte 12">
            <a:extLst>
              <a:ext uri="{FF2B5EF4-FFF2-40B4-BE49-F238E27FC236}">
                <a16:creationId xmlns:a16="http://schemas.microsoft.com/office/drawing/2014/main" id="{20F1D644-C8C1-28A9-EBB1-D7B5FD81FAE5}"/>
              </a:ext>
            </a:extLst>
          </p:cNvPr>
          <p:cNvSpPr txBox="1"/>
          <p:nvPr/>
        </p:nvSpPr>
        <p:spPr>
          <a:xfrm>
            <a:off x="283738" y="1156158"/>
            <a:ext cx="5171416"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this cuts : 5.25 &lt; P</a:t>
            </a:r>
            <a:r>
              <a:rPr lang="fr-FR" sz="1600" b="0" i="0" u="none" strike="noStrike" kern="1200" cap="none" spc="0" baseline="-25000">
                <a:solidFill>
                  <a:srgbClr val="000000"/>
                </a:solidFill>
                <a:uFillTx/>
                <a:latin typeface="Calibri"/>
              </a:rPr>
              <a:t>electron</a:t>
            </a:r>
            <a:r>
              <a:rPr lang="fr-FR" sz="1600" b="0" i="0" u="none" strike="noStrike" kern="1200" cap="none" spc="0" baseline="0">
                <a:solidFill>
                  <a:srgbClr val="000000"/>
                </a:solidFill>
                <a:uFillTx/>
                <a:latin typeface="Calibri"/>
              </a:rPr>
              <a:t> &lt; 8 GeV and P</a:t>
            </a:r>
            <a:r>
              <a:rPr lang="fr-FR" sz="1600" b="0" i="0" u="none" strike="noStrike" kern="1200" cap="none" spc="0" baseline="-25000">
                <a:solidFill>
                  <a:srgbClr val="000000"/>
                </a:solidFill>
                <a:uFillTx/>
                <a:latin typeface="Calibri"/>
              </a:rPr>
              <a:t>proton </a:t>
            </a:r>
            <a:r>
              <a:rPr lang="fr-FR" sz="1600" b="0" i="0" u="none" strike="noStrike" kern="1200" cap="none" spc="0" baseline="0">
                <a:solidFill>
                  <a:srgbClr val="000000"/>
                </a:solidFill>
                <a:uFillTx/>
                <a:latin typeface="Calibri"/>
              </a:rPr>
              <a:t>&gt; 0.45 GeV </a:t>
            </a:r>
          </a:p>
        </p:txBody>
      </p:sp>
      <p:sp>
        <p:nvSpPr>
          <p:cNvPr id="11" name="ZoneTexte 14">
            <a:extLst>
              <a:ext uri="{FF2B5EF4-FFF2-40B4-BE49-F238E27FC236}">
                <a16:creationId xmlns:a16="http://schemas.microsoft.com/office/drawing/2014/main" id="{FAB2D13D-44AE-68F5-76C6-A86A3D7C1E1B}"/>
              </a:ext>
            </a:extLst>
          </p:cNvPr>
          <p:cNvSpPr txBox="1"/>
          <p:nvPr/>
        </p:nvSpPr>
        <p:spPr>
          <a:xfrm>
            <a:off x="1953341" y="4933754"/>
            <a:ext cx="1302727"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my generator</a:t>
            </a:r>
          </a:p>
        </p:txBody>
      </p:sp>
      <p:sp>
        <p:nvSpPr>
          <p:cNvPr id="12" name="ZoneTexte 15">
            <a:extLst>
              <a:ext uri="{FF2B5EF4-FFF2-40B4-BE49-F238E27FC236}">
                <a16:creationId xmlns:a16="http://schemas.microsoft.com/office/drawing/2014/main" id="{DD04A2EE-E29B-2397-31B8-2ED7D7E30AE2}"/>
              </a:ext>
            </a:extLst>
          </p:cNvPr>
          <p:cNvSpPr txBox="1"/>
          <p:nvPr/>
        </p:nvSpPr>
        <p:spPr>
          <a:xfrm>
            <a:off x="7475914" y="4933754"/>
            <a:ext cx="1275798"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Bhawani plot</a:t>
            </a:r>
          </a:p>
        </p:txBody>
      </p:sp>
      <p:pic>
        <p:nvPicPr>
          <p:cNvPr id="13" name="Image 19">
            <a:extLst>
              <a:ext uri="{FF2B5EF4-FFF2-40B4-BE49-F238E27FC236}">
                <a16:creationId xmlns:a16="http://schemas.microsoft.com/office/drawing/2014/main" id="{DE34A6BF-9ECD-27E8-6D89-90D2164BCF7B}"/>
              </a:ext>
            </a:extLst>
          </p:cNvPr>
          <p:cNvPicPr>
            <a:picLocks noChangeAspect="1"/>
          </p:cNvPicPr>
          <p:nvPr/>
        </p:nvPicPr>
        <p:blipFill>
          <a:blip r:embed="rId3"/>
          <a:stretch>
            <a:fillRect/>
          </a:stretch>
        </p:blipFill>
        <p:spPr>
          <a:xfrm>
            <a:off x="4848514" y="2085170"/>
            <a:ext cx="5171416" cy="2720111"/>
          </a:xfrm>
          <a:prstGeom prst="rect">
            <a:avLst/>
          </a:prstGeom>
          <a:noFill/>
          <a:ln cap="flat">
            <a:noFill/>
          </a:ln>
        </p:spPr>
      </p:pic>
      <p:pic>
        <p:nvPicPr>
          <p:cNvPr id="14" name="Image 21">
            <a:extLst>
              <a:ext uri="{FF2B5EF4-FFF2-40B4-BE49-F238E27FC236}">
                <a16:creationId xmlns:a16="http://schemas.microsoft.com/office/drawing/2014/main" id="{395A380B-69DB-A9CB-CF47-EFB95A7D3616}"/>
              </a:ext>
            </a:extLst>
          </p:cNvPr>
          <p:cNvPicPr>
            <a:picLocks noChangeAspect="1"/>
          </p:cNvPicPr>
          <p:nvPr/>
        </p:nvPicPr>
        <p:blipFill>
          <a:blip r:embed="rId4"/>
          <a:stretch>
            <a:fillRect/>
          </a:stretch>
        </p:blipFill>
        <p:spPr>
          <a:xfrm>
            <a:off x="322326" y="1641192"/>
            <a:ext cx="4717993" cy="3377427"/>
          </a:xfrm>
          <a:prstGeom prst="rect">
            <a:avLst/>
          </a:prstGeom>
          <a:noFill/>
          <a:ln cap="flat">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93">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445FC3A3-62B6-4DCB-C014-0CB154C5864E}"/>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276B450B-B2F1-DC6F-8803-FD8C816D8E0C}"/>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691A91CE-BD27-1501-F6F6-BD3C2C60C241}"/>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8EAA99B5-4964-FB48-6BAD-DBA968AB28C6}"/>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510EC672-752E-63E2-93D7-CD222556D980}"/>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EB5541CD-0D1B-3578-26A7-DFB4F9A1E41A}"/>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Generator plots</a:t>
            </a:r>
          </a:p>
        </p:txBody>
      </p:sp>
      <p:sp>
        <p:nvSpPr>
          <p:cNvPr id="8" name="ZoneTexte 40">
            <a:extLst>
              <a:ext uri="{FF2B5EF4-FFF2-40B4-BE49-F238E27FC236}">
                <a16:creationId xmlns:a16="http://schemas.microsoft.com/office/drawing/2014/main" id="{D18779E3-2B76-8EDF-003E-A745AAE83493}"/>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BB509AA9-1B16-AE12-D712-F8B4509C964D}"/>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
        <p:nvSpPr>
          <p:cNvPr id="10" name="ZoneTexte 12">
            <a:extLst>
              <a:ext uri="{FF2B5EF4-FFF2-40B4-BE49-F238E27FC236}">
                <a16:creationId xmlns:a16="http://schemas.microsoft.com/office/drawing/2014/main" id="{25D6376F-59D2-7E11-6E1C-6186D564D245}"/>
              </a:ext>
            </a:extLst>
          </p:cNvPr>
          <p:cNvSpPr txBox="1"/>
          <p:nvPr/>
        </p:nvSpPr>
        <p:spPr>
          <a:xfrm>
            <a:off x="283738" y="1156158"/>
            <a:ext cx="5171416"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this cuts : 5.25 &lt; P</a:t>
            </a:r>
            <a:r>
              <a:rPr lang="fr-FR" sz="1600" b="0" i="0" u="none" strike="noStrike" kern="1200" cap="none" spc="0" baseline="-25000">
                <a:solidFill>
                  <a:srgbClr val="000000"/>
                </a:solidFill>
                <a:uFillTx/>
                <a:latin typeface="Calibri"/>
              </a:rPr>
              <a:t>electron</a:t>
            </a:r>
            <a:r>
              <a:rPr lang="fr-FR" sz="1600" b="0" i="0" u="none" strike="noStrike" kern="1200" cap="none" spc="0" baseline="0">
                <a:solidFill>
                  <a:srgbClr val="000000"/>
                </a:solidFill>
                <a:uFillTx/>
                <a:latin typeface="Calibri"/>
              </a:rPr>
              <a:t> &lt; 8 GeV and P</a:t>
            </a:r>
            <a:r>
              <a:rPr lang="fr-FR" sz="1600" b="0" i="0" u="none" strike="noStrike" kern="1200" cap="none" spc="0" baseline="-25000">
                <a:solidFill>
                  <a:srgbClr val="000000"/>
                </a:solidFill>
                <a:uFillTx/>
                <a:latin typeface="Calibri"/>
              </a:rPr>
              <a:t>proton </a:t>
            </a:r>
            <a:r>
              <a:rPr lang="fr-FR" sz="1600" b="0" i="0" u="none" strike="noStrike" kern="1200" cap="none" spc="0" baseline="0">
                <a:solidFill>
                  <a:srgbClr val="000000"/>
                </a:solidFill>
                <a:uFillTx/>
                <a:latin typeface="Calibri"/>
              </a:rPr>
              <a:t>&gt; 0.45 GeV </a:t>
            </a:r>
          </a:p>
        </p:txBody>
      </p:sp>
      <p:sp>
        <p:nvSpPr>
          <p:cNvPr id="11" name="ZoneTexte 14">
            <a:extLst>
              <a:ext uri="{FF2B5EF4-FFF2-40B4-BE49-F238E27FC236}">
                <a16:creationId xmlns:a16="http://schemas.microsoft.com/office/drawing/2014/main" id="{E8B9AD32-4592-6F14-983D-9107EB78D9C8}"/>
              </a:ext>
            </a:extLst>
          </p:cNvPr>
          <p:cNvSpPr txBox="1"/>
          <p:nvPr/>
        </p:nvSpPr>
        <p:spPr>
          <a:xfrm>
            <a:off x="1953341" y="4933754"/>
            <a:ext cx="1302727"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my generator</a:t>
            </a:r>
          </a:p>
        </p:txBody>
      </p:sp>
      <p:sp>
        <p:nvSpPr>
          <p:cNvPr id="12" name="ZoneTexte 15">
            <a:extLst>
              <a:ext uri="{FF2B5EF4-FFF2-40B4-BE49-F238E27FC236}">
                <a16:creationId xmlns:a16="http://schemas.microsoft.com/office/drawing/2014/main" id="{A5423042-5C97-4CBC-A99C-68434DF22632}"/>
              </a:ext>
            </a:extLst>
          </p:cNvPr>
          <p:cNvSpPr txBox="1"/>
          <p:nvPr/>
        </p:nvSpPr>
        <p:spPr>
          <a:xfrm>
            <a:off x="7475914" y="4933754"/>
            <a:ext cx="1275798"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Bhawani plot</a:t>
            </a:r>
          </a:p>
        </p:txBody>
      </p:sp>
      <p:pic>
        <p:nvPicPr>
          <p:cNvPr id="13" name="Image 11">
            <a:extLst>
              <a:ext uri="{FF2B5EF4-FFF2-40B4-BE49-F238E27FC236}">
                <a16:creationId xmlns:a16="http://schemas.microsoft.com/office/drawing/2014/main" id="{C2B90920-8BE0-71FE-C246-64F6D72A3A86}"/>
              </a:ext>
            </a:extLst>
          </p:cNvPr>
          <p:cNvPicPr>
            <a:picLocks noChangeAspect="1"/>
          </p:cNvPicPr>
          <p:nvPr/>
        </p:nvPicPr>
        <p:blipFill>
          <a:blip/>
          <a:stretch>
            <a:fillRect/>
          </a:stretch>
        </p:blipFill>
        <p:spPr>
          <a:xfrm>
            <a:off x="367762" y="1731352"/>
            <a:ext cx="4367201" cy="3138559"/>
          </a:xfrm>
          <a:prstGeom prst="rect">
            <a:avLst/>
          </a:prstGeom>
          <a:noFill/>
          <a:ln cap="flat">
            <a:noFill/>
          </a:ln>
        </p:spPr>
      </p:pic>
      <p:pic>
        <p:nvPicPr>
          <p:cNvPr id="14" name="Image 16">
            <a:extLst>
              <a:ext uri="{FF2B5EF4-FFF2-40B4-BE49-F238E27FC236}">
                <a16:creationId xmlns:a16="http://schemas.microsoft.com/office/drawing/2014/main" id="{6855609E-1E46-73D0-A7CF-2786397F3867}"/>
              </a:ext>
            </a:extLst>
          </p:cNvPr>
          <p:cNvPicPr>
            <a:picLocks noChangeAspect="1"/>
          </p:cNvPicPr>
          <p:nvPr/>
        </p:nvPicPr>
        <p:blipFill>
          <a:blip/>
          <a:stretch>
            <a:fillRect/>
          </a:stretch>
        </p:blipFill>
        <p:spPr>
          <a:xfrm>
            <a:off x="5207489" y="2286347"/>
            <a:ext cx="4872508" cy="2518934"/>
          </a:xfrm>
          <a:prstGeom prst="rect">
            <a:avLst/>
          </a:prstGeom>
          <a:noFill/>
          <a:ln cap="flat">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94">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C896EAE5-0C5B-8D7C-7B65-ECBE3F18B74E}"/>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C52A9712-2ABA-6734-B114-832E3C16BA31}"/>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0E073942-EAAF-BFBC-FC2D-B32074D3C73E}"/>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A90E0D29-3A0A-DBF0-36E9-FD532A8635F7}"/>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104DBCCB-5F0C-0716-3866-670D09A801FC}"/>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9FC4ADD9-BB47-896A-6F64-8A260EBEE7FA}"/>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Generator plots</a:t>
            </a:r>
          </a:p>
        </p:txBody>
      </p:sp>
      <p:sp>
        <p:nvSpPr>
          <p:cNvPr id="8" name="ZoneTexte 40">
            <a:extLst>
              <a:ext uri="{FF2B5EF4-FFF2-40B4-BE49-F238E27FC236}">
                <a16:creationId xmlns:a16="http://schemas.microsoft.com/office/drawing/2014/main" id="{9F2F936F-7536-26D2-B0A9-55B1EC66409F}"/>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B5B1E6BC-5C53-C4E5-AFB2-9CF2676B3AA6}"/>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
        <p:nvSpPr>
          <p:cNvPr id="10" name="ZoneTexte 12">
            <a:extLst>
              <a:ext uri="{FF2B5EF4-FFF2-40B4-BE49-F238E27FC236}">
                <a16:creationId xmlns:a16="http://schemas.microsoft.com/office/drawing/2014/main" id="{279DB1EB-A51B-10F7-E2B7-E8F3896CFC7A}"/>
              </a:ext>
            </a:extLst>
          </p:cNvPr>
          <p:cNvSpPr txBox="1"/>
          <p:nvPr/>
        </p:nvSpPr>
        <p:spPr>
          <a:xfrm>
            <a:off x="283738" y="1156158"/>
            <a:ext cx="5171416"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this cuts : 5.25 &lt; P</a:t>
            </a:r>
            <a:r>
              <a:rPr lang="fr-FR" sz="1600" b="0" i="0" u="none" strike="noStrike" kern="1200" cap="none" spc="0" baseline="-25000">
                <a:solidFill>
                  <a:srgbClr val="000000"/>
                </a:solidFill>
                <a:uFillTx/>
                <a:latin typeface="Calibri"/>
              </a:rPr>
              <a:t>electron</a:t>
            </a:r>
            <a:r>
              <a:rPr lang="fr-FR" sz="1600" b="0" i="0" u="none" strike="noStrike" kern="1200" cap="none" spc="0" baseline="0">
                <a:solidFill>
                  <a:srgbClr val="000000"/>
                </a:solidFill>
                <a:uFillTx/>
                <a:latin typeface="Calibri"/>
              </a:rPr>
              <a:t> &lt; 8 GeV and P</a:t>
            </a:r>
            <a:r>
              <a:rPr lang="fr-FR" sz="1600" b="0" i="0" u="none" strike="noStrike" kern="1200" cap="none" spc="0" baseline="-25000">
                <a:solidFill>
                  <a:srgbClr val="000000"/>
                </a:solidFill>
                <a:uFillTx/>
                <a:latin typeface="Calibri"/>
              </a:rPr>
              <a:t>proton </a:t>
            </a:r>
            <a:r>
              <a:rPr lang="fr-FR" sz="1600" b="0" i="0" u="none" strike="noStrike" kern="1200" cap="none" spc="0" baseline="0">
                <a:solidFill>
                  <a:srgbClr val="000000"/>
                </a:solidFill>
                <a:uFillTx/>
                <a:latin typeface="Calibri"/>
              </a:rPr>
              <a:t>&gt; 0.45 GeV </a:t>
            </a:r>
          </a:p>
        </p:txBody>
      </p:sp>
      <p:sp>
        <p:nvSpPr>
          <p:cNvPr id="11" name="ZoneTexte 14">
            <a:extLst>
              <a:ext uri="{FF2B5EF4-FFF2-40B4-BE49-F238E27FC236}">
                <a16:creationId xmlns:a16="http://schemas.microsoft.com/office/drawing/2014/main" id="{B282EE6A-65BA-2490-FFA6-5BAB84B4BA30}"/>
              </a:ext>
            </a:extLst>
          </p:cNvPr>
          <p:cNvSpPr txBox="1"/>
          <p:nvPr/>
        </p:nvSpPr>
        <p:spPr>
          <a:xfrm>
            <a:off x="1953341" y="4933754"/>
            <a:ext cx="1302727"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my generator</a:t>
            </a:r>
          </a:p>
        </p:txBody>
      </p:sp>
      <p:sp>
        <p:nvSpPr>
          <p:cNvPr id="12" name="ZoneTexte 15">
            <a:extLst>
              <a:ext uri="{FF2B5EF4-FFF2-40B4-BE49-F238E27FC236}">
                <a16:creationId xmlns:a16="http://schemas.microsoft.com/office/drawing/2014/main" id="{527A6FC8-FFEF-F505-260C-21796891D08F}"/>
              </a:ext>
            </a:extLst>
          </p:cNvPr>
          <p:cNvSpPr txBox="1"/>
          <p:nvPr/>
        </p:nvSpPr>
        <p:spPr>
          <a:xfrm>
            <a:off x="7475914" y="4933754"/>
            <a:ext cx="1275798"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Bhawani plot</a:t>
            </a:r>
          </a:p>
        </p:txBody>
      </p:sp>
      <p:pic>
        <p:nvPicPr>
          <p:cNvPr id="13" name="Image 10">
            <a:extLst>
              <a:ext uri="{FF2B5EF4-FFF2-40B4-BE49-F238E27FC236}">
                <a16:creationId xmlns:a16="http://schemas.microsoft.com/office/drawing/2014/main" id="{FBCD56CE-56A8-5FA1-DAD8-6AC2AA4982F2}"/>
              </a:ext>
            </a:extLst>
          </p:cNvPr>
          <p:cNvPicPr>
            <a:picLocks noChangeAspect="1"/>
          </p:cNvPicPr>
          <p:nvPr/>
        </p:nvPicPr>
        <p:blipFill>
          <a:blip r:embed="rId3"/>
          <a:srcRect t="5755"/>
          <a:stretch>
            <a:fillRect/>
          </a:stretch>
        </p:blipFill>
        <p:spPr>
          <a:xfrm>
            <a:off x="392414" y="1820332"/>
            <a:ext cx="4781223" cy="3241529"/>
          </a:xfrm>
          <a:prstGeom prst="rect">
            <a:avLst/>
          </a:prstGeom>
          <a:noFill/>
          <a:ln cap="flat">
            <a:noFill/>
          </a:ln>
        </p:spPr>
      </p:pic>
      <p:pic>
        <p:nvPicPr>
          <p:cNvPr id="14" name="Image 16">
            <a:extLst>
              <a:ext uri="{FF2B5EF4-FFF2-40B4-BE49-F238E27FC236}">
                <a16:creationId xmlns:a16="http://schemas.microsoft.com/office/drawing/2014/main" id="{BEE74C14-6571-A370-25B2-A70F3ABB2E01}"/>
              </a:ext>
            </a:extLst>
          </p:cNvPr>
          <p:cNvPicPr>
            <a:picLocks noChangeAspect="1"/>
          </p:cNvPicPr>
          <p:nvPr/>
        </p:nvPicPr>
        <p:blipFill>
          <a:blip r:embed="rId4"/>
          <a:stretch>
            <a:fillRect/>
          </a:stretch>
        </p:blipFill>
        <p:spPr>
          <a:xfrm>
            <a:off x="5173638" y="2171389"/>
            <a:ext cx="4786216" cy="2551916"/>
          </a:xfrm>
          <a:prstGeom prst="rect">
            <a:avLst/>
          </a:prstGeom>
          <a:noFill/>
          <a:ln cap="flat">
            <a:noFill/>
          </a:ln>
        </p:spPr>
      </p:pic>
      <p:sp>
        <p:nvSpPr>
          <p:cNvPr id="15" name="ZoneTexte 14">
            <a:extLst>
              <a:ext uri="{FF2B5EF4-FFF2-40B4-BE49-F238E27FC236}">
                <a16:creationId xmlns:a16="http://schemas.microsoft.com/office/drawing/2014/main" id="{96130EEB-A09A-A5A8-5CA2-8CD0C1803A86}"/>
              </a:ext>
            </a:extLst>
          </p:cNvPr>
          <p:cNvSpPr txBox="1"/>
          <p:nvPr/>
        </p:nvSpPr>
        <p:spPr>
          <a:xfrm>
            <a:off x="2487606" y="1609883"/>
            <a:ext cx="381835"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K</a:t>
            </a:r>
            <a:r>
              <a:rPr lang="fr-FR" sz="1800" b="0" i="0" u="none" strike="noStrike" kern="1200" cap="none" spc="0" baseline="30000">
                <a:solidFill>
                  <a:srgbClr val="000000"/>
                </a:solidFill>
                <a:uFillTx/>
                <a:latin typeface="Calibri"/>
              </a:rPr>
              <a:t>+</a:t>
            </a:r>
            <a:endParaRPr lang="fr-FR" sz="1800" b="0" i="0" u="none" strike="noStrike" kern="1200" cap="none" spc="0" baseline="0">
              <a:solidFill>
                <a:srgbClr val="000000"/>
              </a:solidFill>
              <a:uFillTx/>
              <a:latin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96">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1D41CB20-0922-EA1B-5036-15032FBB82C8}"/>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E5F9C4E0-1A73-C872-75BA-53558B58A622}"/>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DB4F074F-3CE4-6DB9-81E1-5D64CA82156F}"/>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A12F161F-EBEB-3DF5-2B94-C81B657AC97D}"/>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801A7AA7-68A5-32FB-BECE-959B851BC3E2}"/>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666CDA99-0D99-5CA5-49DE-FAC5068F2C39}"/>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Generator plots</a:t>
            </a:r>
          </a:p>
        </p:txBody>
      </p:sp>
      <p:sp>
        <p:nvSpPr>
          <p:cNvPr id="8" name="ZoneTexte 40">
            <a:extLst>
              <a:ext uri="{FF2B5EF4-FFF2-40B4-BE49-F238E27FC236}">
                <a16:creationId xmlns:a16="http://schemas.microsoft.com/office/drawing/2014/main" id="{0CDE5032-C4F1-471F-85EC-E0264C2D4391}"/>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C9B84091-223E-6E40-197A-D846A1E10704}"/>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
        <p:nvSpPr>
          <p:cNvPr id="10" name="ZoneTexte 12">
            <a:extLst>
              <a:ext uri="{FF2B5EF4-FFF2-40B4-BE49-F238E27FC236}">
                <a16:creationId xmlns:a16="http://schemas.microsoft.com/office/drawing/2014/main" id="{56EE6A64-468F-24BE-ACAF-056AB83F7383}"/>
              </a:ext>
            </a:extLst>
          </p:cNvPr>
          <p:cNvSpPr txBox="1"/>
          <p:nvPr/>
        </p:nvSpPr>
        <p:spPr>
          <a:xfrm>
            <a:off x="283738" y="1156158"/>
            <a:ext cx="5171416"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this cuts : 5.25 &lt; P</a:t>
            </a:r>
            <a:r>
              <a:rPr lang="fr-FR" sz="1600" b="0" i="0" u="none" strike="noStrike" kern="1200" cap="none" spc="0" baseline="-25000">
                <a:solidFill>
                  <a:srgbClr val="000000"/>
                </a:solidFill>
                <a:uFillTx/>
                <a:latin typeface="Calibri"/>
              </a:rPr>
              <a:t>electron</a:t>
            </a:r>
            <a:r>
              <a:rPr lang="fr-FR" sz="1600" b="0" i="0" u="none" strike="noStrike" kern="1200" cap="none" spc="0" baseline="0">
                <a:solidFill>
                  <a:srgbClr val="000000"/>
                </a:solidFill>
                <a:uFillTx/>
                <a:latin typeface="Calibri"/>
              </a:rPr>
              <a:t> &lt; 8 GeV and P</a:t>
            </a:r>
            <a:r>
              <a:rPr lang="fr-FR" sz="1600" b="0" i="0" u="none" strike="noStrike" kern="1200" cap="none" spc="0" baseline="-25000">
                <a:solidFill>
                  <a:srgbClr val="000000"/>
                </a:solidFill>
                <a:uFillTx/>
                <a:latin typeface="Calibri"/>
              </a:rPr>
              <a:t>proton </a:t>
            </a:r>
            <a:r>
              <a:rPr lang="fr-FR" sz="1600" b="0" i="0" u="none" strike="noStrike" kern="1200" cap="none" spc="0" baseline="0">
                <a:solidFill>
                  <a:srgbClr val="000000"/>
                </a:solidFill>
                <a:uFillTx/>
                <a:latin typeface="Calibri"/>
              </a:rPr>
              <a:t>&gt; 0.45 GeV </a:t>
            </a:r>
          </a:p>
        </p:txBody>
      </p:sp>
      <p:sp>
        <p:nvSpPr>
          <p:cNvPr id="11" name="ZoneTexte 14">
            <a:extLst>
              <a:ext uri="{FF2B5EF4-FFF2-40B4-BE49-F238E27FC236}">
                <a16:creationId xmlns:a16="http://schemas.microsoft.com/office/drawing/2014/main" id="{A5B4756F-140E-DF88-854A-B529E31A8D1A}"/>
              </a:ext>
            </a:extLst>
          </p:cNvPr>
          <p:cNvSpPr txBox="1"/>
          <p:nvPr/>
        </p:nvSpPr>
        <p:spPr>
          <a:xfrm>
            <a:off x="1953341" y="4933754"/>
            <a:ext cx="1302727"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my generator</a:t>
            </a:r>
          </a:p>
        </p:txBody>
      </p:sp>
      <p:sp>
        <p:nvSpPr>
          <p:cNvPr id="12" name="ZoneTexte 15">
            <a:extLst>
              <a:ext uri="{FF2B5EF4-FFF2-40B4-BE49-F238E27FC236}">
                <a16:creationId xmlns:a16="http://schemas.microsoft.com/office/drawing/2014/main" id="{391C89E0-56E5-9E42-35FE-8BED90503BCD}"/>
              </a:ext>
            </a:extLst>
          </p:cNvPr>
          <p:cNvSpPr txBox="1"/>
          <p:nvPr/>
        </p:nvSpPr>
        <p:spPr>
          <a:xfrm>
            <a:off x="7475914" y="4933754"/>
            <a:ext cx="1275798"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Bhawani plot</a:t>
            </a:r>
          </a:p>
        </p:txBody>
      </p:sp>
      <p:pic>
        <p:nvPicPr>
          <p:cNvPr id="13" name="Image 10">
            <a:extLst>
              <a:ext uri="{FF2B5EF4-FFF2-40B4-BE49-F238E27FC236}">
                <a16:creationId xmlns:a16="http://schemas.microsoft.com/office/drawing/2014/main" id="{8406649D-2194-1B37-20DA-0D44305CB38C}"/>
              </a:ext>
            </a:extLst>
          </p:cNvPr>
          <p:cNvPicPr>
            <a:picLocks noChangeAspect="1"/>
          </p:cNvPicPr>
          <p:nvPr/>
        </p:nvPicPr>
        <p:blipFill>
          <a:blip/>
          <a:stretch>
            <a:fillRect/>
          </a:stretch>
        </p:blipFill>
        <p:spPr>
          <a:xfrm>
            <a:off x="366555" y="1743367"/>
            <a:ext cx="4673443" cy="3339946"/>
          </a:xfrm>
          <a:prstGeom prst="rect">
            <a:avLst/>
          </a:prstGeom>
          <a:noFill/>
          <a:ln cap="flat">
            <a:noFill/>
          </a:ln>
        </p:spPr>
      </p:pic>
      <p:pic>
        <p:nvPicPr>
          <p:cNvPr id="14" name="Image 16">
            <a:extLst>
              <a:ext uri="{FF2B5EF4-FFF2-40B4-BE49-F238E27FC236}">
                <a16:creationId xmlns:a16="http://schemas.microsoft.com/office/drawing/2014/main" id="{1E5CE10C-C33B-A8B1-531E-EAF71B511AA2}"/>
              </a:ext>
            </a:extLst>
          </p:cNvPr>
          <p:cNvPicPr>
            <a:picLocks noChangeAspect="1"/>
          </p:cNvPicPr>
          <p:nvPr/>
        </p:nvPicPr>
        <p:blipFill>
          <a:blip r:embed="rId3"/>
          <a:stretch>
            <a:fillRect/>
          </a:stretch>
        </p:blipFill>
        <p:spPr>
          <a:xfrm>
            <a:off x="5039999" y="2027974"/>
            <a:ext cx="4952829" cy="2732501"/>
          </a:xfrm>
          <a:prstGeom prst="rect">
            <a:avLst/>
          </a:prstGeom>
          <a:noFill/>
          <a:ln cap="flat">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97">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5CEA7793-8275-6DCF-162A-D027DD7F28B6}"/>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8FD56918-E31F-B60A-4642-8359303A5044}"/>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175A9A62-557C-4414-E5CE-A7B91EDADAB6}"/>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01F3914F-C83E-56D8-88D5-B963D3A9FC62}"/>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132045F4-D2B3-5868-E237-49489C9892B4}"/>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484D5935-2A15-1EA1-EEDD-368B409C7B07}"/>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Generator plots</a:t>
            </a:r>
          </a:p>
        </p:txBody>
      </p:sp>
      <p:sp>
        <p:nvSpPr>
          <p:cNvPr id="8" name="ZoneTexte 40">
            <a:extLst>
              <a:ext uri="{FF2B5EF4-FFF2-40B4-BE49-F238E27FC236}">
                <a16:creationId xmlns:a16="http://schemas.microsoft.com/office/drawing/2014/main" id="{59ED6F4A-55A2-6DB9-8AE0-16FCDDB7BEAB}"/>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08A6BFDF-6238-153E-6C6D-F826484B7A37}"/>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
        <p:nvSpPr>
          <p:cNvPr id="10" name="ZoneTexte 12">
            <a:extLst>
              <a:ext uri="{FF2B5EF4-FFF2-40B4-BE49-F238E27FC236}">
                <a16:creationId xmlns:a16="http://schemas.microsoft.com/office/drawing/2014/main" id="{1C3DF641-C345-B8B0-C62E-EE4C070CC381}"/>
              </a:ext>
            </a:extLst>
          </p:cNvPr>
          <p:cNvSpPr txBox="1"/>
          <p:nvPr/>
        </p:nvSpPr>
        <p:spPr>
          <a:xfrm>
            <a:off x="283738" y="1156158"/>
            <a:ext cx="5171416"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this cuts : 5.25 &lt; P</a:t>
            </a:r>
            <a:r>
              <a:rPr lang="fr-FR" sz="1600" b="0" i="0" u="none" strike="noStrike" kern="1200" cap="none" spc="0" baseline="-25000">
                <a:solidFill>
                  <a:srgbClr val="000000"/>
                </a:solidFill>
                <a:uFillTx/>
                <a:latin typeface="Calibri"/>
              </a:rPr>
              <a:t>electron</a:t>
            </a:r>
            <a:r>
              <a:rPr lang="fr-FR" sz="1600" b="0" i="0" u="none" strike="noStrike" kern="1200" cap="none" spc="0" baseline="0">
                <a:solidFill>
                  <a:srgbClr val="000000"/>
                </a:solidFill>
                <a:uFillTx/>
                <a:latin typeface="Calibri"/>
              </a:rPr>
              <a:t> &lt; 8 GeV and P</a:t>
            </a:r>
            <a:r>
              <a:rPr lang="fr-FR" sz="1600" b="0" i="0" u="none" strike="noStrike" kern="1200" cap="none" spc="0" baseline="-25000">
                <a:solidFill>
                  <a:srgbClr val="000000"/>
                </a:solidFill>
                <a:uFillTx/>
                <a:latin typeface="Calibri"/>
              </a:rPr>
              <a:t>proton </a:t>
            </a:r>
            <a:r>
              <a:rPr lang="fr-FR" sz="1600" b="0" i="0" u="none" strike="noStrike" kern="1200" cap="none" spc="0" baseline="0">
                <a:solidFill>
                  <a:srgbClr val="000000"/>
                </a:solidFill>
                <a:uFillTx/>
                <a:latin typeface="Calibri"/>
              </a:rPr>
              <a:t>&gt; 0.45 GeV </a:t>
            </a:r>
          </a:p>
        </p:txBody>
      </p:sp>
      <p:sp>
        <p:nvSpPr>
          <p:cNvPr id="11" name="ZoneTexte 14">
            <a:extLst>
              <a:ext uri="{FF2B5EF4-FFF2-40B4-BE49-F238E27FC236}">
                <a16:creationId xmlns:a16="http://schemas.microsoft.com/office/drawing/2014/main" id="{29764B2A-CA6E-468D-A190-B1E8A21C0B30}"/>
              </a:ext>
            </a:extLst>
          </p:cNvPr>
          <p:cNvSpPr txBox="1"/>
          <p:nvPr/>
        </p:nvSpPr>
        <p:spPr>
          <a:xfrm>
            <a:off x="1953341" y="4933754"/>
            <a:ext cx="1302727"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my generator</a:t>
            </a:r>
          </a:p>
        </p:txBody>
      </p:sp>
      <p:sp>
        <p:nvSpPr>
          <p:cNvPr id="12" name="ZoneTexte 15">
            <a:extLst>
              <a:ext uri="{FF2B5EF4-FFF2-40B4-BE49-F238E27FC236}">
                <a16:creationId xmlns:a16="http://schemas.microsoft.com/office/drawing/2014/main" id="{3580715A-5200-A089-FE53-A924AD31B399}"/>
              </a:ext>
            </a:extLst>
          </p:cNvPr>
          <p:cNvSpPr txBox="1"/>
          <p:nvPr/>
        </p:nvSpPr>
        <p:spPr>
          <a:xfrm>
            <a:off x="7475914" y="4933754"/>
            <a:ext cx="1275798"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Bhawani plot</a:t>
            </a:r>
          </a:p>
        </p:txBody>
      </p:sp>
      <p:pic>
        <p:nvPicPr>
          <p:cNvPr id="13" name="Image 10">
            <a:extLst>
              <a:ext uri="{FF2B5EF4-FFF2-40B4-BE49-F238E27FC236}">
                <a16:creationId xmlns:a16="http://schemas.microsoft.com/office/drawing/2014/main" id="{40169A22-FF37-0832-A9D2-901E2F57B47B}"/>
              </a:ext>
            </a:extLst>
          </p:cNvPr>
          <p:cNvPicPr>
            <a:picLocks noChangeAspect="1"/>
          </p:cNvPicPr>
          <p:nvPr/>
        </p:nvPicPr>
        <p:blipFill>
          <a:blip r:embed="rId3"/>
          <a:stretch>
            <a:fillRect/>
          </a:stretch>
        </p:blipFill>
        <p:spPr>
          <a:xfrm>
            <a:off x="466517" y="1679158"/>
            <a:ext cx="4485726" cy="3254230"/>
          </a:xfrm>
          <a:prstGeom prst="rect">
            <a:avLst/>
          </a:prstGeom>
          <a:noFill/>
          <a:ln cap="flat">
            <a:noFill/>
          </a:ln>
        </p:spPr>
      </p:pic>
      <p:pic>
        <p:nvPicPr>
          <p:cNvPr id="14" name="Image 16">
            <a:extLst>
              <a:ext uri="{FF2B5EF4-FFF2-40B4-BE49-F238E27FC236}">
                <a16:creationId xmlns:a16="http://schemas.microsoft.com/office/drawing/2014/main" id="{6822B978-C70E-7905-E46E-B9D6FBF79F14}"/>
              </a:ext>
            </a:extLst>
          </p:cNvPr>
          <p:cNvPicPr>
            <a:picLocks noChangeAspect="1"/>
          </p:cNvPicPr>
          <p:nvPr/>
        </p:nvPicPr>
        <p:blipFill>
          <a:blip r:embed="rId4"/>
          <a:stretch>
            <a:fillRect/>
          </a:stretch>
        </p:blipFill>
        <p:spPr>
          <a:xfrm>
            <a:off x="5039999" y="2062932"/>
            <a:ext cx="4968749" cy="2742349"/>
          </a:xfrm>
          <a:prstGeom prst="rect">
            <a:avLst/>
          </a:prstGeom>
          <a:noFill/>
          <a:ln cap="flat">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98">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9EF7AE0B-9A36-B64C-42E4-B3B208E589CF}"/>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E91ADCA3-696A-9348-9AD0-E6FFF943653B}"/>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320EE343-A51E-4363-0289-C7542FD85030}"/>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D358B8EF-FA26-8C36-E212-C676BDA6C6C0}"/>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7E2F1570-8A68-41EA-AC75-0FDA418B9060}"/>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EB8B60FA-C1A3-22CF-5DF6-4BCA36BA7574}"/>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Generator plots</a:t>
            </a:r>
          </a:p>
        </p:txBody>
      </p:sp>
      <p:sp>
        <p:nvSpPr>
          <p:cNvPr id="8" name="ZoneTexte 40">
            <a:extLst>
              <a:ext uri="{FF2B5EF4-FFF2-40B4-BE49-F238E27FC236}">
                <a16:creationId xmlns:a16="http://schemas.microsoft.com/office/drawing/2014/main" id="{DE98A95E-6E80-B1DA-12C2-9D9BABD5EDD4}"/>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3C2F4068-6DC0-CBA9-3830-CF6B2385A428}"/>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
        <p:nvSpPr>
          <p:cNvPr id="10" name="ZoneTexte 12">
            <a:extLst>
              <a:ext uri="{FF2B5EF4-FFF2-40B4-BE49-F238E27FC236}">
                <a16:creationId xmlns:a16="http://schemas.microsoft.com/office/drawing/2014/main" id="{3A211CD2-D0D3-E8BF-F3EF-822C89730C76}"/>
              </a:ext>
            </a:extLst>
          </p:cNvPr>
          <p:cNvSpPr txBox="1"/>
          <p:nvPr/>
        </p:nvSpPr>
        <p:spPr>
          <a:xfrm>
            <a:off x="283738" y="1156158"/>
            <a:ext cx="5171416"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this cuts : 5.25 &lt; P</a:t>
            </a:r>
            <a:r>
              <a:rPr lang="fr-FR" sz="1600" b="0" i="0" u="none" strike="noStrike" kern="1200" cap="none" spc="0" baseline="-25000">
                <a:solidFill>
                  <a:srgbClr val="000000"/>
                </a:solidFill>
                <a:uFillTx/>
                <a:latin typeface="Calibri"/>
              </a:rPr>
              <a:t>electron</a:t>
            </a:r>
            <a:r>
              <a:rPr lang="fr-FR" sz="1600" b="0" i="0" u="none" strike="noStrike" kern="1200" cap="none" spc="0" baseline="0">
                <a:solidFill>
                  <a:srgbClr val="000000"/>
                </a:solidFill>
                <a:uFillTx/>
                <a:latin typeface="Calibri"/>
              </a:rPr>
              <a:t> &lt; 8 GeV and P</a:t>
            </a:r>
            <a:r>
              <a:rPr lang="fr-FR" sz="1600" b="0" i="0" u="none" strike="noStrike" kern="1200" cap="none" spc="0" baseline="-25000">
                <a:solidFill>
                  <a:srgbClr val="000000"/>
                </a:solidFill>
                <a:uFillTx/>
                <a:latin typeface="Calibri"/>
              </a:rPr>
              <a:t>proton </a:t>
            </a:r>
            <a:r>
              <a:rPr lang="fr-FR" sz="1600" b="0" i="0" u="none" strike="noStrike" kern="1200" cap="none" spc="0" baseline="0">
                <a:solidFill>
                  <a:srgbClr val="000000"/>
                </a:solidFill>
                <a:uFillTx/>
                <a:latin typeface="Calibri"/>
              </a:rPr>
              <a:t>&gt; 0.45 GeV </a:t>
            </a:r>
          </a:p>
        </p:txBody>
      </p:sp>
      <p:sp>
        <p:nvSpPr>
          <p:cNvPr id="11" name="ZoneTexte 14">
            <a:extLst>
              <a:ext uri="{FF2B5EF4-FFF2-40B4-BE49-F238E27FC236}">
                <a16:creationId xmlns:a16="http://schemas.microsoft.com/office/drawing/2014/main" id="{FF1EA7E2-D051-0DE8-560E-A5C250FFA4D9}"/>
              </a:ext>
            </a:extLst>
          </p:cNvPr>
          <p:cNvSpPr txBox="1"/>
          <p:nvPr/>
        </p:nvSpPr>
        <p:spPr>
          <a:xfrm>
            <a:off x="1953341" y="4933754"/>
            <a:ext cx="1302727"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my generator</a:t>
            </a:r>
          </a:p>
        </p:txBody>
      </p:sp>
      <p:sp>
        <p:nvSpPr>
          <p:cNvPr id="12" name="ZoneTexte 15">
            <a:extLst>
              <a:ext uri="{FF2B5EF4-FFF2-40B4-BE49-F238E27FC236}">
                <a16:creationId xmlns:a16="http://schemas.microsoft.com/office/drawing/2014/main" id="{B4D9DF9F-5E45-3965-BEF5-470F89500356}"/>
              </a:ext>
            </a:extLst>
          </p:cNvPr>
          <p:cNvSpPr txBox="1"/>
          <p:nvPr/>
        </p:nvSpPr>
        <p:spPr>
          <a:xfrm>
            <a:off x="7475914" y="4933754"/>
            <a:ext cx="1275798"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Bhawani plot</a:t>
            </a:r>
          </a:p>
        </p:txBody>
      </p:sp>
      <p:pic>
        <p:nvPicPr>
          <p:cNvPr id="13" name="Image 10">
            <a:extLst>
              <a:ext uri="{FF2B5EF4-FFF2-40B4-BE49-F238E27FC236}">
                <a16:creationId xmlns:a16="http://schemas.microsoft.com/office/drawing/2014/main" id="{983CEA44-7FE8-8AD0-9E6A-78D01DF3160B}"/>
              </a:ext>
            </a:extLst>
          </p:cNvPr>
          <p:cNvPicPr>
            <a:picLocks noChangeAspect="1"/>
          </p:cNvPicPr>
          <p:nvPr/>
        </p:nvPicPr>
        <p:blipFill>
          <a:blip r:embed="rId3"/>
          <a:stretch>
            <a:fillRect/>
          </a:stretch>
        </p:blipFill>
        <p:spPr>
          <a:xfrm>
            <a:off x="170636" y="1686738"/>
            <a:ext cx="4650400" cy="3331442"/>
          </a:xfrm>
          <a:prstGeom prst="rect">
            <a:avLst/>
          </a:prstGeom>
          <a:noFill/>
          <a:ln cap="flat">
            <a:noFill/>
          </a:ln>
        </p:spPr>
      </p:pic>
      <p:pic>
        <p:nvPicPr>
          <p:cNvPr id="14" name="Image 16">
            <a:extLst>
              <a:ext uri="{FF2B5EF4-FFF2-40B4-BE49-F238E27FC236}">
                <a16:creationId xmlns:a16="http://schemas.microsoft.com/office/drawing/2014/main" id="{C3BDBC7E-2B13-C00A-AD77-A8716C7297D5}"/>
              </a:ext>
            </a:extLst>
          </p:cNvPr>
          <p:cNvPicPr>
            <a:picLocks noChangeAspect="1"/>
          </p:cNvPicPr>
          <p:nvPr/>
        </p:nvPicPr>
        <p:blipFill>
          <a:blip r:embed="rId4"/>
          <a:stretch>
            <a:fillRect/>
          </a:stretch>
        </p:blipFill>
        <p:spPr>
          <a:xfrm>
            <a:off x="6237927" y="1261807"/>
            <a:ext cx="3185440" cy="3671946"/>
          </a:xfrm>
          <a:prstGeom prst="rect">
            <a:avLst/>
          </a:prstGeom>
          <a:noFill/>
          <a:ln cap="flat">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70">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DE038CEC-B4C1-4A2B-FF9D-9986535ACE3F}"/>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EB90A439-CDE7-E7B9-650A-86A9D1A3DBD2}"/>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A4E9E212-1E17-E314-696B-8E097EC7E779}"/>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5CF00576-5BF1-6BD8-448F-4D7EDEFEB55D}"/>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62A9887B-6805-12F9-D56A-2C16569A8F71}"/>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3CD6EA33-6B9E-4FE1-868F-E238F13BF1EB}"/>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Proton contamination</a:t>
            </a:r>
          </a:p>
        </p:txBody>
      </p:sp>
      <p:sp>
        <p:nvSpPr>
          <p:cNvPr id="8" name="ZoneTexte 11">
            <a:extLst>
              <a:ext uri="{FF2B5EF4-FFF2-40B4-BE49-F238E27FC236}">
                <a16:creationId xmlns:a16="http://schemas.microsoft.com/office/drawing/2014/main" id="{3E0C1FA8-A9F2-08E3-EFDA-C0901CDDCFA3}"/>
              </a:ext>
            </a:extLst>
          </p:cNvPr>
          <p:cNvSpPr txBox="1"/>
          <p:nvPr/>
        </p:nvSpPr>
        <p:spPr>
          <a:xfrm>
            <a:off x="287167" y="1108408"/>
            <a:ext cx="5794763"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70AD47"/>
                </a:solidFill>
                <a:uFillTx/>
                <a:latin typeface="Calibri" pitchFamily="34"/>
                <a:ea typeface="Noto Sans CJK SC" pitchFamily="2"/>
                <a:cs typeface="Calibri" pitchFamily="34"/>
              </a:rPr>
              <a:t>Missing_nucleon  </a:t>
            </a:r>
            <a:r>
              <a:rPr lang="fr-FR" sz="1400" b="0" i="0" u="none" strike="noStrike" kern="1200" cap="none" spc="0" baseline="0">
                <a:solidFill>
                  <a:srgbClr val="000000"/>
                </a:solidFill>
                <a:uFillTx/>
                <a:latin typeface="Calibri" pitchFamily="34"/>
                <a:ea typeface="Noto Sans CJK SC" pitchFamily="2"/>
                <a:cs typeface="Calibri" pitchFamily="34"/>
              </a:rPr>
              <a:t>=  the missing particle of this reaction :  e n </a:t>
            </a:r>
            <a:r>
              <a:rPr lang="fr-FR" sz="1400" b="1" i="0" u="none" strike="noStrike" kern="0" cap="none" spc="0" baseline="0">
                <a:solidFill>
                  <a:srgbClr val="000000"/>
                </a:solidFill>
                <a:uFillTx/>
                <a:latin typeface="Liberation Sans" pitchFamily="34"/>
                <a:ea typeface="Liberation Sans" pitchFamily="34"/>
                <a:cs typeface="Liberation Sans" pitchFamily="34"/>
              </a:rPr>
              <a:t>→</a:t>
            </a:r>
            <a:r>
              <a:rPr lang="fr-FR" sz="1400" b="0" i="0" u="none" strike="noStrike" kern="1200" cap="none" spc="0" baseline="0">
                <a:solidFill>
                  <a:srgbClr val="000000"/>
                </a:solidFill>
                <a:uFillTx/>
                <a:latin typeface="Calibri" pitchFamily="34"/>
                <a:ea typeface="Noto Sans CJK SC" pitchFamily="2"/>
                <a:cs typeface="Calibri" pitchFamily="34"/>
              </a:rPr>
              <a:t> e’ K</a:t>
            </a:r>
            <a:r>
              <a:rPr lang="fr-FR" sz="1400" b="0" i="0" u="none" strike="noStrike" kern="1200" cap="none" spc="0" baseline="30000">
                <a:solidFill>
                  <a:srgbClr val="000000"/>
                </a:solidFill>
                <a:uFillTx/>
                <a:latin typeface="Calibri" pitchFamily="34"/>
                <a:ea typeface="Noto Sans CJK SC" pitchFamily="2"/>
                <a:cs typeface="Calibri" pitchFamily="34"/>
              </a:rPr>
              <a:t>+</a:t>
            </a:r>
            <a:r>
              <a:rPr lang="fr-FR" sz="1400" b="0" i="0" u="none" strike="noStrike" kern="1200" cap="none" spc="0" baseline="0">
                <a:solidFill>
                  <a:srgbClr val="000000"/>
                </a:solidFill>
                <a:uFillTx/>
                <a:latin typeface="Calibri" pitchFamily="34"/>
                <a:ea typeface="Noto Sans CJK SC" pitchFamily="2"/>
                <a:cs typeface="Calibri" pitchFamily="34"/>
              </a:rPr>
              <a:t>  K</a:t>
            </a:r>
            <a:r>
              <a:rPr lang="fr-FR" sz="1400" b="0" i="0" u="none" strike="noStrike" kern="1200" cap="none" spc="0" baseline="30000">
                <a:solidFill>
                  <a:srgbClr val="000000"/>
                </a:solidFill>
                <a:uFillTx/>
                <a:latin typeface="Calibri" pitchFamily="34"/>
                <a:ea typeface="Noto Sans CJK SC" pitchFamily="2"/>
                <a:cs typeface="Calibri" pitchFamily="34"/>
              </a:rPr>
              <a:t>-</a:t>
            </a:r>
            <a:r>
              <a:rPr lang="fr-FR" sz="1400" b="0" i="0" u="none" strike="noStrike" kern="1200" cap="none" spc="0" baseline="0">
                <a:solidFill>
                  <a:srgbClr val="000000"/>
                </a:solidFill>
                <a:uFillTx/>
                <a:latin typeface="Calibri" pitchFamily="34"/>
                <a:ea typeface="Noto Sans CJK SC" pitchFamily="2"/>
                <a:cs typeface="Calibri" pitchFamily="34"/>
              </a:rPr>
              <a:t>  </a:t>
            </a:r>
            <a:r>
              <a:rPr lang="fr-FR" sz="1400" b="0" i="0" u="none" strike="noStrike" kern="1200" cap="none" spc="0" baseline="0">
                <a:solidFill>
                  <a:srgbClr val="70AD47"/>
                </a:solidFill>
                <a:uFillTx/>
                <a:latin typeface="Calibri" pitchFamily="34"/>
                <a:ea typeface="Noto Sans CJK SC" pitchFamily="2"/>
                <a:cs typeface="Calibri" pitchFamily="34"/>
              </a:rPr>
              <a:t>X</a:t>
            </a:r>
            <a:endParaRPr lang="fr-FR" sz="1400" b="0" i="0" u="none" strike="noStrike" kern="1200" cap="none" spc="0" baseline="30000">
              <a:solidFill>
                <a:srgbClr val="000000"/>
              </a:solidFill>
              <a:uFillTx/>
              <a:latin typeface="Calibri"/>
            </a:endParaRPr>
          </a:p>
        </p:txBody>
      </p:sp>
      <p:cxnSp>
        <p:nvCxnSpPr>
          <p:cNvPr id="9" name="Connecteur droit 40">
            <a:extLst>
              <a:ext uri="{FF2B5EF4-FFF2-40B4-BE49-F238E27FC236}">
                <a16:creationId xmlns:a16="http://schemas.microsoft.com/office/drawing/2014/main" id="{0E0965CF-1923-8D64-B112-89ECF0BF24EA}"/>
              </a:ext>
            </a:extLst>
          </p:cNvPr>
          <p:cNvCxnSpPr/>
          <p:nvPr/>
        </p:nvCxnSpPr>
        <p:spPr>
          <a:xfrm flipH="1" flipV="1">
            <a:off x="1402771" y="2090684"/>
            <a:ext cx="501622" cy="491801"/>
          </a:xfrm>
          <a:prstGeom prst="straightConnector1">
            <a:avLst/>
          </a:prstGeom>
          <a:noFill/>
          <a:ln w="22229" cap="flat">
            <a:solidFill>
              <a:srgbClr val="000000"/>
            </a:solidFill>
            <a:prstDash val="solid"/>
            <a:miter/>
          </a:ln>
        </p:spPr>
      </p:cxnSp>
      <p:cxnSp>
        <p:nvCxnSpPr>
          <p:cNvPr id="10" name="Connecteur droit 40">
            <a:extLst>
              <a:ext uri="{FF2B5EF4-FFF2-40B4-BE49-F238E27FC236}">
                <a16:creationId xmlns:a16="http://schemas.microsoft.com/office/drawing/2014/main" id="{754DE8F7-0F6B-4D1D-24ED-B02B52A511E8}"/>
              </a:ext>
            </a:extLst>
          </p:cNvPr>
          <p:cNvCxnSpPr/>
          <p:nvPr/>
        </p:nvCxnSpPr>
        <p:spPr>
          <a:xfrm flipV="1">
            <a:off x="1997771" y="2724637"/>
            <a:ext cx="0" cy="686806"/>
          </a:xfrm>
          <a:prstGeom prst="straightConnector1">
            <a:avLst/>
          </a:prstGeom>
          <a:noFill/>
          <a:ln w="22229" cap="flat">
            <a:solidFill>
              <a:srgbClr val="000000"/>
            </a:solidFill>
            <a:prstDash val="solid"/>
            <a:miter/>
          </a:ln>
        </p:spPr>
      </p:cxnSp>
      <p:cxnSp>
        <p:nvCxnSpPr>
          <p:cNvPr id="11" name="Connecteur droit 40">
            <a:extLst>
              <a:ext uri="{FF2B5EF4-FFF2-40B4-BE49-F238E27FC236}">
                <a16:creationId xmlns:a16="http://schemas.microsoft.com/office/drawing/2014/main" id="{AA0AAA08-EAF6-FE5A-E0DF-A4906E7CE65D}"/>
              </a:ext>
            </a:extLst>
          </p:cNvPr>
          <p:cNvCxnSpPr/>
          <p:nvPr/>
        </p:nvCxnSpPr>
        <p:spPr>
          <a:xfrm flipV="1">
            <a:off x="1534710" y="3575733"/>
            <a:ext cx="369683" cy="489140"/>
          </a:xfrm>
          <a:prstGeom prst="straightConnector1">
            <a:avLst/>
          </a:prstGeom>
          <a:noFill/>
          <a:ln w="22229" cap="flat">
            <a:solidFill>
              <a:srgbClr val="000000"/>
            </a:solidFill>
            <a:prstDash val="solid"/>
            <a:miter/>
          </a:ln>
        </p:spPr>
      </p:cxnSp>
      <p:cxnSp>
        <p:nvCxnSpPr>
          <p:cNvPr id="12" name="Connecteur droit 40">
            <a:extLst>
              <a:ext uri="{FF2B5EF4-FFF2-40B4-BE49-F238E27FC236}">
                <a16:creationId xmlns:a16="http://schemas.microsoft.com/office/drawing/2014/main" id="{8B70FFE8-48F9-0387-8C7E-9BEE164C4755}"/>
              </a:ext>
            </a:extLst>
          </p:cNvPr>
          <p:cNvCxnSpPr/>
          <p:nvPr/>
        </p:nvCxnSpPr>
        <p:spPr>
          <a:xfrm flipH="1">
            <a:off x="554647" y="2182718"/>
            <a:ext cx="914089" cy="935669"/>
          </a:xfrm>
          <a:prstGeom prst="straightConnector1">
            <a:avLst/>
          </a:prstGeom>
          <a:noFill/>
          <a:ln w="22229" cap="sq">
            <a:solidFill>
              <a:srgbClr val="FF0000"/>
            </a:solidFill>
            <a:prstDash val="solid"/>
            <a:miter/>
            <a:headEnd type="arrow"/>
          </a:ln>
        </p:spPr>
      </p:cxnSp>
      <p:cxnSp>
        <p:nvCxnSpPr>
          <p:cNvPr id="13" name="Connecteur droit 40">
            <a:extLst>
              <a:ext uri="{FF2B5EF4-FFF2-40B4-BE49-F238E27FC236}">
                <a16:creationId xmlns:a16="http://schemas.microsoft.com/office/drawing/2014/main" id="{652BCDA6-AFEA-5220-979C-0C34485187A2}"/>
              </a:ext>
            </a:extLst>
          </p:cNvPr>
          <p:cNvCxnSpPr/>
          <p:nvPr/>
        </p:nvCxnSpPr>
        <p:spPr>
          <a:xfrm flipH="1">
            <a:off x="546838" y="2473726"/>
            <a:ext cx="1238683" cy="658194"/>
          </a:xfrm>
          <a:prstGeom prst="straightConnector1">
            <a:avLst/>
          </a:prstGeom>
          <a:noFill/>
          <a:ln w="22229" cap="flat">
            <a:solidFill>
              <a:srgbClr val="FF0000"/>
            </a:solidFill>
            <a:prstDash val="solid"/>
            <a:miter/>
            <a:headEnd type="arrow"/>
          </a:ln>
        </p:spPr>
      </p:cxnSp>
      <p:sp>
        <p:nvSpPr>
          <p:cNvPr id="14" name="ZoneTexte 67">
            <a:extLst>
              <a:ext uri="{FF2B5EF4-FFF2-40B4-BE49-F238E27FC236}">
                <a16:creationId xmlns:a16="http://schemas.microsoft.com/office/drawing/2014/main" id="{36FF040B-4F70-9573-627E-AD3E665EA5B5}"/>
              </a:ext>
            </a:extLst>
          </p:cNvPr>
          <p:cNvSpPr txBox="1"/>
          <p:nvPr/>
        </p:nvSpPr>
        <p:spPr>
          <a:xfrm>
            <a:off x="2010006" y="2906237"/>
            <a:ext cx="1374087"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1200" cap="none" spc="0" baseline="0">
                <a:solidFill>
                  <a:srgbClr val="000000"/>
                </a:solidFill>
                <a:uFillTx/>
                <a:latin typeface="Calibri"/>
              </a:rPr>
              <a:t>neutron</a:t>
            </a:r>
          </a:p>
        </p:txBody>
      </p:sp>
      <p:cxnSp>
        <p:nvCxnSpPr>
          <p:cNvPr id="15" name="Connecteur droit 40">
            <a:extLst>
              <a:ext uri="{FF2B5EF4-FFF2-40B4-BE49-F238E27FC236}">
                <a16:creationId xmlns:a16="http://schemas.microsoft.com/office/drawing/2014/main" id="{5B4143D1-4C03-05F1-1305-AEB7F841A237}"/>
              </a:ext>
            </a:extLst>
          </p:cNvPr>
          <p:cNvCxnSpPr/>
          <p:nvPr/>
        </p:nvCxnSpPr>
        <p:spPr>
          <a:xfrm flipH="1" flipV="1">
            <a:off x="534475" y="3118753"/>
            <a:ext cx="1450934" cy="20373"/>
          </a:xfrm>
          <a:prstGeom prst="straightConnector1">
            <a:avLst/>
          </a:prstGeom>
          <a:noFill/>
          <a:ln w="22229" cap="flat">
            <a:solidFill>
              <a:srgbClr val="000000"/>
            </a:solidFill>
            <a:prstDash val="solid"/>
            <a:miter/>
            <a:headEnd type="arrow"/>
          </a:ln>
        </p:spPr>
      </p:cxnSp>
      <p:sp>
        <p:nvSpPr>
          <p:cNvPr id="16" name="ZoneTexte 69">
            <a:extLst>
              <a:ext uri="{FF2B5EF4-FFF2-40B4-BE49-F238E27FC236}">
                <a16:creationId xmlns:a16="http://schemas.microsoft.com/office/drawing/2014/main" id="{BACEC1DD-EA79-EC4D-00E2-EB164B0F0361}"/>
              </a:ext>
            </a:extLst>
          </p:cNvPr>
          <p:cNvSpPr txBox="1"/>
          <p:nvPr/>
        </p:nvSpPr>
        <p:spPr>
          <a:xfrm>
            <a:off x="1464466" y="1926924"/>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K</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sp>
        <p:nvSpPr>
          <p:cNvPr id="17" name="ZoneTexte 70">
            <a:extLst>
              <a:ext uri="{FF2B5EF4-FFF2-40B4-BE49-F238E27FC236}">
                <a16:creationId xmlns:a16="http://schemas.microsoft.com/office/drawing/2014/main" id="{48637840-07AD-97B8-464F-E0DD3FB5627A}"/>
              </a:ext>
            </a:extLst>
          </p:cNvPr>
          <p:cNvSpPr txBox="1"/>
          <p:nvPr/>
        </p:nvSpPr>
        <p:spPr>
          <a:xfrm>
            <a:off x="1851495" y="2179207"/>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K</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cxnSp>
        <p:nvCxnSpPr>
          <p:cNvPr id="18" name="Connecteur droit 40">
            <a:extLst>
              <a:ext uri="{FF2B5EF4-FFF2-40B4-BE49-F238E27FC236}">
                <a16:creationId xmlns:a16="http://schemas.microsoft.com/office/drawing/2014/main" id="{6985F3A3-09E7-5B1F-7CCC-1643A0164DDA}"/>
              </a:ext>
            </a:extLst>
          </p:cNvPr>
          <p:cNvCxnSpPr>
            <a:stCxn id="19" idx="1"/>
          </p:cNvCxnSpPr>
          <p:nvPr/>
        </p:nvCxnSpPr>
        <p:spPr>
          <a:xfrm flipH="1">
            <a:off x="546838" y="2790232"/>
            <a:ext cx="1463296" cy="333294"/>
          </a:xfrm>
          <a:prstGeom prst="straightConnector1">
            <a:avLst/>
          </a:prstGeom>
          <a:noFill/>
          <a:ln w="22229" cap="flat">
            <a:solidFill>
              <a:srgbClr val="FF0000"/>
            </a:solidFill>
            <a:prstDash val="solid"/>
            <a:miter/>
            <a:headEnd type="arrow"/>
          </a:ln>
        </p:spPr>
      </p:cxnSp>
      <p:sp>
        <p:nvSpPr>
          <p:cNvPr id="19" name="ZoneTexte 72">
            <a:extLst>
              <a:ext uri="{FF2B5EF4-FFF2-40B4-BE49-F238E27FC236}">
                <a16:creationId xmlns:a16="http://schemas.microsoft.com/office/drawing/2014/main" id="{9FABFA9A-5997-2198-B749-2DA90A224BEE}"/>
              </a:ext>
            </a:extLst>
          </p:cNvPr>
          <p:cNvSpPr txBox="1"/>
          <p:nvPr/>
        </p:nvSpPr>
        <p:spPr>
          <a:xfrm>
            <a:off x="2010134" y="2605564"/>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e</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cxnSp>
        <p:nvCxnSpPr>
          <p:cNvPr id="20" name="Connecteur droit 40">
            <a:extLst>
              <a:ext uri="{FF2B5EF4-FFF2-40B4-BE49-F238E27FC236}">
                <a16:creationId xmlns:a16="http://schemas.microsoft.com/office/drawing/2014/main" id="{D5D2E568-F30F-6ECA-C97D-B54E230CC6DF}"/>
              </a:ext>
            </a:extLst>
          </p:cNvPr>
          <p:cNvCxnSpPr>
            <a:stCxn id="21" idx="1"/>
          </p:cNvCxnSpPr>
          <p:nvPr/>
        </p:nvCxnSpPr>
        <p:spPr>
          <a:xfrm flipH="1" flipV="1">
            <a:off x="529812" y="3130731"/>
            <a:ext cx="1461888" cy="197524"/>
          </a:xfrm>
          <a:prstGeom prst="straightConnector1">
            <a:avLst/>
          </a:prstGeom>
          <a:noFill/>
          <a:ln w="22229" cap="flat">
            <a:solidFill>
              <a:srgbClr val="70AD47"/>
            </a:solidFill>
            <a:prstDash val="solid"/>
            <a:miter/>
            <a:headEnd type="arrow"/>
          </a:ln>
        </p:spPr>
      </p:cxnSp>
      <p:sp>
        <p:nvSpPr>
          <p:cNvPr id="21" name="ZoneTexte 74">
            <a:extLst>
              <a:ext uri="{FF2B5EF4-FFF2-40B4-BE49-F238E27FC236}">
                <a16:creationId xmlns:a16="http://schemas.microsoft.com/office/drawing/2014/main" id="{95D84520-323D-F77A-EE76-958C5F76D8CA}"/>
              </a:ext>
            </a:extLst>
          </p:cNvPr>
          <p:cNvSpPr txBox="1"/>
          <p:nvPr/>
        </p:nvSpPr>
        <p:spPr>
          <a:xfrm>
            <a:off x="1991700" y="3158977"/>
            <a:ext cx="2239237"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0" cap="none" spc="0" baseline="0">
                <a:solidFill>
                  <a:srgbClr val="70AD47"/>
                </a:solidFill>
                <a:uFillTx/>
                <a:latin typeface="Calibri"/>
                <a:ea typeface="Noto Sans CJK SC" pitchFamily="2"/>
                <a:cs typeface="Calibri" pitchFamily="34"/>
              </a:rPr>
              <a:t>m</a:t>
            </a:r>
            <a:r>
              <a:rPr lang="fr-FR" sz="1600" b="1" i="0" u="none" strike="noStrike" kern="1200" cap="none" spc="0" baseline="0">
                <a:solidFill>
                  <a:srgbClr val="70AD47"/>
                </a:solidFill>
                <a:uFillTx/>
                <a:latin typeface="Calibri"/>
                <a:ea typeface="Noto Sans CJK SC" pitchFamily="2"/>
                <a:cs typeface="Calibri" pitchFamily="34"/>
              </a:rPr>
              <a:t>issing_nucleon </a:t>
            </a:r>
            <a:endParaRPr lang="fr-FR" sz="1600" b="1" i="0" u="none" strike="noStrike" kern="1200" cap="none" spc="0" baseline="0">
              <a:solidFill>
                <a:srgbClr val="000000"/>
              </a:solidFill>
              <a:uFillTx/>
              <a:latin typeface="Calibri"/>
            </a:endParaRPr>
          </a:p>
        </p:txBody>
      </p:sp>
      <p:sp>
        <p:nvSpPr>
          <p:cNvPr id="22" name="ZoneTexte 76">
            <a:extLst>
              <a:ext uri="{FF2B5EF4-FFF2-40B4-BE49-F238E27FC236}">
                <a16:creationId xmlns:a16="http://schemas.microsoft.com/office/drawing/2014/main" id="{FC12A801-18AB-0554-60AD-29F6F57E6C4C}"/>
              </a:ext>
            </a:extLst>
          </p:cNvPr>
          <p:cNvSpPr txBox="1"/>
          <p:nvPr/>
        </p:nvSpPr>
        <p:spPr>
          <a:xfrm>
            <a:off x="77888" y="4366040"/>
            <a:ext cx="3400031" cy="523219"/>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Calibri"/>
              </a:rPr>
              <a:t>Good event with</a:t>
            </a:r>
            <a:r>
              <a:rPr lang="fr-FR" sz="1400" b="0" i="0" u="none" strike="noStrike" kern="0" cap="none" spc="0" baseline="0">
                <a:solidFill>
                  <a:srgbClr val="000000"/>
                </a:solidFill>
                <a:uFillTx/>
                <a:latin typeface="Calibri"/>
              </a:rPr>
              <a:t> </a:t>
            </a:r>
            <a:r>
              <a:rPr lang="fr-FR" sz="1400" b="0" i="0" u="none" strike="noStrike" kern="0" cap="none" spc="0" baseline="0">
                <a:solidFill>
                  <a:srgbClr val="000000"/>
                </a:solidFill>
                <a:uFillTx/>
                <a:latin typeface="Calibri" pitchFamily="34"/>
                <a:ea typeface="Noto Sans CJK SC" pitchFamily="2"/>
                <a:cs typeface="Calibri" pitchFamily="34"/>
              </a:rPr>
              <a:t>the angle between the missing nucleon and the neutron </a:t>
            </a:r>
            <a:r>
              <a:rPr lang="fr-FR" sz="1400" b="1" i="0" u="none" strike="noStrike" kern="0" cap="none" spc="0" baseline="0">
                <a:solidFill>
                  <a:srgbClr val="FF0000"/>
                </a:solidFill>
                <a:uFillTx/>
                <a:latin typeface="Calibri" pitchFamily="34"/>
                <a:ea typeface="Noto Sans CJK SC" pitchFamily="2"/>
                <a:cs typeface="Calibri" pitchFamily="34"/>
              </a:rPr>
              <a:t>&lt; 5 ° </a:t>
            </a:r>
          </a:p>
        </p:txBody>
      </p:sp>
      <p:sp>
        <p:nvSpPr>
          <p:cNvPr id="23" name="ZoneTexte 76">
            <a:extLst>
              <a:ext uri="{FF2B5EF4-FFF2-40B4-BE49-F238E27FC236}">
                <a16:creationId xmlns:a16="http://schemas.microsoft.com/office/drawing/2014/main" id="{720E5B7D-EA34-EF31-9250-5979C54D862F}"/>
              </a:ext>
            </a:extLst>
          </p:cNvPr>
          <p:cNvSpPr txBox="1"/>
          <p:nvPr/>
        </p:nvSpPr>
        <p:spPr>
          <a:xfrm>
            <a:off x="4480203" y="3769623"/>
            <a:ext cx="5599794" cy="523219"/>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0" cap="none" spc="0" baseline="0">
                <a:solidFill>
                  <a:srgbClr val="000000"/>
                </a:solidFill>
                <a:uFillTx/>
                <a:latin typeface="Calibri" pitchFamily="34"/>
                <a:ea typeface="Noto Sans CJK SC" pitchFamily="2"/>
                <a:cs typeface="Calibri" pitchFamily="34"/>
              </a:rPr>
              <a:t>There is still a contamination when the </a:t>
            </a:r>
            <a:r>
              <a:rPr lang="fr-FR" sz="1400" b="1" i="0" u="none" strike="noStrike" kern="0" cap="none" spc="0" baseline="0">
                <a:solidFill>
                  <a:srgbClr val="92D050"/>
                </a:solidFill>
                <a:uFillTx/>
                <a:latin typeface="Calibri" pitchFamily="34"/>
                <a:ea typeface="Noto Sans CJK SC" pitchFamily="2"/>
                <a:cs typeface="Calibri" pitchFamily="34"/>
              </a:rPr>
              <a:t>missing_nucleon </a:t>
            </a:r>
            <a:r>
              <a:rPr lang="fr-FR" sz="1400" b="0" i="0" u="none" strike="noStrike" kern="0" cap="none" spc="0" baseline="0">
                <a:solidFill>
                  <a:srgbClr val="000000"/>
                </a:solidFill>
                <a:uFillTx/>
                <a:latin typeface="Calibri" pitchFamily="34"/>
                <a:ea typeface="Noto Sans CJK SC" pitchFamily="2"/>
                <a:cs typeface="Calibri" pitchFamily="34"/>
              </a:rPr>
              <a:t>is a </a:t>
            </a:r>
            <a:r>
              <a:rPr lang="fr-FR" sz="1400" b="1" i="0" u="none" strike="noStrike" kern="0" cap="none" spc="0" baseline="0">
                <a:solidFill>
                  <a:srgbClr val="4472C4"/>
                </a:solidFill>
                <a:uFillTx/>
                <a:latin typeface="Calibri" pitchFamily="34"/>
                <a:ea typeface="Noto Sans CJK SC" pitchFamily="2"/>
                <a:cs typeface="Calibri" pitchFamily="34"/>
              </a:rPr>
              <a:t>non detected proton </a:t>
            </a:r>
            <a:r>
              <a:rPr lang="fr-FR" sz="1400" b="0" i="0" u="none" strike="noStrike" kern="0" cap="none" spc="0" baseline="0">
                <a:solidFill>
                  <a:srgbClr val="000000"/>
                </a:solidFill>
                <a:uFillTx/>
                <a:latin typeface="Calibri" pitchFamily="34"/>
                <a:ea typeface="Noto Sans CJK SC" pitchFamily="2"/>
                <a:cs typeface="Calibri" pitchFamily="34"/>
              </a:rPr>
              <a:t>and there is a </a:t>
            </a:r>
            <a:r>
              <a:rPr lang="fr-FR" sz="1400" b="1" i="0" u="none" strike="noStrike" kern="0" cap="none" spc="0" baseline="0">
                <a:solidFill>
                  <a:srgbClr val="000000"/>
                </a:solidFill>
                <a:uFillTx/>
                <a:latin typeface="Calibri" pitchFamily="34"/>
                <a:ea typeface="Noto Sans CJK SC" pitchFamily="2"/>
                <a:cs typeface="Calibri" pitchFamily="34"/>
              </a:rPr>
              <a:t>fake signal neutron </a:t>
            </a:r>
            <a:r>
              <a:rPr lang="fr-FR" sz="1400" b="0" i="0" u="none" strike="noStrike" kern="0" cap="none" spc="0" baseline="0">
                <a:solidFill>
                  <a:srgbClr val="000000"/>
                </a:solidFill>
                <a:uFillTx/>
                <a:latin typeface="Calibri" pitchFamily="34"/>
                <a:ea typeface="Noto Sans CJK SC" pitchFamily="2"/>
                <a:cs typeface="Calibri" pitchFamily="34"/>
              </a:rPr>
              <a:t>who pass the cut on the angle</a:t>
            </a:r>
          </a:p>
        </p:txBody>
      </p:sp>
      <p:sp>
        <p:nvSpPr>
          <p:cNvPr id="24" name="ZoneTexte 76">
            <a:extLst>
              <a:ext uri="{FF2B5EF4-FFF2-40B4-BE49-F238E27FC236}">
                <a16:creationId xmlns:a16="http://schemas.microsoft.com/office/drawing/2014/main" id="{C530B7B1-3492-E37D-8CDD-84ACA84905ED}"/>
              </a:ext>
            </a:extLst>
          </p:cNvPr>
          <p:cNvSpPr txBox="1"/>
          <p:nvPr/>
        </p:nvSpPr>
        <p:spPr>
          <a:xfrm>
            <a:off x="4480203" y="4514484"/>
            <a:ext cx="5275685" cy="73866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1" i="0" u="none" strike="noStrike" kern="0" cap="none" spc="0" baseline="0">
                <a:solidFill>
                  <a:srgbClr val="000000"/>
                </a:solidFill>
                <a:uFillTx/>
                <a:latin typeface="Liberation Sans" pitchFamily="34"/>
                <a:ea typeface="Liberation Sans" pitchFamily="34"/>
                <a:cs typeface="Liberation Sans" pitchFamily="34"/>
              </a:rPr>
              <a:t>→ </a:t>
            </a:r>
            <a:r>
              <a:rPr lang="fr-FR" sz="1400" b="0" i="0" u="none" strike="noStrike" kern="0" cap="none" spc="0" baseline="0">
                <a:solidFill>
                  <a:srgbClr val="000000"/>
                </a:solidFill>
                <a:uFillTx/>
                <a:latin typeface="Calibri" pitchFamily="34"/>
                <a:ea typeface="Noto Sans CJK SC" pitchFamily="2"/>
                <a:cs typeface="Calibri" pitchFamily="34"/>
              </a:rPr>
              <a:t>Evaluate the contamination with simulation on </a:t>
            </a:r>
            <a:r>
              <a:rPr lang="fr-FR" sz="1400" b="1" i="0" u="none" strike="noStrike" kern="0" cap="none" spc="0" baseline="0">
                <a:solidFill>
                  <a:srgbClr val="4472C4"/>
                </a:solidFill>
                <a:uFillTx/>
                <a:latin typeface="Calibri" pitchFamily="34"/>
                <a:ea typeface="Noto Sans CJK SC" pitchFamily="2"/>
                <a:cs typeface="Calibri" pitchFamily="34"/>
              </a:rPr>
              <a:t>proton target </a:t>
            </a:r>
            <a:r>
              <a:rPr lang="fr-FR" sz="1400" b="0" i="0" u="none" strike="noStrike" kern="0" cap="none" spc="0" baseline="0">
                <a:solidFill>
                  <a:srgbClr val="000000"/>
                </a:solidFill>
                <a:uFillTx/>
                <a:latin typeface="Calibri" pitchFamily="34"/>
                <a:ea typeface="Noto Sans CJK SC" pitchFamily="2"/>
                <a:cs typeface="Calibri" pitchFamily="34"/>
              </a:rPr>
              <a:t>and apply the cuts of </a:t>
            </a:r>
            <a:r>
              <a:rPr lang="fr-FR" sz="1400" b="1" i="0" u="none" strike="noStrike" kern="0" cap="none" spc="0" baseline="0">
                <a:solidFill>
                  <a:srgbClr val="000000"/>
                </a:solidFill>
                <a:uFillTx/>
                <a:latin typeface="Calibri" pitchFamily="34"/>
                <a:ea typeface="Noto Sans CJK SC" pitchFamily="2"/>
                <a:cs typeface="Calibri" pitchFamily="34"/>
              </a:rPr>
              <a:t>neutron analysis </a:t>
            </a:r>
            <a:r>
              <a:rPr lang="fr-FR" sz="1400" b="0" i="0" u="none" strike="noStrike" kern="0" cap="none" spc="0" baseline="0">
                <a:solidFill>
                  <a:srgbClr val="000000"/>
                </a:solidFill>
                <a:uFillTx/>
                <a:latin typeface="Calibri" pitchFamily="34"/>
                <a:ea typeface="Noto Sans CJK SC" pitchFamily="2"/>
                <a:cs typeface="Calibri" pitchFamily="34"/>
              </a:rPr>
              <a:t>and see how many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0" cap="none" spc="0" baseline="0">
                <a:solidFill>
                  <a:srgbClr val="000000"/>
                </a:solidFill>
                <a:uFillTx/>
                <a:latin typeface="Calibri" pitchFamily="34"/>
                <a:ea typeface="Noto Sans CJK SC" pitchFamily="2"/>
                <a:cs typeface="Calibri" pitchFamily="34"/>
              </a:rPr>
              <a:t>events pass the cuts</a:t>
            </a:r>
            <a:r>
              <a:rPr lang="fr-FR" sz="1400" b="1" i="0" u="none" strike="noStrike" kern="0" cap="none" spc="0" baseline="0">
                <a:solidFill>
                  <a:srgbClr val="000000"/>
                </a:solidFill>
                <a:uFillTx/>
                <a:latin typeface="Calibri" pitchFamily="34"/>
                <a:ea typeface="Noto Sans CJK SC" pitchFamily="2"/>
                <a:cs typeface="Calibri" pitchFamily="34"/>
              </a:rPr>
              <a:t> </a:t>
            </a:r>
          </a:p>
        </p:txBody>
      </p:sp>
      <p:cxnSp>
        <p:nvCxnSpPr>
          <p:cNvPr id="25" name="Connecteur droit 40">
            <a:extLst>
              <a:ext uri="{FF2B5EF4-FFF2-40B4-BE49-F238E27FC236}">
                <a16:creationId xmlns:a16="http://schemas.microsoft.com/office/drawing/2014/main" id="{746A24D6-BF2C-4B98-A2FC-A2A528355F63}"/>
              </a:ext>
            </a:extLst>
          </p:cNvPr>
          <p:cNvCxnSpPr/>
          <p:nvPr/>
        </p:nvCxnSpPr>
        <p:spPr>
          <a:xfrm flipH="1" flipV="1">
            <a:off x="6940853" y="1692435"/>
            <a:ext cx="501622" cy="491801"/>
          </a:xfrm>
          <a:prstGeom prst="straightConnector1">
            <a:avLst/>
          </a:prstGeom>
          <a:noFill/>
          <a:ln w="22229" cap="flat">
            <a:solidFill>
              <a:srgbClr val="000000"/>
            </a:solidFill>
            <a:prstDash val="solid"/>
            <a:miter/>
          </a:ln>
        </p:spPr>
      </p:cxnSp>
      <p:cxnSp>
        <p:nvCxnSpPr>
          <p:cNvPr id="26" name="Connecteur droit 40">
            <a:extLst>
              <a:ext uri="{FF2B5EF4-FFF2-40B4-BE49-F238E27FC236}">
                <a16:creationId xmlns:a16="http://schemas.microsoft.com/office/drawing/2014/main" id="{24279A73-A1AF-9E11-4932-660FB3BA8154}"/>
              </a:ext>
            </a:extLst>
          </p:cNvPr>
          <p:cNvCxnSpPr/>
          <p:nvPr/>
        </p:nvCxnSpPr>
        <p:spPr>
          <a:xfrm flipV="1">
            <a:off x="7491112" y="2314328"/>
            <a:ext cx="0" cy="709839"/>
          </a:xfrm>
          <a:prstGeom prst="straightConnector1">
            <a:avLst/>
          </a:prstGeom>
          <a:noFill/>
          <a:ln w="22229" cap="flat">
            <a:solidFill>
              <a:srgbClr val="000000"/>
            </a:solidFill>
            <a:prstDash val="solid"/>
            <a:miter/>
          </a:ln>
        </p:spPr>
      </p:cxnSp>
      <p:cxnSp>
        <p:nvCxnSpPr>
          <p:cNvPr id="27" name="Connecteur droit 40">
            <a:extLst>
              <a:ext uri="{FF2B5EF4-FFF2-40B4-BE49-F238E27FC236}">
                <a16:creationId xmlns:a16="http://schemas.microsoft.com/office/drawing/2014/main" id="{6E84C3F6-0CAB-8B8C-AE43-BD693D62FC9F}"/>
              </a:ext>
            </a:extLst>
          </p:cNvPr>
          <p:cNvCxnSpPr/>
          <p:nvPr/>
        </p:nvCxnSpPr>
        <p:spPr>
          <a:xfrm flipV="1">
            <a:off x="7061993" y="3208492"/>
            <a:ext cx="369683" cy="489140"/>
          </a:xfrm>
          <a:prstGeom prst="straightConnector1">
            <a:avLst/>
          </a:prstGeom>
          <a:noFill/>
          <a:ln w="22229" cap="flat">
            <a:solidFill>
              <a:srgbClr val="000000"/>
            </a:solidFill>
            <a:prstDash val="solid"/>
            <a:miter/>
          </a:ln>
        </p:spPr>
      </p:cxnSp>
      <p:cxnSp>
        <p:nvCxnSpPr>
          <p:cNvPr id="28" name="Connecteur droit 40">
            <a:extLst>
              <a:ext uri="{FF2B5EF4-FFF2-40B4-BE49-F238E27FC236}">
                <a16:creationId xmlns:a16="http://schemas.microsoft.com/office/drawing/2014/main" id="{35C68ABB-EA2C-E819-3C5D-54BA4B510DD2}"/>
              </a:ext>
            </a:extLst>
          </p:cNvPr>
          <p:cNvCxnSpPr/>
          <p:nvPr/>
        </p:nvCxnSpPr>
        <p:spPr>
          <a:xfrm flipH="1">
            <a:off x="6081930" y="1842214"/>
            <a:ext cx="914089" cy="935669"/>
          </a:xfrm>
          <a:prstGeom prst="straightConnector1">
            <a:avLst/>
          </a:prstGeom>
          <a:noFill/>
          <a:ln w="22229" cap="sq">
            <a:solidFill>
              <a:srgbClr val="FF0000"/>
            </a:solidFill>
            <a:prstDash val="solid"/>
            <a:miter/>
            <a:headEnd type="arrow"/>
          </a:ln>
        </p:spPr>
      </p:cxnSp>
      <p:cxnSp>
        <p:nvCxnSpPr>
          <p:cNvPr id="29" name="Connecteur droit 40">
            <a:extLst>
              <a:ext uri="{FF2B5EF4-FFF2-40B4-BE49-F238E27FC236}">
                <a16:creationId xmlns:a16="http://schemas.microsoft.com/office/drawing/2014/main" id="{CF80C45E-27D1-718D-41B3-D1B79220D551}"/>
              </a:ext>
            </a:extLst>
          </p:cNvPr>
          <p:cNvCxnSpPr/>
          <p:nvPr/>
        </p:nvCxnSpPr>
        <p:spPr>
          <a:xfrm flipH="1">
            <a:off x="6074121" y="2133222"/>
            <a:ext cx="1238683" cy="658194"/>
          </a:xfrm>
          <a:prstGeom prst="straightConnector1">
            <a:avLst/>
          </a:prstGeom>
          <a:noFill/>
          <a:ln w="22229" cap="flat">
            <a:solidFill>
              <a:srgbClr val="FF0000"/>
            </a:solidFill>
            <a:prstDash val="solid"/>
            <a:miter/>
            <a:headEnd type="arrow"/>
          </a:ln>
        </p:spPr>
      </p:cxnSp>
      <p:sp>
        <p:nvSpPr>
          <p:cNvPr id="30" name="ZoneTexte 67">
            <a:extLst>
              <a:ext uri="{FF2B5EF4-FFF2-40B4-BE49-F238E27FC236}">
                <a16:creationId xmlns:a16="http://schemas.microsoft.com/office/drawing/2014/main" id="{B451B55C-866B-390D-4EA0-3321782FD832}"/>
              </a:ext>
            </a:extLst>
          </p:cNvPr>
          <p:cNvSpPr txBox="1"/>
          <p:nvPr/>
        </p:nvSpPr>
        <p:spPr>
          <a:xfrm>
            <a:off x="7542080" y="2683663"/>
            <a:ext cx="2078568"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0" cap="none" spc="0" baseline="0">
                <a:solidFill>
                  <a:srgbClr val="000000"/>
                </a:solidFill>
                <a:uFillTx/>
                <a:latin typeface="Calibri"/>
              </a:rPr>
              <a:t>f</a:t>
            </a:r>
            <a:r>
              <a:rPr lang="fr-FR" sz="1600" b="1" i="0" u="none" strike="noStrike" kern="1200" cap="none" spc="0" baseline="0">
                <a:solidFill>
                  <a:srgbClr val="000000"/>
                </a:solidFill>
                <a:uFillTx/>
                <a:latin typeface="Calibri"/>
              </a:rPr>
              <a:t>ake neutron</a:t>
            </a:r>
          </a:p>
        </p:txBody>
      </p:sp>
      <p:cxnSp>
        <p:nvCxnSpPr>
          <p:cNvPr id="31" name="Connecteur droit 40">
            <a:extLst>
              <a:ext uri="{FF2B5EF4-FFF2-40B4-BE49-F238E27FC236}">
                <a16:creationId xmlns:a16="http://schemas.microsoft.com/office/drawing/2014/main" id="{317819EB-E327-790E-C83F-83BEDD592ABD}"/>
              </a:ext>
            </a:extLst>
          </p:cNvPr>
          <p:cNvCxnSpPr/>
          <p:nvPr/>
        </p:nvCxnSpPr>
        <p:spPr>
          <a:xfrm flipH="1" flipV="1">
            <a:off x="6061758" y="2778248"/>
            <a:ext cx="1393016" cy="178272"/>
          </a:xfrm>
          <a:prstGeom prst="straightConnector1">
            <a:avLst/>
          </a:prstGeom>
          <a:noFill/>
          <a:ln w="22229" cap="flat">
            <a:solidFill>
              <a:srgbClr val="000000"/>
            </a:solidFill>
            <a:prstDash val="solid"/>
            <a:miter/>
            <a:headEnd type="arrow"/>
          </a:ln>
        </p:spPr>
      </p:cxnSp>
      <p:sp>
        <p:nvSpPr>
          <p:cNvPr id="32" name="ZoneTexte 69">
            <a:extLst>
              <a:ext uri="{FF2B5EF4-FFF2-40B4-BE49-F238E27FC236}">
                <a16:creationId xmlns:a16="http://schemas.microsoft.com/office/drawing/2014/main" id="{C16D47AA-DF26-242B-9101-B96562C40608}"/>
              </a:ext>
            </a:extLst>
          </p:cNvPr>
          <p:cNvSpPr txBox="1"/>
          <p:nvPr/>
        </p:nvSpPr>
        <p:spPr>
          <a:xfrm>
            <a:off x="6987497" y="1489905"/>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K</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sp>
        <p:nvSpPr>
          <p:cNvPr id="33" name="ZoneTexte 70">
            <a:extLst>
              <a:ext uri="{FF2B5EF4-FFF2-40B4-BE49-F238E27FC236}">
                <a16:creationId xmlns:a16="http://schemas.microsoft.com/office/drawing/2014/main" id="{46007DDD-F1FF-08BC-AED2-D121C721BCCC}"/>
              </a:ext>
            </a:extLst>
          </p:cNvPr>
          <p:cNvSpPr txBox="1"/>
          <p:nvPr/>
        </p:nvSpPr>
        <p:spPr>
          <a:xfrm>
            <a:off x="7378778" y="1838702"/>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K</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cxnSp>
        <p:nvCxnSpPr>
          <p:cNvPr id="34" name="Connecteur droit 40">
            <a:extLst>
              <a:ext uri="{FF2B5EF4-FFF2-40B4-BE49-F238E27FC236}">
                <a16:creationId xmlns:a16="http://schemas.microsoft.com/office/drawing/2014/main" id="{2F1FAB98-0503-026D-DA8E-379474AB9545}"/>
              </a:ext>
            </a:extLst>
          </p:cNvPr>
          <p:cNvCxnSpPr/>
          <p:nvPr/>
        </p:nvCxnSpPr>
        <p:spPr>
          <a:xfrm flipH="1">
            <a:off x="6074121" y="2539837"/>
            <a:ext cx="1357555" cy="243185"/>
          </a:xfrm>
          <a:prstGeom prst="straightConnector1">
            <a:avLst/>
          </a:prstGeom>
          <a:noFill/>
          <a:ln w="22229" cap="flat">
            <a:solidFill>
              <a:srgbClr val="FF0000"/>
            </a:solidFill>
            <a:prstDash val="solid"/>
            <a:miter/>
            <a:headEnd type="arrow"/>
          </a:ln>
        </p:spPr>
      </p:cxnSp>
      <p:sp>
        <p:nvSpPr>
          <p:cNvPr id="35" name="ZoneTexte 72">
            <a:extLst>
              <a:ext uri="{FF2B5EF4-FFF2-40B4-BE49-F238E27FC236}">
                <a16:creationId xmlns:a16="http://schemas.microsoft.com/office/drawing/2014/main" id="{C2358241-6A4A-3DD7-5C22-B03FD6DC4B38}"/>
              </a:ext>
            </a:extLst>
          </p:cNvPr>
          <p:cNvSpPr txBox="1"/>
          <p:nvPr/>
        </p:nvSpPr>
        <p:spPr>
          <a:xfrm>
            <a:off x="7527450" y="2314328"/>
            <a:ext cx="59101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0" u="none" strike="noStrike" kern="1200" cap="none" spc="0" baseline="0">
                <a:solidFill>
                  <a:srgbClr val="FF0000"/>
                </a:solidFill>
                <a:uFillTx/>
                <a:latin typeface="Calibri"/>
              </a:rPr>
              <a:t>e</a:t>
            </a:r>
            <a:r>
              <a:rPr lang="fr-FR" sz="1800" b="1" i="0" u="none" strike="noStrike" kern="1200" cap="none" spc="0" baseline="30000">
                <a:solidFill>
                  <a:srgbClr val="FF0000"/>
                </a:solidFill>
                <a:uFillTx/>
                <a:latin typeface="Calibri"/>
              </a:rPr>
              <a:t>-</a:t>
            </a:r>
            <a:endParaRPr lang="fr-FR" sz="1800" b="1" i="0" u="none" strike="noStrike" kern="1200" cap="none" spc="0" baseline="0">
              <a:solidFill>
                <a:srgbClr val="FF0000"/>
              </a:solidFill>
              <a:uFillTx/>
              <a:latin typeface="Calibri"/>
            </a:endParaRPr>
          </a:p>
        </p:txBody>
      </p:sp>
      <p:cxnSp>
        <p:nvCxnSpPr>
          <p:cNvPr id="36" name="Connecteur droit 40">
            <a:extLst>
              <a:ext uri="{FF2B5EF4-FFF2-40B4-BE49-F238E27FC236}">
                <a16:creationId xmlns:a16="http://schemas.microsoft.com/office/drawing/2014/main" id="{62D6CD06-2CE0-8C10-ECD7-7F2891BFBF55}"/>
              </a:ext>
            </a:extLst>
          </p:cNvPr>
          <p:cNvCxnSpPr/>
          <p:nvPr/>
        </p:nvCxnSpPr>
        <p:spPr>
          <a:xfrm flipH="1" flipV="1">
            <a:off x="6057095" y="2790227"/>
            <a:ext cx="1397679" cy="292197"/>
          </a:xfrm>
          <a:prstGeom prst="straightConnector1">
            <a:avLst/>
          </a:prstGeom>
          <a:noFill/>
          <a:ln w="22229" cap="flat">
            <a:solidFill>
              <a:srgbClr val="4472C4"/>
            </a:solidFill>
            <a:prstDash val="solid"/>
            <a:miter/>
            <a:headEnd type="arrow"/>
          </a:ln>
        </p:spPr>
      </p:cxnSp>
      <p:sp>
        <p:nvSpPr>
          <p:cNvPr id="37" name="ZoneTexte 44">
            <a:extLst>
              <a:ext uri="{FF2B5EF4-FFF2-40B4-BE49-F238E27FC236}">
                <a16:creationId xmlns:a16="http://schemas.microsoft.com/office/drawing/2014/main" id="{69349469-7DF7-929B-EE02-396C63386D89}"/>
              </a:ext>
            </a:extLst>
          </p:cNvPr>
          <p:cNvSpPr txBox="1"/>
          <p:nvPr/>
        </p:nvSpPr>
        <p:spPr>
          <a:xfrm>
            <a:off x="7542080" y="2913589"/>
            <a:ext cx="2339547" cy="33855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1" i="0" u="none" strike="noStrike" kern="0" cap="none" spc="0" baseline="0">
                <a:solidFill>
                  <a:srgbClr val="4472C4"/>
                </a:solidFill>
                <a:uFillTx/>
                <a:latin typeface="Calibri" pitchFamily="34"/>
                <a:ea typeface="Noto Sans CJK SC" pitchFamily="2"/>
                <a:cs typeface="Calibri" pitchFamily="34"/>
              </a:rPr>
              <a:t>non detected proton </a:t>
            </a:r>
            <a:endParaRPr lang="fr-FR" sz="1600" b="0" i="0" u="none" strike="noStrike" kern="1200" cap="none" spc="0" baseline="0">
              <a:solidFill>
                <a:srgbClr val="000000"/>
              </a:solidFill>
              <a:uFillTx/>
              <a:latin typeface="Calibri"/>
            </a:endParaRPr>
          </a:p>
        </p:txBody>
      </p:sp>
      <p:sp>
        <p:nvSpPr>
          <p:cNvPr id="38" name="ZoneTexte 40">
            <a:extLst>
              <a:ext uri="{FF2B5EF4-FFF2-40B4-BE49-F238E27FC236}">
                <a16:creationId xmlns:a16="http://schemas.microsoft.com/office/drawing/2014/main" id="{91C8ECC9-214A-F37B-0FD8-99494CE302C4}"/>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39" name="ZoneTexte 41">
            <a:extLst>
              <a:ext uri="{FF2B5EF4-FFF2-40B4-BE49-F238E27FC236}">
                <a16:creationId xmlns:a16="http://schemas.microsoft.com/office/drawing/2014/main" id="{AAF3A866-B916-C36E-1CAA-EC4DB8AE6CEC}"/>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66">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3FD53D86-1AA8-F6C6-4E7B-C5E16B202634}"/>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1DAF7BB2-4C38-DC69-748D-2527F5BD824E}"/>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BD09810E-1BD8-DCC6-ED6E-F31015A4B252}"/>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3CF32DFD-C3E8-25FA-4745-BB56C087AE86}"/>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A894B758-197E-A140-AC19-621D761C61F6}"/>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20/20</a:t>
            </a:r>
            <a:endParaRPr lang="fr-FR" sz="1200" b="0" i="0" u="none" strike="noStrike" kern="1200" cap="none" spc="0" baseline="0">
              <a:solidFill>
                <a:srgbClr val="FFFFFF"/>
              </a:solidFill>
              <a:uFillTx/>
              <a:latin typeface="Liberation Sans" pitchFamily="18"/>
              <a:ea typeface="Noto Sans CJK SC" pitchFamily="2"/>
              <a:cs typeface="Noto Sans" pitchFamily="2"/>
            </a:endParaRPr>
          </a:p>
        </p:txBody>
      </p:sp>
      <p:sp>
        <p:nvSpPr>
          <p:cNvPr id="7" name="ZoneTexte 8">
            <a:extLst>
              <a:ext uri="{FF2B5EF4-FFF2-40B4-BE49-F238E27FC236}">
                <a16:creationId xmlns:a16="http://schemas.microsoft.com/office/drawing/2014/main" id="{69D45834-8A9A-005C-C316-239A035681C3}"/>
              </a:ext>
            </a:extLst>
          </p:cNvPr>
          <p:cNvSpPr txBox="1"/>
          <p:nvPr/>
        </p:nvSpPr>
        <p:spPr>
          <a:xfrm>
            <a:off x="170636" y="199083"/>
            <a:ext cx="9823106" cy="466554"/>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Calibri" pitchFamily="34"/>
                <a:ea typeface="Noto Sans CJK SC" pitchFamily="2"/>
                <a:cs typeface="Calibri" pitchFamily="34"/>
              </a:rPr>
              <a:t>Influence of cuts on the invariant mass K</a:t>
            </a:r>
            <a:r>
              <a:rPr lang="fr-FR" sz="2400" b="0" i="0" u="none" strike="noStrike" kern="0" cap="none" spc="0" baseline="30000">
                <a:solidFill>
                  <a:srgbClr val="FFFFFF"/>
                </a:solidFill>
                <a:uFillTx/>
                <a:latin typeface="Calibri" pitchFamily="34"/>
                <a:ea typeface="Noto Sans CJK SC" pitchFamily="2"/>
                <a:cs typeface="Calibri" pitchFamily="34"/>
              </a:rPr>
              <a:t>+ </a:t>
            </a:r>
            <a:r>
              <a:rPr lang="fr-FR" sz="2400" b="0" i="0" u="none" strike="noStrike" kern="0" cap="none" spc="0" baseline="0">
                <a:solidFill>
                  <a:srgbClr val="FFFFFF"/>
                </a:solidFill>
                <a:uFillTx/>
                <a:latin typeface="Calibri" pitchFamily="34"/>
                <a:ea typeface="Noto Sans CJK SC" pitchFamily="2"/>
                <a:cs typeface="Calibri" pitchFamily="34"/>
              </a:rPr>
              <a:t>K</a:t>
            </a:r>
            <a:r>
              <a:rPr lang="fr-FR" sz="2400" b="0" i="0" u="none" strike="noStrike" kern="0" cap="none" spc="0" baseline="30000">
                <a:solidFill>
                  <a:srgbClr val="FFFFFF"/>
                </a:solidFill>
                <a:uFillTx/>
                <a:latin typeface="Calibri" pitchFamily="34"/>
                <a:ea typeface="Noto Sans CJK SC" pitchFamily="2"/>
                <a:cs typeface="Calibri" pitchFamily="34"/>
              </a:rPr>
              <a:t>-</a:t>
            </a:r>
            <a:r>
              <a:rPr lang="fr-FR" sz="2400" b="0" i="0" u="none" strike="noStrike" kern="0" cap="none" spc="0" baseline="0">
                <a:solidFill>
                  <a:srgbClr val="FFFFFF"/>
                </a:solidFill>
                <a:uFillTx/>
                <a:latin typeface="Calibri" pitchFamily="34"/>
                <a:ea typeface="Noto Sans CJK SC" pitchFamily="2"/>
                <a:cs typeface="Calibri" pitchFamily="34"/>
              </a:rPr>
              <a:t> :</a:t>
            </a:r>
            <a:endParaRPr lang="fr-FR" sz="2400" b="0" i="0" u="none" strike="noStrike" kern="0" cap="none" spc="0" baseline="0">
              <a:solidFill>
                <a:srgbClr val="FFFFFF"/>
              </a:solidFill>
              <a:uFillTx/>
              <a:latin typeface="Liberation Sans" pitchFamily="18"/>
              <a:ea typeface="Noto Sans CJK SC" pitchFamily="2"/>
              <a:cs typeface="Noto Sans" pitchFamily="2"/>
            </a:endParaRPr>
          </a:p>
        </p:txBody>
      </p:sp>
      <p:sp>
        <p:nvSpPr>
          <p:cNvPr id="8" name="ZoneTexte 9">
            <a:extLst>
              <a:ext uri="{FF2B5EF4-FFF2-40B4-BE49-F238E27FC236}">
                <a16:creationId xmlns:a16="http://schemas.microsoft.com/office/drawing/2014/main" id="{A22143A7-A9BC-71AC-294F-BB50C743801A}"/>
              </a:ext>
            </a:extLst>
          </p:cNvPr>
          <p:cNvSpPr txBox="1"/>
          <p:nvPr/>
        </p:nvSpPr>
        <p:spPr>
          <a:xfrm>
            <a:off x="1722418" y="4788895"/>
            <a:ext cx="1443023"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angle cut </a:t>
            </a:r>
          </a:p>
        </p:txBody>
      </p:sp>
      <p:sp>
        <p:nvSpPr>
          <p:cNvPr id="9" name="ZoneTexte 10">
            <a:extLst>
              <a:ext uri="{FF2B5EF4-FFF2-40B4-BE49-F238E27FC236}">
                <a16:creationId xmlns:a16="http://schemas.microsoft.com/office/drawing/2014/main" id="{61202424-929F-D9F8-4191-5BE9CF625DB0}"/>
              </a:ext>
            </a:extLst>
          </p:cNvPr>
          <p:cNvSpPr txBox="1"/>
          <p:nvPr/>
        </p:nvSpPr>
        <p:spPr>
          <a:xfrm>
            <a:off x="6525771" y="4854897"/>
            <a:ext cx="2786149" cy="338556"/>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600" b="0" i="0" u="none" strike="noStrike" kern="1200" cap="none" spc="0" baseline="0">
                <a:solidFill>
                  <a:srgbClr val="000000"/>
                </a:solidFill>
                <a:uFillTx/>
                <a:latin typeface="Calibri"/>
              </a:rPr>
              <a:t>With angle cut and K+ K- in FD  </a:t>
            </a:r>
          </a:p>
        </p:txBody>
      </p:sp>
      <p:pic>
        <p:nvPicPr>
          <p:cNvPr id="10" name="Image 14">
            <a:extLst>
              <a:ext uri="{FF2B5EF4-FFF2-40B4-BE49-F238E27FC236}">
                <a16:creationId xmlns:a16="http://schemas.microsoft.com/office/drawing/2014/main" id="{1F5896E7-6012-E10A-1AD8-20DAC508A3FE}"/>
              </a:ext>
            </a:extLst>
          </p:cNvPr>
          <p:cNvPicPr>
            <a:picLocks noChangeAspect="1"/>
          </p:cNvPicPr>
          <p:nvPr/>
        </p:nvPicPr>
        <p:blipFill>
          <a:blip r:embed="rId3"/>
          <a:srcRect b="1930"/>
          <a:stretch>
            <a:fillRect/>
          </a:stretch>
        </p:blipFill>
        <p:spPr>
          <a:xfrm>
            <a:off x="5039999" y="1138199"/>
            <a:ext cx="5040209" cy="3581576"/>
          </a:xfrm>
          <a:prstGeom prst="rect">
            <a:avLst/>
          </a:prstGeom>
          <a:noFill/>
          <a:ln cap="flat">
            <a:noFill/>
          </a:ln>
        </p:spPr>
      </p:pic>
      <p:pic>
        <p:nvPicPr>
          <p:cNvPr id="11" name="Image 18">
            <a:extLst>
              <a:ext uri="{FF2B5EF4-FFF2-40B4-BE49-F238E27FC236}">
                <a16:creationId xmlns:a16="http://schemas.microsoft.com/office/drawing/2014/main" id="{23F06507-027E-3D9C-21C2-8ECDD77DCB42}"/>
              </a:ext>
            </a:extLst>
          </p:cNvPr>
          <p:cNvPicPr>
            <a:picLocks noChangeAspect="1"/>
          </p:cNvPicPr>
          <p:nvPr/>
        </p:nvPicPr>
        <p:blipFill>
          <a:blip r:embed="rId4"/>
          <a:stretch>
            <a:fillRect/>
          </a:stretch>
        </p:blipFill>
        <p:spPr>
          <a:xfrm>
            <a:off x="101196" y="1022381"/>
            <a:ext cx="5182910" cy="3832515"/>
          </a:xfrm>
          <a:prstGeom prst="rect">
            <a:avLst/>
          </a:prstGeom>
          <a:noFill/>
          <a:ln cap="flat">
            <a:noFill/>
          </a:ln>
        </p:spPr>
      </p:pic>
      <p:sp>
        <p:nvSpPr>
          <p:cNvPr id="12" name="ZoneTexte 13">
            <a:extLst>
              <a:ext uri="{FF2B5EF4-FFF2-40B4-BE49-F238E27FC236}">
                <a16:creationId xmlns:a16="http://schemas.microsoft.com/office/drawing/2014/main" id="{7A09A426-4C5A-6FFE-F5CB-74AC06029D22}"/>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3" name="ZoneTexte 14">
            <a:extLst>
              <a:ext uri="{FF2B5EF4-FFF2-40B4-BE49-F238E27FC236}">
                <a16:creationId xmlns:a16="http://schemas.microsoft.com/office/drawing/2014/main" id="{03D02C54-70FE-8FB1-1BE8-AC2599FA0908}"/>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85">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4B143D64-BF81-46A3-6AF9-3D5C3BF29745}"/>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6CDA3D1F-1B12-540A-57E5-A6DB9F33C298}"/>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6B131900-06BE-EBB7-5A40-BCC8334D7D7E}"/>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16C32B9B-2B07-995F-9701-8236D7D66B5D}"/>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AB70E0B1-7686-809E-9471-3A0F601EB3BF}"/>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A53F83DC-C917-0DD0-3109-53940B0302B2}"/>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All fit data bin1 Q</a:t>
            </a:r>
            <a:r>
              <a:rPr lang="fr-FR" sz="2400" b="0" i="0" u="none" strike="noStrike" kern="0" cap="none" spc="0" baseline="30000">
                <a:solidFill>
                  <a:srgbClr val="FFFFFF"/>
                </a:solidFill>
                <a:uFillTx/>
                <a:latin typeface="Liberation Sans" pitchFamily="18"/>
                <a:ea typeface="Noto Sans CJK SC" pitchFamily="2"/>
                <a:cs typeface="Noto Sans" pitchFamily="2"/>
              </a:rPr>
              <a:t>2 </a:t>
            </a:r>
            <a:r>
              <a:rPr lang="fr-FR" sz="2400" b="0" i="0" u="none" strike="noStrike" kern="0" cap="none" spc="0" baseline="0">
                <a:solidFill>
                  <a:srgbClr val="FFFFFF"/>
                </a:solidFill>
                <a:uFillTx/>
                <a:latin typeface="Liberation Sans" pitchFamily="18"/>
                <a:ea typeface="Noto Sans CJK SC" pitchFamily="2"/>
                <a:cs typeface="Noto Sans" pitchFamily="2"/>
              </a:rPr>
              <a:t> </a:t>
            </a:r>
          </a:p>
        </p:txBody>
      </p:sp>
      <p:sp>
        <p:nvSpPr>
          <p:cNvPr id="8" name="ZoneTexte 40">
            <a:extLst>
              <a:ext uri="{FF2B5EF4-FFF2-40B4-BE49-F238E27FC236}">
                <a16:creationId xmlns:a16="http://schemas.microsoft.com/office/drawing/2014/main" id="{B2F9FAAE-BCFD-712D-F68A-C5C2599E34AA}"/>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6821F183-9F95-7E90-37CD-2CF5B3E315E7}"/>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pic>
        <p:nvPicPr>
          <p:cNvPr id="10" name="Image 9">
            <a:extLst>
              <a:ext uri="{FF2B5EF4-FFF2-40B4-BE49-F238E27FC236}">
                <a16:creationId xmlns:a16="http://schemas.microsoft.com/office/drawing/2014/main" id="{B78A22EF-471E-6BB5-B491-6B1E2A33A354}"/>
              </a:ext>
            </a:extLst>
          </p:cNvPr>
          <p:cNvPicPr>
            <a:picLocks noChangeAspect="1"/>
          </p:cNvPicPr>
          <p:nvPr/>
        </p:nvPicPr>
        <p:blipFill>
          <a:blip r:embed="rId3"/>
          <a:stretch>
            <a:fillRect/>
          </a:stretch>
        </p:blipFill>
        <p:spPr>
          <a:xfrm>
            <a:off x="206590" y="1010786"/>
            <a:ext cx="2897578" cy="2139485"/>
          </a:xfrm>
          <a:prstGeom prst="rect">
            <a:avLst/>
          </a:prstGeom>
          <a:noFill/>
          <a:ln cap="flat">
            <a:noFill/>
          </a:ln>
        </p:spPr>
      </p:pic>
      <p:pic>
        <p:nvPicPr>
          <p:cNvPr id="11" name="Image 11">
            <a:extLst>
              <a:ext uri="{FF2B5EF4-FFF2-40B4-BE49-F238E27FC236}">
                <a16:creationId xmlns:a16="http://schemas.microsoft.com/office/drawing/2014/main" id="{43EFE8BD-39CB-4250-FD68-D67748BF8B5A}"/>
              </a:ext>
            </a:extLst>
          </p:cNvPr>
          <p:cNvPicPr>
            <a:picLocks noChangeAspect="1"/>
          </p:cNvPicPr>
          <p:nvPr/>
        </p:nvPicPr>
        <p:blipFill>
          <a:blip r:embed="rId4"/>
          <a:stretch>
            <a:fillRect/>
          </a:stretch>
        </p:blipFill>
        <p:spPr>
          <a:xfrm>
            <a:off x="3312944" y="1026368"/>
            <a:ext cx="2960854" cy="2186211"/>
          </a:xfrm>
          <a:prstGeom prst="rect">
            <a:avLst/>
          </a:prstGeom>
          <a:noFill/>
          <a:ln cap="flat">
            <a:noFill/>
          </a:ln>
        </p:spPr>
      </p:pic>
      <p:pic>
        <p:nvPicPr>
          <p:cNvPr id="12" name="Image 13">
            <a:extLst>
              <a:ext uri="{FF2B5EF4-FFF2-40B4-BE49-F238E27FC236}">
                <a16:creationId xmlns:a16="http://schemas.microsoft.com/office/drawing/2014/main" id="{541433F1-61F2-AC76-4A4C-B647135C011E}"/>
              </a:ext>
            </a:extLst>
          </p:cNvPr>
          <p:cNvPicPr>
            <a:picLocks noChangeAspect="1"/>
          </p:cNvPicPr>
          <p:nvPr/>
        </p:nvPicPr>
        <p:blipFill>
          <a:blip r:embed="rId5"/>
          <a:stretch>
            <a:fillRect/>
          </a:stretch>
        </p:blipFill>
        <p:spPr>
          <a:xfrm>
            <a:off x="6562072" y="1099081"/>
            <a:ext cx="3022192" cy="2231501"/>
          </a:xfrm>
          <a:prstGeom prst="rect">
            <a:avLst/>
          </a:prstGeom>
          <a:noFill/>
          <a:ln cap="flat">
            <a:noFill/>
          </a:ln>
        </p:spPr>
      </p:pic>
      <p:pic>
        <p:nvPicPr>
          <p:cNvPr id="13" name="Image 15">
            <a:extLst>
              <a:ext uri="{FF2B5EF4-FFF2-40B4-BE49-F238E27FC236}">
                <a16:creationId xmlns:a16="http://schemas.microsoft.com/office/drawing/2014/main" id="{5DA804A4-D0DE-BA9B-6FE5-DAA0D857F750}"/>
              </a:ext>
            </a:extLst>
          </p:cNvPr>
          <p:cNvPicPr>
            <a:picLocks noChangeAspect="1"/>
          </p:cNvPicPr>
          <p:nvPr/>
        </p:nvPicPr>
        <p:blipFill>
          <a:blip r:embed="rId6"/>
          <a:stretch>
            <a:fillRect/>
          </a:stretch>
        </p:blipFill>
        <p:spPr>
          <a:xfrm>
            <a:off x="1767873" y="3196449"/>
            <a:ext cx="2897578" cy="2139485"/>
          </a:xfrm>
          <a:prstGeom prst="rect">
            <a:avLst/>
          </a:prstGeom>
          <a:noFill/>
          <a:ln cap="flat">
            <a:noFill/>
          </a:ln>
        </p:spPr>
      </p:pic>
      <p:pic>
        <p:nvPicPr>
          <p:cNvPr id="14" name="Image 17">
            <a:extLst>
              <a:ext uri="{FF2B5EF4-FFF2-40B4-BE49-F238E27FC236}">
                <a16:creationId xmlns:a16="http://schemas.microsoft.com/office/drawing/2014/main" id="{95C4DCBB-A6FD-FF06-6632-FD0A6613B645}"/>
              </a:ext>
            </a:extLst>
          </p:cNvPr>
          <p:cNvPicPr>
            <a:picLocks noChangeAspect="1"/>
          </p:cNvPicPr>
          <p:nvPr/>
        </p:nvPicPr>
        <p:blipFill>
          <a:blip r:embed="rId7"/>
          <a:stretch>
            <a:fillRect/>
          </a:stretch>
        </p:blipFill>
        <p:spPr>
          <a:xfrm>
            <a:off x="5277029" y="3287121"/>
            <a:ext cx="2774774" cy="2048813"/>
          </a:xfrm>
          <a:prstGeom prst="rect">
            <a:avLst/>
          </a:prstGeom>
          <a:noFill/>
          <a:ln cap="flat">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83">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8DEF2C4F-FCA4-F5DC-8BE3-307C169E1B47}"/>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AE96C826-31D3-E3A8-0CA1-4A8767E962DE}"/>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773B2EAC-F9F9-3ED5-F951-F1ADAE11150F}"/>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8DC5F8D3-71F9-D343-093F-80033D3175BF}"/>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AE4615CB-43F9-E0EB-2D35-87A7FFE7242D}"/>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B475D407-D350-CDFA-FD85-B76FA3CA9F2B}"/>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All fit data bin2 Q</a:t>
            </a:r>
            <a:r>
              <a:rPr lang="fr-FR" sz="2400" b="0" i="0" u="none" strike="noStrike" kern="0" cap="none" spc="0" baseline="30000">
                <a:solidFill>
                  <a:srgbClr val="FFFFFF"/>
                </a:solidFill>
                <a:uFillTx/>
                <a:latin typeface="Liberation Sans" pitchFamily="18"/>
                <a:ea typeface="Noto Sans CJK SC" pitchFamily="2"/>
                <a:cs typeface="Noto Sans" pitchFamily="2"/>
              </a:rPr>
              <a:t>2</a:t>
            </a:r>
            <a:r>
              <a:rPr lang="fr-FR" sz="2400" b="0" i="0" u="none" strike="noStrike" kern="0" cap="none" spc="0" baseline="0">
                <a:solidFill>
                  <a:srgbClr val="FFFFFF"/>
                </a:solidFill>
                <a:uFillTx/>
                <a:latin typeface="Liberation Sans" pitchFamily="18"/>
                <a:ea typeface="Noto Sans CJK SC" pitchFamily="2"/>
                <a:cs typeface="Noto Sans" pitchFamily="2"/>
              </a:rPr>
              <a:t> </a:t>
            </a:r>
          </a:p>
        </p:txBody>
      </p:sp>
      <p:sp>
        <p:nvSpPr>
          <p:cNvPr id="8" name="ZoneTexte 40">
            <a:extLst>
              <a:ext uri="{FF2B5EF4-FFF2-40B4-BE49-F238E27FC236}">
                <a16:creationId xmlns:a16="http://schemas.microsoft.com/office/drawing/2014/main" id="{9D9DB630-75AC-33BE-3E19-0E16B75DB5AF}"/>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B6FF4E28-1F76-87E5-D403-F157033E35B0}"/>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pic>
        <p:nvPicPr>
          <p:cNvPr id="10" name="Image 6">
            <a:extLst>
              <a:ext uri="{FF2B5EF4-FFF2-40B4-BE49-F238E27FC236}">
                <a16:creationId xmlns:a16="http://schemas.microsoft.com/office/drawing/2014/main" id="{6B4E9C73-6526-3080-5559-3A187E324C89}"/>
              </a:ext>
            </a:extLst>
          </p:cNvPr>
          <p:cNvPicPr>
            <a:picLocks noChangeAspect="1"/>
          </p:cNvPicPr>
          <p:nvPr/>
        </p:nvPicPr>
        <p:blipFill>
          <a:blip r:embed="rId3"/>
          <a:stretch>
            <a:fillRect/>
          </a:stretch>
        </p:blipFill>
        <p:spPr>
          <a:xfrm>
            <a:off x="85971" y="986372"/>
            <a:ext cx="3238749" cy="2391402"/>
          </a:xfrm>
          <a:prstGeom prst="rect">
            <a:avLst/>
          </a:prstGeom>
          <a:noFill/>
          <a:ln cap="flat">
            <a:noFill/>
          </a:ln>
        </p:spPr>
      </p:pic>
      <p:pic>
        <p:nvPicPr>
          <p:cNvPr id="11" name="Image 12">
            <a:extLst>
              <a:ext uri="{FF2B5EF4-FFF2-40B4-BE49-F238E27FC236}">
                <a16:creationId xmlns:a16="http://schemas.microsoft.com/office/drawing/2014/main" id="{256B6E55-A957-0431-69E1-227C1D8DBFA2}"/>
              </a:ext>
            </a:extLst>
          </p:cNvPr>
          <p:cNvPicPr>
            <a:picLocks noChangeAspect="1"/>
          </p:cNvPicPr>
          <p:nvPr/>
        </p:nvPicPr>
        <p:blipFill>
          <a:blip r:embed="rId4"/>
          <a:stretch>
            <a:fillRect/>
          </a:stretch>
        </p:blipFill>
        <p:spPr>
          <a:xfrm>
            <a:off x="3517166" y="986372"/>
            <a:ext cx="3184864" cy="2351617"/>
          </a:xfrm>
          <a:prstGeom prst="rect">
            <a:avLst/>
          </a:prstGeom>
          <a:noFill/>
          <a:ln cap="flat">
            <a:noFill/>
          </a:ln>
        </p:spPr>
      </p:pic>
      <p:pic>
        <p:nvPicPr>
          <p:cNvPr id="12" name="Image 16">
            <a:extLst>
              <a:ext uri="{FF2B5EF4-FFF2-40B4-BE49-F238E27FC236}">
                <a16:creationId xmlns:a16="http://schemas.microsoft.com/office/drawing/2014/main" id="{9497A2D8-10C3-540E-D572-63AB0FE56718}"/>
              </a:ext>
            </a:extLst>
          </p:cNvPr>
          <p:cNvPicPr>
            <a:picLocks noChangeAspect="1"/>
          </p:cNvPicPr>
          <p:nvPr/>
        </p:nvPicPr>
        <p:blipFill>
          <a:blip r:embed="rId5"/>
          <a:stretch>
            <a:fillRect/>
          </a:stretch>
        </p:blipFill>
        <p:spPr>
          <a:xfrm>
            <a:off x="6809792" y="1006260"/>
            <a:ext cx="3184864" cy="2351617"/>
          </a:xfrm>
          <a:prstGeom prst="rect">
            <a:avLst/>
          </a:prstGeom>
          <a:noFill/>
          <a:ln cap="flat">
            <a:noFill/>
          </a:ln>
        </p:spPr>
      </p:pic>
      <p:pic>
        <p:nvPicPr>
          <p:cNvPr id="13" name="Image 19">
            <a:extLst>
              <a:ext uri="{FF2B5EF4-FFF2-40B4-BE49-F238E27FC236}">
                <a16:creationId xmlns:a16="http://schemas.microsoft.com/office/drawing/2014/main" id="{913758FD-A9D0-DC97-43EB-B7A445C9451B}"/>
              </a:ext>
            </a:extLst>
          </p:cNvPr>
          <p:cNvPicPr>
            <a:picLocks noChangeAspect="1"/>
          </p:cNvPicPr>
          <p:nvPr/>
        </p:nvPicPr>
        <p:blipFill>
          <a:blip r:embed="rId6"/>
          <a:stretch>
            <a:fillRect/>
          </a:stretch>
        </p:blipFill>
        <p:spPr>
          <a:xfrm>
            <a:off x="1786463" y="3337294"/>
            <a:ext cx="2781385" cy="2053696"/>
          </a:xfrm>
          <a:prstGeom prst="rect">
            <a:avLst/>
          </a:prstGeom>
          <a:noFill/>
          <a:ln cap="flat">
            <a:noFill/>
          </a:ln>
        </p:spPr>
      </p:pic>
      <p:pic>
        <p:nvPicPr>
          <p:cNvPr id="14" name="Image 21">
            <a:extLst>
              <a:ext uri="{FF2B5EF4-FFF2-40B4-BE49-F238E27FC236}">
                <a16:creationId xmlns:a16="http://schemas.microsoft.com/office/drawing/2014/main" id="{C508E75D-13D6-87BC-45F1-F40D2201D66E}"/>
              </a:ext>
            </a:extLst>
          </p:cNvPr>
          <p:cNvPicPr>
            <a:picLocks noChangeAspect="1"/>
          </p:cNvPicPr>
          <p:nvPr/>
        </p:nvPicPr>
        <p:blipFill>
          <a:blip r:embed="rId7"/>
          <a:stretch>
            <a:fillRect/>
          </a:stretch>
        </p:blipFill>
        <p:spPr>
          <a:xfrm>
            <a:off x="5512780" y="3326413"/>
            <a:ext cx="2781385" cy="2053696"/>
          </a:xfrm>
          <a:prstGeom prst="rect">
            <a:avLst/>
          </a:prstGeom>
          <a:noFill/>
          <a:ln cap="flat">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82">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9BEF0B1A-CBE3-EE07-FF22-07FEE0F8CBD2}"/>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D9243B83-B73D-BC19-9653-1711C424B417}"/>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AC3F5786-010C-23D8-70FE-049C64337AAC}"/>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78B76074-56FC-B6BD-3CFC-732B1B4AF75C}"/>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D3B5D7E6-ABD2-5BBD-44D7-A4E224CA5C69}"/>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F336B9AB-A9E9-691D-95C4-E3D4DE6366C4}"/>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All fit mc bin1 Q</a:t>
            </a:r>
            <a:r>
              <a:rPr lang="fr-FR" sz="2400" b="0" i="0" u="none" strike="noStrike" kern="0" cap="none" spc="0" baseline="30000">
                <a:solidFill>
                  <a:srgbClr val="FFFFFF"/>
                </a:solidFill>
                <a:uFillTx/>
                <a:latin typeface="Liberation Sans" pitchFamily="18"/>
                <a:ea typeface="Noto Sans CJK SC" pitchFamily="2"/>
                <a:cs typeface="Noto Sans" pitchFamily="2"/>
              </a:rPr>
              <a:t>2</a:t>
            </a:r>
            <a:r>
              <a:rPr lang="fr-FR" sz="2400" b="0" i="0" u="none" strike="noStrike" kern="0" cap="none" spc="0" baseline="0">
                <a:solidFill>
                  <a:srgbClr val="FFFFFF"/>
                </a:solidFill>
                <a:uFillTx/>
                <a:latin typeface="Liberation Sans" pitchFamily="18"/>
                <a:ea typeface="Noto Sans CJK SC" pitchFamily="2"/>
                <a:cs typeface="Noto Sans" pitchFamily="2"/>
              </a:rPr>
              <a:t> </a:t>
            </a:r>
          </a:p>
        </p:txBody>
      </p:sp>
      <p:sp>
        <p:nvSpPr>
          <p:cNvPr id="8" name="ZoneTexte 40">
            <a:extLst>
              <a:ext uri="{FF2B5EF4-FFF2-40B4-BE49-F238E27FC236}">
                <a16:creationId xmlns:a16="http://schemas.microsoft.com/office/drawing/2014/main" id="{2854A188-A2BE-44CA-50FA-D66B8F23CC3F}"/>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A374FD6B-8A8A-557B-29E2-00785F963569}"/>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pic>
        <p:nvPicPr>
          <p:cNvPr id="10" name="Image 6">
            <a:extLst>
              <a:ext uri="{FF2B5EF4-FFF2-40B4-BE49-F238E27FC236}">
                <a16:creationId xmlns:a16="http://schemas.microsoft.com/office/drawing/2014/main" id="{AD4E6E47-B088-E907-2B4B-8A31B8339461}"/>
              </a:ext>
            </a:extLst>
          </p:cNvPr>
          <p:cNvPicPr>
            <a:picLocks noChangeAspect="1"/>
          </p:cNvPicPr>
          <p:nvPr/>
        </p:nvPicPr>
        <p:blipFill>
          <a:blip r:embed="rId3"/>
          <a:stretch>
            <a:fillRect/>
          </a:stretch>
        </p:blipFill>
        <p:spPr>
          <a:xfrm>
            <a:off x="379146" y="1041382"/>
            <a:ext cx="2944066" cy="2173821"/>
          </a:xfrm>
          <a:prstGeom prst="rect">
            <a:avLst/>
          </a:prstGeom>
          <a:noFill/>
          <a:ln cap="flat">
            <a:noFill/>
          </a:ln>
        </p:spPr>
      </p:pic>
      <p:pic>
        <p:nvPicPr>
          <p:cNvPr id="11" name="Image 10">
            <a:extLst>
              <a:ext uri="{FF2B5EF4-FFF2-40B4-BE49-F238E27FC236}">
                <a16:creationId xmlns:a16="http://schemas.microsoft.com/office/drawing/2014/main" id="{18D89054-3F48-6520-EED2-E20CD4365E15}"/>
              </a:ext>
            </a:extLst>
          </p:cNvPr>
          <p:cNvPicPr>
            <a:picLocks noChangeAspect="1"/>
          </p:cNvPicPr>
          <p:nvPr/>
        </p:nvPicPr>
        <p:blipFill>
          <a:blip r:embed="rId4"/>
          <a:stretch>
            <a:fillRect/>
          </a:stretch>
        </p:blipFill>
        <p:spPr>
          <a:xfrm>
            <a:off x="3567961" y="1099081"/>
            <a:ext cx="2944066" cy="2173821"/>
          </a:xfrm>
          <a:prstGeom prst="rect">
            <a:avLst/>
          </a:prstGeom>
          <a:noFill/>
          <a:ln cap="flat">
            <a:noFill/>
          </a:ln>
        </p:spPr>
      </p:pic>
      <p:pic>
        <p:nvPicPr>
          <p:cNvPr id="12" name="Image 12">
            <a:extLst>
              <a:ext uri="{FF2B5EF4-FFF2-40B4-BE49-F238E27FC236}">
                <a16:creationId xmlns:a16="http://schemas.microsoft.com/office/drawing/2014/main" id="{BE458476-53AF-A5F6-D6CE-DE58FAC46109}"/>
              </a:ext>
            </a:extLst>
          </p:cNvPr>
          <p:cNvPicPr>
            <a:picLocks noChangeAspect="1"/>
          </p:cNvPicPr>
          <p:nvPr/>
        </p:nvPicPr>
        <p:blipFill>
          <a:blip r:embed="rId5"/>
          <a:stretch>
            <a:fillRect/>
          </a:stretch>
        </p:blipFill>
        <p:spPr>
          <a:xfrm>
            <a:off x="6688671" y="1099081"/>
            <a:ext cx="3012810" cy="2224579"/>
          </a:xfrm>
          <a:prstGeom prst="rect">
            <a:avLst/>
          </a:prstGeom>
          <a:noFill/>
          <a:ln cap="flat">
            <a:noFill/>
          </a:ln>
        </p:spPr>
      </p:pic>
      <p:pic>
        <p:nvPicPr>
          <p:cNvPr id="13" name="Image 14">
            <a:extLst>
              <a:ext uri="{FF2B5EF4-FFF2-40B4-BE49-F238E27FC236}">
                <a16:creationId xmlns:a16="http://schemas.microsoft.com/office/drawing/2014/main" id="{E02AEA8B-3D22-2BD0-0E5D-6742B5107917}"/>
              </a:ext>
            </a:extLst>
          </p:cNvPr>
          <p:cNvPicPr>
            <a:picLocks noChangeAspect="1"/>
          </p:cNvPicPr>
          <p:nvPr/>
        </p:nvPicPr>
        <p:blipFill>
          <a:blip r:embed="rId6"/>
          <a:stretch>
            <a:fillRect/>
          </a:stretch>
        </p:blipFill>
        <p:spPr>
          <a:xfrm>
            <a:off x="2028770" y="3272893"/>
            <a:ext cx="2825642" cy="2086377"/>
          </a:xfrm>
          <a:prstGeom prst="rect">
            <a:avLst/>
          </a:prstGeom>
          <a:noFill/>
          <a:ln cap="flat">
            <a:noFill/>
          </a:ln>
        </p:spPr>
      </p:pic>
      <p:pic>
        <p:nvPicPr>
          <p:cNvPr id="14" name="Image 16">
            <a:extLst>
              <a:ext uri="{FF2B5EF4-FFF2-40B4-BE49-F238E27FC236}">
                <a16:creationId xmlns:a16="http://schemas.microsoft.com/office/drawing/2014/main" id="{55DCC569-99D1-0814-2988-7E9E995838CE}"/>
              </a:ext>
            </a:extLst>
          </p:cNvPr>
          <p:cNvPicPr>
            <a:picLocks noChangeAspect="1"/>
          </p:cNvPicPr>
          <p:nvPr/>
        </p:nvPicPr>
        <p:blipFill>
          <a:blip r:embed="rId7"/>
          <a:stretch>
            <a:fillRect/>
          </a:stretch>
        </p:blipFill>
        <p:spPr>
          <a:xfrm>
            <a:off x="5474924" y="3293257"/>
            <a:ext cx="2825642" cy="2086377"/>
          </a:xfrm>
          <a:prstGeom prst="rect">
            <a:avLst/>
          </a:prstGeom>
          <a:noFill/>
          <a:ln cap="flat">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84">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D7D2195C-E543-376C-F69F-C19B48E51764}"/>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EF11B6E2-BD79-099C-D937-CB49AFB9428C}"/>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22CA4B3D-FDF7-A328-19EE-D6F9CAD287DD}"/>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D936C7CB-079A-1298-4E17-E5CC90F7559A}"/>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C4C0E11D-AE18-8CE5-C136-A57F8FD28685}"/>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A1D4DD65-8ED4-238E-7D7B-7A711528BF42}"/>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All fit mc bin2 Q</a:t>
            </a:r>
            <a:r>
              <a:rPr lang="fr-FR" sz="2400" b="0" i="0" u="none" strike="noStrike" kern="0" cap="none" spc="0" baseline="30000">
                <a:solidFill>
                  <a:srgbClr val="FFFFFF"/>
                </a:solidFill>
                <a:uFillTx/>
                <a:latin typeface="Liberation Sans" pitchFamily="18"/>
                <a:ea typeface="Noto Sans CJK SC" pitchFamily="2"/>
                <a:cs typeface="Noto Sans" pitchFamily="2"/>
              </a:rPr>
              <a:t>2</a:t>
            </a:r>
            <a:r>
              <a:rPr lang="fr-FR" sz="2400" b="0" i="0" u="none" strike="noStrike" kern="0" cap="none" spc="0" baseline="0">
                <a:solidFill>
                  <a:srgbClr val="FFFFFF"/>
                </a:solidFill>
                <a:uFillTx/>
                <a:latin typeface="Liberation Sans" pitchFamily="18"/>
                <a:ea typeface="Noto Sans CJK SC" pitchFamily="2"/>
                <a:cs typeface="Noto Sans" pitchFamily="2"/>
              </a:rPr>
              <a:t> </a:t>
            </a:r>
          </a:p>
        </p:txBody>
      </p:sp>
      <p:sp>
        <p:nvSpPr>
          <p:cNvPr id="8" name="ZoneTexte 40">
            <a:extLst>
              <a:ext uri="{FF2B5EF4-FFF2-40B4-BE49-F238E27FC236}">
                <a16:creationId xmlns:a16="http://schemas.microsoft.com/office/drawing/2014/main" id="{72082C49-1024-D930-ABD4-8F91F15ADF67}"/>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482698E4-097F-5FC5-1D27-53D9A68D24FD}"/>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pic>
        <p:nvPicPr>
          <p:cNvPr id="10" name="Image 9">
            <a:extLst>
              <a:ext uri="{FF2B5EF4-FFF2-40B4-BE49-F238E27FC236}">
                <a16:creationId xmlns:a16="http://schemas.microsoft.com/office/drawing/2014/main" id="{CBB1FF68-EB58-76A2-2A02-E82C90FF6950}"/>
              </a:ext>
            </a:extLst>
          </p:cNvPr>
          <p:cNvPicPr>
            <a:picLocks noChangeAspect="1"/>
          </p:cNvPicPr>
          <p:nvPr/>
        </p:nvPicPr>
        <p:blipFill>
          <a:blip r:embed="rId3"/>
          <a:stretch>
            <a:fillRect/>
          </a:stretch>
        </p:blipFill>
        <p:spPr>
          <a:xfrm>
            <a:off x="170636" y="942792"/>
            <a:ext cx="3080567" cy="2274606"/>
          </a:xfrm>
          <a:prstGeom prst="rect">
            <a:avLst/>
          </a:prstGeom>
          <a:noFill/>
          <a:ln cap="flat">
            <a:noFill/>
          </a:ln>
        </p:spPr>
      </p:pic>
      <p:pic>
        <p:nvPicPr>
          <p:cNvPr id="11" name="Image 13">
            <a:extLst>
              <a:ext uri="{FF2B5EF4-FFF2-40B4-BE49-F238E27FC236}">
                <a16:creationId xmlns:a16="http://schemas.microsoft.com/office/drawing/2014/main" id="{30785CCD-47CA-AEBA-663B-6C395E02508D}"/>
              </a:ext>
            </a:extLst>
          </p:cNvPr>
          <p:cNvPicPr>
            <a:picLocks noChangeAspect="1"/>
          </p:cNvPicPr>
          <p:nvPr/>
        </p:nvPicPr>
        <p:blipFill>
          <a:blip r:embed="rId4"/>
          <a:stretch>
            <a:fillRect/>
          </a:stretch>
        </p:blipFill>
        <p:spPr>
          <a:xfrm>
            <a:off x="3362184" y="954368"/>
            <a:ext cx="3292233" cy="2430886"/>
          </a:xfrm>
          <a:prstGeom prst="rect">
            <a:avLst/>
          </a:prstGeom>
          <a:noFill/>
          <a:ln cap="flat">
            <a:noFill/>
          </a:ln>
        </p:spPr>
      </p:pic>
      <p:pic>
        <p:nvPicPr>
          <p:cNvPr id="12" name="Image 17">
            <a:extLst>
              <a:ext uri="{FF2B5EF4-FFF2-40B4-BE49-F238E27FC236}">
                <a16:creationId xmlns:a16="http://schemas.microsoft.com/office/drawing/2014/main" id="{D0192B3B-0DCA-7E6A-A33C-982933A96F25}"/>
              </a:ext>
            </a:extLst>
          </p:cNvPr>
          <p:cNvPicPr>
            <a:picLocks noChangeAspect="1"/>
          </p:cNvPicPr>
          <p:nvPr/>
        </p:nvPicPr>
        <p:blipFill>
          <a:blip r:embed="rId5"/>
          <a:stretch>
            <a:fillRect/>
          </a:stretch>
        </p:blipFill>
        <p:spPr>
          <a:xfrm>
            <a:off x="6767382" y="990688"/>
            <a:ext cx="3250445" cy="2394575"/>
          </a:xfrm>
          <a:prstGeom prst="rect">
            <a:avLst/>
          </a:prstGeom>
          <a:noFill/>
          <a:ln cap="flat">
            <a:noFill/>
          </a:ln>
        </p:spPr>
      </p:pic>
      <p:pic>
        <p:nvPicPr>
          <p:cNvPr id="13" name="Image 19">
            <a:extLst>
              <a:ext uri="{FF2B5EF4-FFF2-40B4-BE49-F238E27FC236}">
                <a16:creationId xmlns:a16="http://schemas.microsoft.com/office/drawing/2014/main" id="{7B89E913-0B78-8127-2FE0-3C2E7054763A}"/>
              </a:ext>
            </a:extLst>
          </p:cNvPr>
          <p:cNvPicPr>
            <a:picLocks noChangeAspect="1"/>
          </p:cNvPicPr>
          <p:nvPr/>
        </p:nvPicPr>
        <p:blipFill>
          <a:blip r:embed="rId6"/>
          <a:stretch>
            <a:fillRect/>
          </a:stretch>
        </p:blipFill>
        <p:spPr>
          <a:xfrm>
            <a:off x="1517099" y="3233135"/>
            <a:ext cx="2953566" cy="2175860"/>
          </a:xfrm>
          <a:prstGeom prst="rect">
            <a:avLst/>
          </a:prstGeom>
          <a:noFill/>
          <a:ln cap="flat">
            <a:noFill/>
          </a:ln>
        </p:spPr>
      </p:pic>
      <p:pic>
        <p:nvPicPr>
          <p:cNvPr id="14" name="Image 21">
            <a:extLst>
              <a:ext uri="{FF2B5EF4-FFF2-40B4-BE49-F238E27FC236}">
                <a16:creationId xmlns:a16="http://schemas.microsoft.com/office/drawing/2014/main" id="{F8C07E21-2128-A061-A76E-26FA01FBFCF9}"/>
              </a:ext>
            </a:extLst>
          </p:cNvPr>
          <p:cNvPicPr>
            <a:picLocks noChangeAspect="1"/>
          </p:cNvPicPr>
          <p:nvPr/>
        </p:nvPicPr>
        <p:blipFill>
          <a:blip r:embed="rId7"/>
          <a:stretch>
            <a:fillRect/>
          </a:stretch>
        </p:blipFill>
        <p:spPr>
          <a:xfrm>
            <a:off x="5226225" y="3299831"/>
            <a:ext cx="2772497" cy="2042467"/>
          </a:xfrm>
          <a:prstGeom prst="rect">
            <a:avLst/>
          </a:prstGeom>
          <a:noFill/>
          <a:ln cap="flat">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89">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53B36900-8185-A65E-EF3C-7B48007C3271}"/>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7FAED6EF-60C9-7E5F-1ECE-3A37A145B429}"/>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A6BAB701-A55D-DF82-318E-D74DD8937ACA}"/>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D8BDC9E1-FBC3-0B0D-F21D-26CB0616D438}"/>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FB016208-F0F0-E6A1-9764-42707A347001}"/>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D058E5E5-AA2A-7250-7473-C40979B9A44C}"/>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Neutron efficiency correction additional plots</a:t>
            </a:r>
          </a:p>
        </p:txBody>
      </p:sp>
      <p:sp>
        <p:nvSpPr>
          <p:cNvPr id="8" name="ZoneTexte 40">
            <a:extLst>
              <a:ext uri="{FF2B5EF4-FFF2-40B4-BE49-F238E27FC236}">
                <a16:creationId xmlns:a16="http://schemas.microsoft.com/office/drawing/2014/main" id="{92616B16-93AA-D624-39C0-CA2D7004BE7A}"/>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B99F0FED-0FD3-B0DE-3E0D-55E8DB7F6920}"/>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pic>
        <p:nvPicPr>
          <p:cNvPr id="10" name="Image 6">
            <a:extLst>
              <a:ext uri="{FF2B5EF4-FFF2-40B4-BE49-F238E27FC236}">
                <a16:creationId xmlns:a16="http://schemas.microsoft.com/office/drawing/2014/main" id="{60867A54-7B4F-F410-CBE1-C3A5A6F14194}"/>
              </a:ext>
            </a:extLst>
          </p:cNvPr>
          <p:cNvPicPr>
            <a:picLocks noChangeAspect="1"/>
          </p:cNvPicPr>
          <p:nvPr/>
        </p:nvPicPr>
        <p:blipFill>
          <a:blip r:embed="rId3"/>
          <a:stretch>
            <a:fillRect/>
          </a:stretch>
        </p:blipFill>
        <p:spPr>
          <a:xfrm>
            <a:off x="0" y="1515535"/>
            <a:ext cx="4809908" cy="3450369"/>
          </a:xfrm>
          <a:prstGeom prst="rect">
            <a:avLst/>
          </a:prstGeom>
          <a:noFill/>
          <a:ln cap="flat">
            <a:noFill/>
          </a:ln>
        </p:spPr>
      </p:pic>
      <p:pic>
        <p:nvPicPr>
          <p:cNvPr id="11" name="Image 11">
            <a:extLst>
              <a:ext uri="{FF2B5EF4-FFF2-40B4-BE49-F238E27FC236}">
                <a16:creationId xmlns:a16="http://schemas.microsoft.com/office/drawing/2014/main" id="{B4619F2D-0284-C344-0185-B5BAA0D8C6CD}"/>
              </a:ext>
            </a:extLst>
          </p:cNvPr>
          <p:cNvPicPr>
            <a:picLocks noChangeAspect="1"/>
          </p:cNvPicPr>
          <p:nvPr/>
        </p:nvPicPr>
        <p:blipFill>
          <a:blip r:embed="rId4"/>
          <a:stretch>
            <a:fillRect/>
          </a:stretch>
        </p:blipFill>
        <p:spPr>
          <a:xfrm>
            <a:off x="5123072" y="1515535"/>
            <a:ext cx="4609261" cy="3306442"/>
          </a:xfrm>
          <a:prstGeom prst="rect">
            <a:avLst/>
          </a:prstGeom>
          <a:noFill/>
          <a:ln cap="flat">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87">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5D45C4CD-D30B-6D53-AFF2-D87968D243EF}"/>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A0FE4E81-1A72-E4AC-81F9-BC2C331BF733}"/>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95A0C5B0-8504-3B83-C6B8-D58B2C2CFDDE}"/>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75C49098-8140-5956-FFDA-70F55C31D7EF}"/>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5F341026-AF99-6516-966F-F2A3FCE14316}"/>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2EB600D1-3708-3331-36F7-5D01D12A9127}"/>
              </a:ext>
            </a:extLst>
          </p:cNvPr>
          <p:cNvSpPr txBox="1"/>
          <p:nvPr/>
        </p:nvSpPr>
        <p:spPr>
          <a:xfrm>
            <a:off x="170636" y="199083"/>
            <a:ext cx="9675330" cy="444755"/>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Liberation Sans" pitchFamily="18"/>
                <a:ea typeface="Noto Sans CJK SC" pitchFamily="2"/>
                <a:cs typeface="Noto Sans" pitchFamily="2"/>
              </a:rPr>
              <a:t>Neutron efficiency correction additional plots</a:t>
            </a:r>
          </a:p>
        </p:txBody>
      </p:sp>
      <p:sp>
        <p:nvSpPr>
          <p:cNvPr id="8" name="ZoneTexte 40">
            <a:extLst>
              <a:ext uri="{FF2B5EF4-FFF2-40B4-BE49-F238E27FC236}">
                <a16:creationId xmlns:a16="http://schemas.microsoft.com/office/drawing/2014/main" id="{BE4EA1E1-1306-9D73-EB05-5F3E1C1789E0}"/>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9" name="ZoneTexte 41">
            <a:extLst>
              <a:ext uri="{FF2B5EF4-FFF2-40B4-BE49-F238E27FC236}">
                <a16:creationId xmlns:a16="http://schemas.microsoft.com/office/drawing/2014/main" id="{C7E33A6A-EB1D-1348-105F-7B109F68007E}"/>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pic>
        <p:nvPicPr>
          <p:cNvPr id="10" name="Image 6">
            <a:extLst>
              <a:ext uri="{FF2B5EF4-FFF2-40B4-BE49-F238E27FC236}">
                <a16:creationId xmlns:a16="http://schemas.microsoft.com/office/drawing/2014/main" id="{A978EDE9-5164-7E95-179B-51A036CEAD20}"/>
              </a:ext>
            </a:extLst>
          </p:cNvPr>
          <p:cNvPicPr>
            <a:picLocks noChangeAspect="1"/>
          </p:cNvPicPr>
          <p:nvPr/>
        </p:nvPicPr>
        <p:blipFill>
          <a:blip r:embed="rId3"/>
          <a:stretch>
            <a:fillRect/>
          </a:stretch>
        </p:blipFill>
        <p:spPr>
          <a:xfrm>
            <a:off x="84664" y="1424068"/>
            <a:ext cx="4809067" cy="3449766"/>
          </a:xfrm>
          <a:prstGeom prst="rect">
            <a:avLst/>
          </a:prstGeom>
          <a:noFill/>
          <a:ln cap="flat">
            <a:noFill/>
          </a:ln>
        </p:spPr>
      </p:pic>
      <p:pic>
        <p:nvPicPr>
          <p:cNvPr id="11" name="Image 10">
            <a:extLst>
              <a:ext uri="{FF2B5EF4-FFF2-40B4-BE49-F238E27FC236}">
                <a16:creationId xmlns:a16="http://schemas.microsoft.com/office/drawing/2014/main" id="{7782BFB0-0584-662D-AAF2-B83562F6E438}"/>
              </a:ext>
            </a:extLst>
          </p:cNvPr>
          <p:cNvPicPr>
            <a:picLocks noChangeAspect="1"/>
          </p:cNvPicPr>
          <p:nvPr/>
        </p:nvPicPr>
        <p:blipFill>
          <a:blip r:embed="rId4"/>
          <a:stretch>
            <a:fillRect/>
          </a:stretch>
        </p:blipFill>
        <p:spPr>
          <a:xfrm>
            <a:off x="4846649" y="1219681"/>
            <a:ext cx="5149306" cy="3860624"/>
          </a:xfrm>
          <a:prstGeom prst="rect">
            <a:avLst/>
          </a:prstGeom>
          <a:noFill/>
          <a:ln cap="flat">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72">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269FEAD0-D4F5-4288-1E92-7680DBF625F3}"/>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D73B0986-9416-C43C-D95C-32E02DED7B03}"/>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A56DB5AA-C416-FE94-3B53-F9E86FB23E2B}"/>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8A3C93E2-BA2E-F9B8-2288-E16D90563989}"/>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A2336313-3299-C272-7BEE-7B14E4F7AAFB}"/>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34BD7B9E-DB4B-FF06-3291-FAFC4153E0B6}"/>
              </a:ext>
            </a:extLst>
          </p:cNvPr>
          <p:cNvSpPr txBox="1"/>
          <p:nvPr/>
        </p:nvSpPr>
        <p:spPr>
          <a:xfrm>
            <a:off x="257513" y="200354"/>
            <a:ext cx="9823106" cy="466554"/>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Calibri" pitchFamily="34"/>
                <a:ea typeface="Noto Sans CJK SC" pitchFamily="2"/>
                <a:cs typeface="Calibri" pitchFamily="34"/>
              </a:rPr>
              <a:t>Neutron phasespace :</a:t>
            </a:r>
            <a:endParaRPr lang="fr-FR" sz="2400" b="0" i="0" u="none" strike="noStrike" kern="0" cap="none" spc="0" baseline="0">
              <a:solidFill>
                <a:srgbClr val="FFFFFF"/>
              </a:solidFill>
              <a:uFillTx/>
              <a:latin typeface="Liberation Sans" pitchFamily="18"/>
              <a:ea typeface="Noto Sans CJK SC" pitchFamily="2"/>
              <a:cs typeface="Noto Sans" pitchFamily="2"/>
            </a:endParaRPr>
          </a:p>
        </p:txBody>
      </p:sp>
      <p:pic>
        <p:nvPicPr>
          <p:cNvPr id="8" name="Image 13">
            <a:extLst>
              <a:ext uri="{FF2B5EF4-FFF2-40B4-BE49-F238E27FC236}">
                <a16:creationId xmlns:a16="http://schemas.microsoft.com/office/drawing/2014/main" id="{73D12806-5391-0220-FA29-968740198E89}"/>
              </a:ext>
            </a:extLst>
          </p:cNvPr>
          <p:cNvPicPr>
            <a:picLocks noChangeAspect="1"/>
          </p:cNvPicPr>
          <p:nvPr/>
        </p:nvPicPr>
        <p:blipFill>
          <a:blip r:embed="rId3"/>
          <a:stretch>
            <a:fillRect/>
          </a:stretch>
        </p:blipFill>
        <p:spPr>
          <a:xfrm>
            <a:off x="5039999" y="1784506"/>
            <a:ext cx="4905161" cy="3358801"/>
          </a:xfrm>
          <a:prstGeom prst="rect">
            <a:avLst/>
          </a:prstGeom>
          <a:noFill/>
          <a:ln cap="flat">
            <a:noFill/>
          </a:ln>
        </p:spPr>
      </p:pic>
      <p:sp>
        <p:nvSpPr>
          <p:cNvPr id="9" name="ZoneTexte 14">
            <a:extLst>
              <a:ext uri="{FF2B5EF4-FFF2-40B4-BE49-F238E27FC236}">
                <a16:creationId xmlns:a16="http://schemas.microsoft.com/office/drawing/2014/main" id="{8DECEB9E-1069-3125-BD5D-C1EC02AE1477}"/>
              </a:ext>
            </a:extLst>
          </p:cNvPr>
          <p:cNvSpPr txBox="1"/>
          <p:nvPr/>
        </p:nvSpPr>
        <p:spPr>
          <a:xfrm>
            <a:off x="6205465" y="1261286"/>
            <a:ext cx="2574228" cy="523219"/>
          </a:xfrm>
          <a:prstGeom prst="rect">
            <a:avLst/>
          </a:prstGeom>
          <a:noFill/>
          <a:ln cap="flat">
            <a:noFill/>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Calibri"/>
              </a:rPr>
              <a:t>MC : </a:t>
            </a:r>
            <a:r>
              <a:rPr lang="el-GR" sz="1400" b="0" i="0" u="none" strike="noStrike" kern="1200" cap="none" spc="0" baseline="0">
                <a:solidFill>
                  <a:srgbClr val="000000"/>
                </a:solidFill>
                <a:uFillTx/>
                <a:latin typeface="Calibri" pitchFamily="34"/>
                <a:cs typeface="Calibri" pitchFamily="34"/>
              </a:rPr>
              <a:t>θ</a:t>
            </a:r>
            <a:r>
              <a:rPr lang="fr-FR" sz="1400" b="0" i="0" u="none" strike="noStrike" kern="1200" cap="none" spc="0" baseline="-25000">
                <a:solidFill>
                  <a:srgbClr val="000000"/>
                </a:solidFill>
                <a:uFillTx/>
                <a:latin typeface="Calibri" pitchFamily="34"/>
                <a:cs typeface="Calibri" pitchFamily="34"/>
              </a:rPr>
              <a:t>neutron </a:t>
            </a:r>
            <a:r>
              <a:rPr lang="fr-FR" sz="1400" b="0" i="0" u="none" strike="noStrike" kern="1200" cap="none" spc="0" baseline="0">
                <a:solidFill>
                  <a:srgbClr val="000000"/>
                </a:solidFill>
                <a:uFillTx/>
                <a:latin typeface="Calibri"/>
              </a:rPr>
              <a:t>vs P</a:t>
            </a:r>
            <a:r>
              <a:rPr lang="fr-FR" sz="1400" b="0" i="0" u="none" strike="noStrike" kern="1200" cap="none" spc="0" baseline="-25000">
                <a:solidFill>
                  <a:srgbClr val="000000"/>
                </a:solidFill>
                <a:uFillTx/>
                <a:latin typeface="Calibri"/>
              </a:rPr>
              <a:t>neutron</a:t>
            </a:r>
            <a:r>
              <a:rPr lang="fr-FR" sz="1400" b="0" i="0" u="none" strike="noStrike" kern="1200" cap="none" spc="0" baseline="0">
                <a:solidFill>
                  <a:srgbClr val="000000"/>
                </a:solidFill>
                <a:uFillTx/>
                <a:latin typeface="Calibri"/>
              </a:rPr>
              <a:t> </a:t>
            </a:r>
            <a:r>
              <a:rPr lang="fr-FR" sz="1400" b="1" i="0" u="none" strike="noStrike" kern="1200" cap="none" spc="0" baseline="0">
                <a:solidFill>
                  <a:srgbClr val="000000"/>
                </a:solidFill>
                <a:uFillTx/>
                <a:latin typeface="Calibri"/>
              </a:rPr>
              <a:t>generated</a:t>
            </a:r>
            <a:r>
              <a:rPr lang="fr-FR" sz="1400" b="0" i="0" u="none" strike="noStrike" kern="1200" cap="none" spc="0" baseline="0">
                <a:solidFill>
                  <a:srgbClr val="000000"/>
                </a:solidFill>
                <a:uFillTx/>
                <a:latin typeface="Calibri"/>
              </a:rPr>
              <a:t>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Calibri" pitchFamily="34"/>
                <a:cs typeface="Calibri" pitchFamily="34"/>
              </a:rPr>
              <a:t>(with acceptante cuts)</a:t>
            </a:r>
            <a:endParaRPr lang="fr-FR" sz="1400" b="0" i="0" u="none" strike="noStrike" kern="1200" cap="none" spc="0" baseline="0">
              <a:solidFill>
                <a:srgbClr val="000000"/>
              </a:solidFill>
              <a:uFillTx/>
              <a:latin typeface="Calibri"/>
            </a:endParaRPr>
          </a:p>
        </p:txBody>
      </p:sp>
      <p:pic>
        <p:nvPicPr>
          <p:cNvPr id="10" name="Image 16">
            <a:extLst>
              <a:ext uri="{FF2B5EF4-FFF2-40B4-BE49-F238E27FC236}">
                <a16:creationId xmlns:a16="http://schemas.microsoft.com/office/drawing/2014/main" id="{4E7C0EB6-4A94-60A5-C9FF-1231351B9B1C}"/>
              </a:ext>
            </a:extLst>
          </p:cNvPr>
          <p:cNvPicPr>
            <a:picLocks noChangeAspect="1"/>
          </p:cNvPicPr>
          <p:nvPr/>
        </p:nvPicPr>
        <p:blipFill>
          <a:blip r:embed="rId4"/>
          <a:stretch>
            <a:fillRect/>
          </a:stretch>
        </p:blipFill>
        <p:spPr>
          <a:xfrm>
            <a:off x="135468" y="1386934"/>
            <a:ext cx="4821384" cy="3662638"/>
          </a:xfrm>
          <a:prstGeom prst="rect">
            <a:avLst/>
          </a:prstGeom>
          <a:noFill/>
          <a:ln cap="flat">
            <a:noFill/>
          </a:ln>
        </p:spPr>
      </p:pic>
      <p:sp>
        <p:nvSpPr>
          <p:cNvPr id="11" name="ZoneTexte 13">
            <a:extLst>
              <a:ext uri="{FF2B5EF4-FFF2-40B4-BE49-F238E27FC236}">
                <a16:creationId xmlns:a16="http://schemas.microsoft.com/office/drawing/2014/main" id="{E24F0938-66BB-F6AE-F3D8-C93968AA945B}"/>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2" name="ZoneTexte 14">
            <a:extLst>
              <a:ext uri="{FF2B5EF4-FFF2-40B4-BE49-F238E27FC236}">
                <a16:creationId xmlns:a16="http://schemas.microsoft.com/office/drawing/2014/main" id="{AB70C131-1AC5-9D95-4734-1DDD7724DFA4}"/>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73">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F0D51FD8-9EA9-954E-6A8C-62B92B18CE02}"/>
              </a:ext>
            </a:extLst>
          </p:cNvPr>
          <p:cNvSpPr/>
          <p:nvPr/>
        </p:nvSpPr>
        <p:spPr>
          <a:xfrm>
            <a:off x="0" y="0"/>
            <a:ext cx="10079998" cy="89999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3" name="Forme libre 2">
            <a:extLst>
              <a:ext uri="{FF2B5EF4-FFF2-40B4-BE49-F238E27FC236}">
                <a16:creationId xmlns:a16="http://schemas.microsoft.com/office/drawing/2014/main" id="{5B027A6F-065A-1FE5-0050-74C876C790DD}"/>
              </a:ext>
            </a:extLst>
          </p:cNvPr>
          <p:cNvSpPr/>
          <p:nvPr/>
        </p:nvSpPr>
        <p:spPr>
          <a:xfrm>
            <a:off x="0" y="5399998"/>
            <a:ext cx="10079998" cy="270004"/>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solidFill>
            <a:srgbClr val="3465A4"/>
          </a:solidFill>
          <a:ln cap="flat">
            <a:noFill/>
            <a:prstDash val="solid"/>
          </a:ln>
        </p:spPr>
        <p:txBody>
          <a:bodyPr vert="horz" wrap="square" lIns="90004" tIns="44997" rIns="90004" bIns="44997" anchor="ctr"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Liberation Sans" pitchFamily="18"/>
              <a:ea typeface="Noto Sans CJK SC" pitchFamily="2"/>
              <a:cs typeface="Noto Sans" pitchFamily="2"/>
            </a:endParaRPr>
          </a:p>
        </p:txBody>
      </p:sp>
      <p:sp>
        <p:nvSpPr>
          <p:cNvPr id="4" name="ZoneTexte 3">
            <a:extLst>
              <a:ext uri="{FF2B5EF4-FFF2-40B4-BE49-F238E27FC236}">
                <a16:creationId xmlns:a16="http://schemas.microsoft.com/office/drawing/2014/main" id="{397EE813-82BF-EAA7-29DA-D6CB26515E59}"/>
              </a:ext>
            </a:extLst>
          </p:cNvPr>
          <p:cNvSpPr txBox="1"/>
          <p:nvPr/>
        </p:nvSpPr>
        <p:spPr>
          <a:xfrm>
            <a:off x="700201" y="5399998"/>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5" name="ZoneTexte 5">
            <a:extLst>
              <a:ext uri="{FF2B5EF4-FFF2-40B4-BE49-F238E27FC236}">
                <a16:creationId xmlns:a16="http://schemas.microsoft.com/office/drawing/2014/main" id="{2310DD27-435B-2D2D-2D0E-98452A284E46}"/>
              </a:ext>
            </a:extLst>
          </p:cNvPr>
          <p:cNvSpPr txBox="1"/>
          <p:nvPr/>
        </p:nvSpPr>
        <p:spPr>
          <a:xfrm>
            <a:off x="700558" y="5400364"/>
            <a:ext cx="1459803" cy="260997"/>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Mathieu Ronayette</a:t>
            </a:r>
          </a:p>
        </p:txBody>
      </p:sp>
      <p:sp>
        <p:nvSpPr>
          <p:cNvPr id="6" name="ZoneTexte 7">
            <a:extLst>
              <a:ext uri="{FF2B5EF4-FFF2-40B4-BE49-F238E27FC236}">
                <a16:creationId xmlns:a16="http://schemas.microsoft.com/office/drawing/2014/main" id="{5DBEDE6A-10B6-C45F-0BE2-69D8BE46032A}"/>
              </a:ext>
            </a:extLst>
          </p:cNvPr>
          <p:cNvSpPr txBox="1"/>
          <p:nvPr/>
        </p:nvSpPr>
        <p:spPr>
          <a:xfrm>
            <a:off x="9506138" y="5399998"/>
            <a:ext cx="573859"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20</a:t>
            </a:r>
            <a:r>
              <a:rPr lang="fr-FR" sz="1200" b="0" i="0" u="none" strike="noStrike" kern="1200" cap="none" spc="0" baseline="0">
                <a:solidFill>
                  <a:srgbClr val="FFFFFF"/>
                </a:solidFill>
                <a:uFillTx/>
                <a:latin typeface="Liberation Sans" pitchFamily="18"/>
                <a:ea typeface="Noto Sans CJK SC" pitchFamily="2"/>
                <a:cs typeface="Noto Sans" pitchFamily="2"/>
              </a:rPr>
              <a:t>/20</a:t>
            </a:r>
          </a:p>
        </p:txBody>
      </p:sp>
      <p:sp>
        <p:nvSpPr>
          <p:cNvPr id="7" name="ZoneTexte 8">
            <a:extLst>
              <a:ext uri="{FF2B5EF4-FFF2-40B4-BE49-F238E27FC236}">
                <a16:creationId xmlns:a16="http://schemas.microsoft.com/office/drawing/2014/main" id="{A83B6FF0-7773-1F46-9D12-34A413BB715C}"/>
              </a:ext>
            </a:extLst>
          </p:cNvPr>
          <p:cNvSpPr txBox="1"/>
          <p:nvPr/>
        </p:nvSpPr>
        <p:spPr>
          <a:xfrm>
            <a:off x="257513" y="200354"/>
            <a:ext cx="9823106" cy="466554"/>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FFFFFF"/>
                </a:solidFill>
                <a:uFillTx/>
                <a:latin typeface="Calibri" pitchFamily="34"/>
                <a:ea typeface="Noto Sans CJK SC" pitchFamily="2"/>
                <a:cs typeface="Calibri" pitchFamily="34"/>
              </a:rPr>
              <a:t>Neutron phasespace :</a:t>
            </a:r>
            <a:endParaRPr lang="fr-FR" sz="2400" b="0" i="0" u="none" strike="noStrike" kern="0" cap="none" spc="0" baseline="0">
              <a:solidFill>
                <a:srgbClr val="FFFFFF"/>
              </a:solidFill>
              <a:uFillTx/>
              <a:latin typeface="Liberation Sans" pitchFamily="18"/>
              <a:ea typeface="Noto Sans CJK SC" pitchFamily="2"/>
              <a:cs typeface="Noto Sans" pitchFamily="2"/>
            </a:endParaRPr>
          </a:p>
        </p:txBody>
      </p:sp>
      <p:pic>
        <p:nvPicPr>
          <p:cNvPr id="8" name="Image 10">
            <a:extLst>
              <a:ext uri="{FF2B5EF4-FFF2-40B4-BE49-F238E27FC236}">
                <a16:creationId xmlns:a16="http://schemas.microsoft.com/office/drawing/2014/main" id="{1111996C-7EA3-4D11-5BF5-6DD4CD9792F8}"/>
              </a:ext>
            </a:extLst>
          </p:cNvPr>
          <p:cNvPicPr>
            <a:picLocks noChangeAspect="1"/>
          </p:cNvPicPr>
          <p:nvPr/>
        </p:nvPicPr>
        <p:blipFill>
          <a:blip r:embed="rId3"/>
          <a:srcRect b="17213"/>
          <a:stretch>
            <a:fillRect/>
          </a:stretch>
        </p:blipFill>
        <p:spPr>
          <a:xfrm>
            <a:off x="5400172" y="1387556"/>
            <a:ext cx="4211826" cy="2813937"/>
          </a:xfrm>
          <a:prstGeom prst="rect">
            <a:avLst/>
          </a:prstGeom>
          <a:noFill/>
          <a:ln cap="flat">
            <a:noFill/>
          </a:ln>
        </p:spPr>
      </p:pic>
      <p:sp>
        <p:nvSpPr>
          <p:cNvPr id="9" name="ZoneTexte 11">
            <a:extLst>
              <a:ext uri="{FF2B5EF4-FFF2-40B4-BE49-F238E27FC236}">
                <a16:creationId xmlns:a16="http://schemas.microsoft.com/office/drawing/2014/main" id="{0E0C8A1A-BF81-A86D-3F0B-AB9DD851B0EB}"/>
              </a:ext>
            </a:extLst>
          </p:cNvPr>
          <p:cNvSpPr txBox="1"/>
          <p:nvPr/>
        </p:nvSpPr>
        <p:spPr>
          <a:xfrm>
            <a:off x="6986217" y="4056607"/>
            <a:ext cx="1565617"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400" b="0" i="0" u="none" strike="noStrike" kern="1200" cap="none" spc="0" baseline="0">
                <a:solidFill>
                  <a:srgbClr val="000000"/>
                </a:solidFill>
                <a:uFillTx/>
                <a:latin typeface="Calibri"/>
              </a:rPr>
              <a:t>P. Chatagnon’s plot</a:t>
            </a:r>
          </a:p>
        </p:txBody>
      </p:sp>
      <p:pic>
        <p:nvPicPr>
          <p:cNvPr id="10" name="Image 15">
            <a:extLst>
              <a:ext uri="{FF2B5EF4-FFF2-40B4-BE49-F238E27FC236}">
                <a16:creationId xmlns:a16="http://schemas.microsoft.com/office/drawing/2014/main" id="{FA5E4585-8FC6-99E1-6878-887D2DA357E8}"/>
              </a:ext>
            </a:extLst>
          </p:cNvPr>
          <p:cNvPicPr>
            <a:picLocks noChangeAspect="1"/>
          </p:cNvPicPr>
          <p:nvPr/>
        </p:nvPicPr>
        <p:blipFill>
          <a:blip r:embed="rId4"/>
          <a:stretch>
            <a:fillRect/>
          </a:stretch>
        </p:blipFill>
        <p:spPr>
          <a:xfrm>
            <a:off x="367479" y="1134633"/>
            <a:ext cx="4801587" cy="3268449"/>
          </a:xfrm>
          <a:prstGeom prst="rect">
            <a:avLst/>
          </a:prstGeom>
          <a:noFill/>
          <a:ln cap="flat">
            <a:noFill/>
          </a:ln>
        </p:spPr>
      </p:pic>
      <p:sp>
        <p:nvSpPr>
          <p:cNvPr id="11" name="ZoneTexte 17">
            <a:extLst>
              <a:ext uri="{FF2B5EF4-FFF2-40B4-BE49-F238E27FC236}">
                <a16:creationId xmlns:a16="http://schemas.microsoft.com/office/drawing/2014/main" id="{420FDF1F-723D-8EEF-7A8F-561FD7CA71D4}"/>
              </a:ext>
            </a:extLst>
          </p:cNvPr>
          <p:cNvSpPr txBox="1"/>
          <p:nvPr/>
        </p:nvSpPr>
        <p:spPr>
          <a:xfrm>
            <a:off x="990496" y="4524890"/>
            <a:ext cx="3762051"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Neutron detection efficiency in the FD</a:t>
            </a:r>
          </a:p>
        </p:txBody>
      </p:sp>
      <p:sp>
        <p:nvSpPr>
          <p:cNvPr id="12" name="ZoneTexte 18">
            <a:extLst>
              <a:ext uri="{FF2B5EF4-FFF2-40B4-BE49-F238E27FC236}">
                <a16:creationId xmlns:a16="http://schemas.microsoft.com/office/drawing/2014/main" id="{D0FD9678-020A-35F5-F428-D17262E67E11}"/>
              </a:ext>
            </a:extLst>
          </p:cNvPr>
          <p:cNvSpPr txBox="1"/>
          <p:nvPr/>
        </p:nvSpPr>
        <p:spPr>
          <a:xfrm>
            <a:off x="5804647" y="4532205"/>
            <a:ext cx="3928765"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Neutron detection efficiency in the CND</a:t>
            </a:r>
          </a:p>
        </p:txBody>
      </p:sp>
      <p:sp>
        <p:nvSpPr>
          <p:cNvPr id="13" name="ZoneTexte 14">
            <a:extLst>
              <a:ext uri="{FF2B5EF4-FFF2-40B4-BE49-F238E27FC236}">
                <a16:creationId xmlns:a16="http://schemas.microsoft.com/office/drawing/2014/main" id="{B4B7ECB5-9B60-0CD0-1C39-4A2AE222D2A9}"/>
              </a:ext>
            </a:extLst>
          </p:cNvPr>
          <p:cNvSpPr txBox="1"/>
          <p:nvPr/>
        </p:nvSpPr>
        <p:spPr>
          <a:xfrm>
            <a:off x="4102455" y="5400519"/>
            <a:ext cx="2349148"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1200" cap="none" spc="0" baseline="0">
                <a:solidFill>
                  <a:srgbClr val="FFFFFF"/>
                </a:solidFill>
                <a:uFillTx/>
                <a:latin typeface="Liberation Sans" pitchFamily="18"/>
                <a:ea typeface="Noto Sans CJK SC" pitchFamily="2"/>
                <a:cs typeface="Noto Sans" pitchFamily="2"/>
              </a:rPr>
              <a:t>Clas12 Collaboration </a:t>
            </a:r>
            <a:r>
              <a:rPr lang="fr-FR" sz="1200" b="0" i="0" u="none" strike="noStrike" kern="0" cap="none" spc="0" baseline="0">
                <a:solidFill>
                  <a:srgbClr val="FFFFFF"/>
                </a:solidFill>
                <a:uFillTx/>
                <a:latin typeface="Liberation Sans" pitchFamily="18"/>
                <a:ea typeface="Noto Sans CJK SC" pitchFamily="2"/>
                <a:cs typeface="Noto Sans" pitchFamily="2"/>
              </a:rPr>
              <a:t>M</a:t>
            </a:r>
            <a:r>
              <a:rPr lang="fr-FR" sz="1200" b="0" i="0" u="none" strike="noStrike" kern="1200" cap="none" spc="0" baseline="0">
                <a:solidFill>
                  <a:srgbClr val="FFFFFF"/>
                </a:solidFill>
                <a:uFillTx/>
                <a:latin typeface="Liberation Sans" pitchFamily="18"/>
                <a:ea typeface="Noto Sans CJK SC" pitchFamily="2"/>
                <a:cs typeface="Noto Sans" pitchFamily="2"/>
              </a:rPr>
              <a:t>eeting</a:t>
            </a:r>
          </a:p>
        </p:txBody>
      </p:sp>
      <p:sp>
        <p:nvSpPr>
          <p:cNvPr id="14" name="ZoneTexte 15">
            <a:extLst>
              <a:ext uri="{FF2B5EF4-FFF2-40B4-BE49-F238E27FC236}">
                <a16:creationId xmlns:a16="http://schemas.microsoft.com/office/drawing/2014/main" id="{636AFC33-987B-E282-8E6A-CFC0517D7399}"/>
              </a:ext>
            </a:extLst>
          </p:cNvPr>
          <p:cNvSpPr txBox="1"/>
          <p:nvPr/>
        </p:nvSpPr>
        <p:spPr>
          <a:xfrm>
            <a:off x="7920002" y="5408996"/>
            <a:ext cx="1439997" cy="267910"/>
          </a:xfrm>
          <a:prstGeom prst="rect">
            <a:avLst/>
          </a:prstGeom>
          <a:noFill/>
          <a:ln cap="flat">
            <a:noFill/>
          </a:ln>
        </p:spPr>
        <p:txBody>
          <a:bodyPr vert="horz" wrap="square" lIns="90004" tIns="44997" rIns="90004" bIns="44997" anchor="t" anchorCtr="0" compatLnSpc="0">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200" b="0" i="0" u="none" strike="noStrike" kern="0" cap="none" spc="0" baseline="0">
                <a:solidFill>
                  <a:srgbClr val="FFFFFF"/>
                </a:solidFill>
                <a:uFillTx/>
                <a:latin typeface="Liberation Sans" pitchFamily="18"/>
                <a:ea typeface="Noto Sans CJK SC" pitchFamily="2"/>
                <a:cs typeface="Noto Sans" pitchFamily="2"/>
              </a:rPr>
              <a:t>11 March </a:t>
            </a:r>
            <a:r>
              <a:rPr lang="fr-FR" sz="1200" b="0" i="0" u="none" strike="noStrike" kern="1200" cap="none" spc="0" baseline="0">
                <a:solidFill>
                  <a:srgbClr val="FFFFFF"/>
                </a:solidFill>
                <a:uFillTx/>
                <a:latin typeface="Liberation Sans" pitchFamily="18"/>
                <a:ea typeface="Noto Sans CJK SC" pitchFamily="2"/>
                <a:cs typeface="Noto Sans" pitchFamily="2"/>
              </a:rPr>
              <a:t>2026</a:t>
            </a:r>
          </a:p>
        </p:txBody>
      </p:sp>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4481</TotalTime>
  <Words>1534</Words>
  <Application>Microsoft Macintosh PowerPoint</Application>
  <PresentationFormat>Grand écran</PresentationFormat>
  <Paragraphs>473</Paragraphs>
  <Slides>42</Slides>
  <Notes>42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42</vt:i4>
      </vt:variant>
    </vt:vector>
  </HeadingPairs>
  <TitlesOfParts>
    <vt:vector size="48" baseType="lpstr">
      <vt:lpstr>Arial</vt:lpstr>
      <vt:lpstr>Calibri</vt:lpstr>
      <vt:lpstr>Helvetica</vt:lpstr>
      <vt:lpstr>Liberation Sans</vt:lpstr>
      <vt:lpstr>Liberation Serif</vt:lpstr>
      <vt:lpstr>Default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RONAYETTE Mathieu</cp:lastModifiedBy>
  <cp:revision>191</cp:revision>
  <cp:lastPrinted>2025-10-17T11:46:44Z</cp:lastPrinted>
  <dcterms:created xsi:type="dcterms:W3CDTF">2025-03-18T09:30:34Z</dcterms:created>
  <dcterms:modified xsi:type="dcterms:W3CDTF">2026-03-09T14:53:33Z</dcterms:modified>
</cp:coreProperties>
</file>